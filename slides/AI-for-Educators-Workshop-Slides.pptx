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and mindset shift" id="{a36f755b-00be-6f36-ad71-7a734cbf3a38}">
          <p14:sldIdLst>
            <p14:sldId id="256"/>
            <p14:sldId id="257"/>
            <p14:sldId id="258"/>
            <p14:sldId id="259"/>
            <p14:sldId id="260"/>
            <p14:sldId id="261"/>
            <p14:sldId id="262"/>
            <p14:sldId id="263"/>
          </p14:sldIdLst>
        </p14:section>
        <p14:section name="Live demonstrations" id="{d364e423-4f6d-c2fc-72e0-2ceff5c2351c}">
          <p14:sldIdLst>
            <p14:sldId id="264"/>
            <p14:sldId id="265"/>
            <p14:sldId id="266"/>
            <p14:sldId id="267"/>
          </p14:sldIdLst>
        </p14:section>
        <p14:section name="Activity 1: Build your course AI Tutor" id="{e44258b6-6fc5-1e29-ec7b-80fb1c14b266}">
          <p14:sldIdLst>
            <p14:sldId id="268"/>
            <p14:sldId id="269"/>
            <p14:sldId id="270"/>
          </p14:sldIdLst>
        </p14:section>
        <p14:section name="Sharing and Activity 2" id="{dfc81497-cdf6-3a48-6545-b298976acd68}">
          <p14:sldIdLst>
            <p14:sldId id="271"/>
            <p14:sldId id="272"/>
            <p14:sldId id="273"/>
          </p14:sldIdLst>
        </p14:section>
        <p14:section name="Plagiarism and AI detection" id="{c31b7c72-bdd9-5f76-3e50-ef6697213637}">
          <p14:sldIdLst>
            <p14:sldId id="274"/>
            <p14:sldId id="275"/>
            <p14:sldId id="276"/>
            <p14:sldId id="277"/>
            <p14:sldId id="278"/>
          </p14:sldIdLst>
        </p14:section>
        <p14:section name="Embedding in Sakai, privacy and integrity" id="{a757d975-befe-701c-9bd7-7266fe275df8}">
          <p14:sldIdLst>
            <p14:sldId id="279"/>
            <p14:sldId id="280"/>
          </p14:sldIdLst>
        </p14:section>
        <p14:section name="Closing: the 30-day plan and feedback" id="{634f05c1-7a70-bbd3-e393-766e7d8446d6}">
          <p14:sldIdLst>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this up as people arrive. Start on time; the opening script runs the first 10 minutes. Welcome everyone on behalf of IBA-CICT and SMCS.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will leave with five things. One: a working AI tutor for your course in Microsoft Copilot Studio, grounded in your own course outline. Two: two or three teaching materials of your choice — an assignment with a rubric, a quiz, lecture slides, a case study, a role-play, or a student survey. Three: a clear, honest picture of what Turnitin’s AI detector can and cannot tell you. Four: the steps to put your tutor inside your Sakai course. Five: a 30-day plan, written by you.” Stress that this is hands-on: they build, not watch.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reality we all know. Our students are already using AI. Some use it well. Many use it to skip the thinking we are trying to teach. We can’t stop that by banning it, and we shouldn’t hand our teaching over to it either. So today’s question is simple: how do we make AI work for learning, instead of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answer, and the idea behind everything we do today, is the Socratic method. A good tutor doesn’t hand you the answer. A good tutor asks you a question that gets you one step closer. That’s what we will build: AI that guides students, not AI that does the work for them. If you remember one sentence from today, make it this one.” Pause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0:10–0:20. Two minutes in pairs: “Tell your neighbour one thing you worry AI is doing to your students’ learning, and one boring task you’d happily hand to AI.” Collect three worries aloud and turn each into a design rule on the whiteboard; the rows here are examples to prompt the room. Keep the whiteboard list up all day. Bridge: “Those rules you just wrote are the instructions we’ll give the AI in an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Socratic by design: the tutor asks a question before it explains. Integrity by design: it refuses to write, solve or check graded work. You stay the teacher: it only knows the material you upload, and it should admit uncertainty and send students back to you. These three ideas show up as specific lines in every instruction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 build: I’ll show you a finished tutor, then you build your own. After the break you’ll make teaching materials, then we’ll talk honestly about plagiarism and AI detection, and finish by putting your tutor into Sakai.” Timing note: this runs 4 h 15 min. If the room is booked for exactly 4 hours, cut each break to 10 minutes and the demos to 30, and update this slide. Never cut Activity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housekeeping points. First, everything you need, every template and prompt, is in the shared folder. Scan it now. Second, these colleagues are our table helpers. If you’re stuck, hold up the red card. Third, please don’t upload anything with student names, grades or unreleased exam papers today.” Then the show of hands: never used AI for teaching / sometimes / weekly. Pair beginners with weekly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 Switch to the live CSE 455 Security Tutor and type all three prompts. After the refusal say: “Notice it refused. That refusal is the most important line in the instructions.” If Wi-Fi or sign-in fails, play the recorded screen capture and narrate.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minutes. Open the agent in Copilot Studio and show each of the three parts live. “It only knows your outline; upload better material, get a better tutor.” Then Demo 3 (7 minutes): build a Marketing tutor from the template, timed on screen, using the anatomy on the next slide. Demo 4 follows on slide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template in the pack follows these seven blocks. The order matters: the refusal rule sits near the top, so it is the first thing the agent reads. If a tutor gives answers away, strengthen this block first. Participants copy their discipline template from the shared folder and fill every [bracket].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Copilot Chat, Claude or ChatGPT. First run Prompt 2 for an assignment and rubric. Then Prompt 3 for ten MCQs; its part B comes out in Sakai markup text, where an asterisk marks the correct option and #FBOK / #FBNOK add feedback. Paste it into Tests &amp; Quizzes › Add › Create using markup text › Create › Next › Create Assessment. Point out one thing the AI got wrong (a weak distractor, an invented figure) and fix it by hand: every output is a draft. The bond question shown is an example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to copilotstudio.microsoft.com and sign in with the IBA account. Name format: “[Course code] Study Coach”. Call each checkpoint aloud; green card = done, red card = stuck, helpers go to red cards first. Fast finishers: add a second knowledge file, or start Template 6 (role-play). Watch for anyone uploading student data or exam papers. The most common failure is a tutor that gives full answers; the fix is moving the refusal rule to the top and adding the example exchange. Publishing: Settings › Security › Authentication › No authentication › Save, then Publish, then Channels › Demo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tests are on the handout. Run them in the test pane on the right of Copilot Studio. Every time you change the instructions, run all five again: a fix for one can break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Activity 1 and update the time at each checkpoint: 1:17, 1:32, 1:40, 1:43, 1:58, 2:08, 2:15.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volunteers from different departments. Capture each fix on the whiteboard; the list becomes the group’s checklist. Then a 15-minute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2:45–2:50 introduce the menu; each person picks two or three. 2:50–3:10 first task (20 min). 3:10–3:25 second task (15 min). 3:25–3:30 optional third task or fix-up time. 3:30–3:35 two people share one thing the AI got wrong and how they caught it. Every prompt is in the shared folder. “Any chat tool” means Microsoft Copilot Chat, Claude or ChatGPT. Suggest that anyone who made a quiz imports it into Sakai before leaving, and anyone who made a poll opens it in Sakai Polls.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people throughout Activity 2: AI drafts, you decide. Push them to check figures, Pakistani context (PKR, SECP, State Bank of Pakistan, local firms) and alignment with their course learning outcomes before anything reaches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3:35–3:42. “Most of us have used the similarity score for years. The AI indicator is a separate number, with separate highlights, and it answers a different question. Similarity asks: does this text match a source? The AI indicator asks: does this prose look like AI writing? Turnitin’s own guide says the AI score should not be used as the sole basis for adverse action against a student.” Bypasser detection (text run through AI humaniser tools) was added in September 2025, English only, and needs the Turnitin Originality / AI add-on licence. Confirm with CICT what IBA’s licence includes.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Turnitin’s “under 1%” false-positive figure applies to documents with 20% or more AI-flagged text, not to every paper; below 20% false positives are more likely, which is why those scores show as an asterisk. The detector reads 300 to 30,000 words of long-form prose in .docx, .pdf, .txt or .rtf. Grammar tools and AI use you permitted can also raise the score. The score covers only qualifying prose, so it may not reflect the whole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3:42–3:47. “If a score worries you, do three things in order. Read the work, not the number. Ask for process evidence. Then have a conversation, not an accusation.” If concerns remain, follow IBA’s academic integrity procedure with several kinds of evidence. Free online detectors are less accurate, and uploading student work to them is a privacy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protection is assignment design, not detection. Allow AI openly where it helps, and ask students to submit their prompts and say what they changed. Use the rubric to reward reasoning, evidence and local insight; generic prose earns little. The full red/amber/green statement is in the pack, ready to paste into a course outline, ending with: “A Turnitin AI score alone is never treated as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3:47–3:55. Each table takes one card and agrees what to do in 4 minutes; one or two tables report back. Debrief: “In every case the next step was the same: look at the work, ask for the process, talk to the student. Detection starts the conversation. Design prevents the problem.” Card 2 shows why 0% proves nothing; card 3 shows that a low score can still hide a real concern; card 4 is the policy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says the Demo website is for testing, not production, so for students use the embed code from the Custom website channel (labelled Web app in some versions). With “Authenticate with Microsoft” the agent works only in Teams and Microsoft 365, not in Sakai. Change height 100% to 600px so the chat isn’t squashed. Add one line above the iframe: “Your AI study coach. It will guide you, not give you answers. Do not share personal information.” Fallback: Resources › Add › Add Web Links (URLs), opening in a new window; ask CICT whether iframes from copilotstudio.microsoft.com can be 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Anything in Knowledge can be quoted to anyone with the link. Every message uses IBA’s Copilot Studio capacity, so check limits with CICT before rolling out to large classes. Suggest each participant adds one line to their course outline on how students may and may not use AI, and how to disclose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4:03–4:10. Participants fill in the Action Plan from the pack, including how they will respond to a high Turnitin AI score. Then pair share: each reads their one-sentence commitment to a neighbour from another department.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4:10–4:13. Replace the dashed box with the QR code for the feedback form (Microsoft Forms works well with IBA accounts). Keep it on screen until most people have submitted.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4:13–4:15 closing script: “Four hours ago, most of you had never built an AI agent. Now every one of you has a tutor for your own course, and materials you can use next week. Three things: the rule, run the five tests every time you change your tutor; detection starts a conversation, design prevents the problem, so ask whether AI alone could do your assignment and change it if it could; and start small, one course, one section, one topic, and read the conversations. You are not doing this alone: share what works in the follow-up channel. In 30 days I’ll check in about the plan you just wrote. Thank you to IBA-CICT and SMCS, to our table helpers, and to all of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light">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813816" y="6291072"/>
            <a:ext cx="8229600" cy="274320"/>
          </a:xfrm>
          <a:prstGeom prst="rect">
            <a:avLst/>
          </a:prstGeom>
          <a:noFill/>
          <a:ln/>
        </p:spPr>
        <p:txBody>
          <a:bodyPr wrap="square" lIns="0" tIns="0" rIns="0" bIns="0" rtlCol="0" anchor="ctr"/>
          <a:lstStyle/>
          <a:p>
            <a:pPr indent="0" marL="0">
              <a:buNone/>
            </a:pPr>
            <a:r>
              <a:rPr lang="en-US" sz="1200" dirty="0">
                <a:solidFill>
                  <a:srgbClr val="6B7280"/>
                </a:solidFill>
              </a:rPr>
              <a:t>AI for Educators: Future-Ready Teaching · IBA-CICT and SMCS</a:t>
            </a:r>
            <a:endParaRPr lang="en-US" sz="1200" dirty="0"/>
          </a:p>
        </p:txBody>
      </p:sp>
      <p:sp>
        <p:nvSpPr>
          <p:cNvPr id="3" name="Text 1"/>
          <p:cNvSpPr/>
          <p:nvPr>
            <p:ph idx="101" type="body" hasCustomPrompt="1"/>
          </p:nvPr>
        </p:nvSpPr>
        <p:spPr>
          <a:xfrm>
            <a:off x="813816" y="640080"/>
            <a:ext cx="10570464" cy="320040"/>
          </a:xfrm>
          <a:prstGeom prst="rect">
            <a:avLst/>
          </a:prstGeom>
          <a:noFill/>
          <a:ln/>
        </p:spPr>
        <p:txBody>
          <a:bodyPr wrap="square" rtlCol="0"/>
          <a:lstStyle>
            <a:lvl1pPr indent="0" marL="0">
              <a:buNone/>
              <a:defRPr lang="en-US" sz="1200" b="1" spc="300" kern="0" dirty="0">
                <a:solidFill>
                  <a:schemeClr val="accent1"/>
                </a:solidFill>
              </a:defRPr>
            </a:lvl1pPr>
          </a:lstStyle>
          <a:p>
            <a:pPr indent="0" marL="0">
              <a:buNone/>
            </a:pPr>
            <a:endParaRPr lang="en-US" sz="1200" dirty="0"/>
          </a:p>
        </p:txBody>
      </p:sp>
      <p:sp>
        <p:nvSpPr>
          <p:cNvPr id="4" name="Text 1"/>
          <p:cNvSpPr/>
          <p:nvPr>
            <p:ph idx="102" type="title" hasCustomPrompt="1"/>
          </p:nvPr>
        </p:nvSpPr>
        <p:spPr>
          <a:xfrm>
            <a:off x="813816" y="987552"/>
            <a:ext cx="10570464" cy="731520"/>
          </a:xfrm>
          <a:prstGeom prst="rect">
            <a:avLst/>
          </a:prstGeom>
          <a:noFill/>
          <a:ln/>
        </p:spPr>
        <p:txBody>
          <a:bodyPr wrap="square" rtlCol="0"/>
          <a:lstStyle>
            <a:lvl1pPr algn="l" indent="0" marL="0">
              <a:buNone/>
              <a:defRPr lang="en-US" sz="3600" b="1" dirty="0">
                <a:solidFill>
                  <a:schemeClr val="tx1"/>
                </a:solidFill>
                <a:latin typeface="+mj-lt" pitchFamily="34" charset="0"/>
                <a:ea typeface="+mj-lt" pitchFamily="34" charset="-122"/>
                <a:cs typeface="+mj-lt"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561320" y="6291072"/>
            <a:ext cx="8229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tint">
    <p:bg>
      <p:bgPr>
        <a:solidFill>
          <a:schemeClr val="accent6"/>
        </a:solidFill>
      </p:bgPr>
    </p:bg>
    <p:spTree>
      <p:nvGrpSpPr>
        <p:cNvPr id="1" name=""/>
        <p:cNvGrpSpPr/>
        <p:nvPr/>
      </p:nvGrpSpPr>
      <p:grpSpPr>
        <a:xfrm>
          <a:off x="0" y="0"/>
          <a:ext cx="0" cy="0"/>
          <a:chOff x="0" y="0"/>
          <a:chExt cx="0" cy="0"/>
        </a:xfrm>
      </p:grpSpPr>
      <p:sp>
        <p:nvSpPr>
          <p:cNvPr id="2" name="Text 0"/>
          <p:cNvSpPr/>
          <p:nvPr/>
        </p:nvSpPr>
        <p:spPr>
          <a:xfrm>
            <a:off x="813816" y="6291072"/>
            <a:ext cx="8229600" cy="274320"/>
          </a:xfrm>
          <a:prstGeom prst="rect">
            <a:avLst/>
          </a:prstGeom>
          <a:noFill/>
          <a:ln/>
        </p:spPr>
        <p:txBody>
          <a:bodyPr wrap="square" lIns="0" tIns="0" rIns="0" bIns="0" rtlCol="0" anchor="ctr"/>
          <a:lstStyle/>
          <a:p>
            <a:pPr indent="0" marL="0">
              <a:buNone/>
            </a:pPr>
            <a:r>
              <a:rPr lang="en-US" sz="1200" dirty="0">
                <a:solidFill>
                  <a:srgbClr val="6B7280"/>
                </a:solidFill>
              </a:rPr>
              <a:t>AI for Educators: Future-Ready Teaching · IBA-CICT and SMCS</a:t>
            </a:r>
            <a:endParaRPr lang="en-US" sz="1200" dirty="0"/>
          </a:p>
        </p:txBody>
      </p:sp>
      <p:sp>
        <p:nvSpPr>
          <p:cNvPr id="3" name="Text 1"/>
          <p:cNvSpPr/>
          <p:nvPr>
            <p:ph idx="101" type="body" hasCustomPrompt="1"/>
          </p:nvPr>
        </p:nvSpPr>
        <p:spPr>
          <a:xfrm>
            <a:off x="813816" y="640080"/>
            <a:ext cx="10570464" cy="320040"/>
          </a:xfrm>
          <a:prstGeom prst="rect">
            <a:avLst/>
          </a:prstGeom>
          <a:noFill/>
          <a:ln/>
        </p:spPr>
        <p:txBody>
          <a:bodyPr wrap="square" rtlCol="0"/>
          <a:lstStyle>
            <a:lvl1pPr indent="0" marL="0">
              <a:buNone/>
              <a:defRPr lang="en-US" sz="1200" b="1" spc="300" kern="0" dirty="0">
                <a:solidFill>
                  <a:schemeClr val="accent1"/>
                </a:solidFill>
              </a:defRPr>
            </a:lvl1pPr>
          </a:lstStyle>
          <a:p>
            <a:pPr indent="0" marL="0">
              <a:buNone/>
            </a:pPr>
            <a:endParaRPr lang="en-US" sz="1200" dirty="0"/>
          </a:p>
        </p:txBody>
      </p:sp>
      <p:sp>
        <p:nvSpPr>
          <p:cNvPr id="4" name="Text 1"/>
          <p:cNvSpPr/>
          <p:nvPr>
            <p:ph idx="102" type="title" hasCustomPrompt="1"/>
          </p:nvPr>
        </p:nvSpPr>
        <p:spPr>
          <a:xfrm>
            <a:off x="813816" y="987552"/>
            <a:ext cx="10570464" cy="731520"/>
          </a:xfrm>
          <a:prstGeom prst="rect">
            <a:avLst/>
          </a:prstGeom>
          <a:noFill/>
          <a:ln/>
        </p:spPr>
        <p:txBody>
          <a:bodyPr wrap="square" rtlCol="0"/>
          <a:lstStyle>
            <a:lvl1pPr algn="l" indent="0" marL="0">
              <a:buNone/>
              <a:defRPr lang="en-US" sz="3600" b="1" dirty="0">
                <a:solidFill>
                  <a:schemeClr val="tx1"/>
                </a:solidFill>
                <a:latin typeface="+mj-lt" pitchFamily="34" charset="0"/>
                <a:ea typeface="+mj-lt" pitchFamily="34" charset="-122"/>
                <a:cs typeface="+mj-lt"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561320" y="6291072"/>
            <a:ext cx="8229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statement">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561320" y="6291072"/>
            <a:ext cx="8229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4.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3.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813816" y="2651760"/>
            <a:ext cx="10570464" cy="365760"/>
          </a:xfrm>
          <a:prstGeom prst="rect">
            <a:avLst/>
          </a:prstGeom>
          <a:noFill/>
          <a:ln/>
        </p:spPr>
        <p:txBody>
          <a:bodyPr wrap="square" lIns="0" tIns="0" rIns="0" bIns="0" rtlCol="0" anchor="t"/>
          <a:lstStyle/>
          <a:p>
            <a:pPr indent="0" marL="0">
              <a:buNone/>
            </a:pPr>
            <a:r>
              <a:rPr lang="en-US" sz="1400" b="1" spc="400" kern="0" dirty="0">
                <a:solidFill>
                  <a:schemeClr val="accent2"/>
                </a:solidFill>
              </a:rPr>
              <a:t>IBA-CICT AND SMCS · FACULTY WORKSHOP</a:t>
            </a:r>
            <a:endParaRPr lang="en-US" sz="1400" dirty="0"/>
          </a:p>
        </p:txBody>
      </p:sp>
      <p:sp>
        <p:nvSpPr>
          <p:cNvPr id="4" name="Text 1"/>
          <p:cNvSpPr txBox="1"/>
          <p:nvPr/>
        </p:nvSpPr>
        <p:spPr>
          <a:xfrm>
            <a:off x="813816" y="3108960"/>
            <a:ext cx="10570464" cy="914400"/>
          </a:xfrm>
          <a:prstGeom prst="rect">
            <a:avLst/>
          </a:prstGeom>
          <a:noFill/>
          <a:ln/>
        </p:spPr>
        <p:txBody>
          <a:bodyPr wrap="square" lIns="0" tIns="0" rIns="0" bIns="0" rtlCol="0" anchor="t"/>
          <a:lstStyle/>
          <a:p>
            <a:pPr indent="0" marL="0">
              <a:buNone/>
            </a:pPr>
            <a:r>
              <a:rPr lang="en-US" sz="6000" b="1" dirty="0">
                <a:solidFill>
                  <a:schemeClr val="bg1"/>
                </a:solidFill>
                <a:latin typeface="+mj-lt" pitchFamily="34" charset="0"/>
                <a:ea typeface="+mj-lt" pitchFamily="34" charset="-122"/>
                <a:cs typeface="+mj-lt" pitchFamily="34" charset="-120"/>
              </a:rPr>
              <a:t>AI for Educators</a:t>
            </a:r>
            <a:endParaRPr lang="en-US" sz="6000" dirty="0"/>
          </a:p>
        </p:txBody>
      </p:sp>
      <p:sp>
        <p:nvSpPr>
          <p:cNvPr id="5" name="Text 2"/>
          <p:cNvSpPr txBox="1"/>
          <p:nvPr/>
        </p:nvSpPr>
        <p:spPr>
          <a:xfrm>
            <a:off x="813816" y="4069080"/>
            <a:ext cx="10570464" cy="548640"/>
          </a:xfrm>
          <a:prstGeom prst="rect">
            <a:avLst/>
          </a:prstGeom>
          <a:noFill/>
          <a:ln/>
        </p:spPr>
        <p:txBody>
          <a:bodyPr wrap="square" lIns="0" tIns="0" rIns="0" bIns="0" rtlCol="0" anchor="t"/>
          <a:lstStyle/>
          <a:p>
            <a:pPr indent="0" marL="0">
              <a:buNone/>
            </a:pPr>
            <a:r>
              <a:rPr lang="en-US" sz="3200" dirty="0">
                <a:solidFill>
                  <a:schemeClr val="accent2"/>
                </a:solidFill>
                <a:latin typeface="+mj-lt" pitchFamily="34" charset="0"/>
                <a:ea typeface="+mj-lt" pitchFamily="34" charset="-122"/>
                <a:cs typeface="+mj-lt" pitchFamily="34" charset="-120"/>
              </a:rPr>
              <a:t>Future-Ready Teaching</a:t>
            </a:r>
            <a:endParaRPr lang="en-US" sz="3200" dirty="0"/>
          </a:p>
        </p:txBody>
      </p:sp>
      <p:sp>
        <p:nvSpPr>
          <p:cNvPr id="6" name="Text 3"/>
          <p:cNvSpPr txBox="1"/>
          <p:nvPr/>
        </p:nvSpPr>
        <p:spPr>
          <a:xfrm>
            <a:off x="813816" y="4892040"/>
            <a:ext cx="10570464" cy="731520"/>
          </a:xfrm>
          <a:prstGeom prst="rect">
            <a:avLst/>
          </a:prstGeom>
          <a:noFill/>
          <a:ln/>
        </p:spPr>
        <p:txBody>
          <a:bodyPr wrap="square" lIns="0" tIns="0" rIns="0" bIns="0" rtlCol="0" anchor="t"/>
          <a:lstStyle/>
          <a:p>
            <a:pPr indent="0" marL="0">
              <a:lnSpc>
                <a:spcPct val="120000"/>
              </a:lnSpc>
              <a:buNone/>
            </a:pPr>
            <a:r>
              <a:rPr lang="en-US" sz="1600" dirty="0">
                <a:solidFill>
                  <a:srgbClr val="C9D2DC"/>
                </a:solidFill>
              </a:rPr>
              <a:t>Tuesday, 20 October 2026 · Board Room, Tabba Building, Main Campus</a:t>
            </a:r>
            <a:endParaRPr lang="en-US" sz="1600" dirty="0"/>
          </a:p>
          <a:p>
            <a:pPr indent="0" marL="0">
              <a:lnSpc>
                <a:spcPct val="120000"/>
              </a:lnSpc>
              <a:buNone/>
            </a:pPr>
            <a:r>
              <a:rPr lang="en-US" sz="1600" dirty="0">
                <a:solidFill>
                  <a:srgbClr val="C9D2DC"/>
                </a:solidFill>
              </a:rPr>
              <a:t>Dr. Faisal Iradat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813816" y="640080"/>
            <a:ext cx="10570464" cy="320040"/>
          </a:xfrm>
          <a:prstGeom prst="rect">
            <a:avLst/>
          </a:prstGeom>
          <a:noFill/>
          <a:ln/>
        </p:spPr>
        <p:txBody>
          <a:bodyPr wrap="square" lIns="0" tIns="0" rIns="0" bIns="0" rtlCol="0" anchor="t"/>
          <a:lstStyle/>
          <a:p>
            <a:pPr indent="0" marL="0">
              <a:buNone/>
            </a:pPr>
            <a:r>
              <a:rPr lang="en-US" sz="1200" b="1" spc="300" kern="0" dirty="0">
                <a:solidFill>
                  <a:schemeClr val="accent1"/>
                </a:solidFill>
              </a:rPr>
              <a:t>BY THE END OF TODAY</a:t>
            </a:r>
            <a:endParaRPr lang="en-US" sz="1200" dirty="0"/>
          </a:p>
        </p:txBody>
      </p:sp>
      <p:sp>
        <p:nvSpPr>
          <p:cNvPr id="3" name="Text 1"/>
          <p:cNvSpPr/>
          <p:nvPr>
            <p:ph idx="102" type="title" hasCustomPrompt="1"/>
          </p:nvPr>
        </p:nvSpPr>
        <p:spPr>
          <a:xfrm>
            <a:off x="813816" y="987552"/>
            <a:ext cx="10570464" cy="731520"/>
          </a:xfrm>
          <a:prstGeom prst="rect">
            <a:avLst/>
          </a:prstGeom>
          <a:noFill/>
          <a:ln/>
        </p:spPr>
        <p:txBody>
          <a:bodyPr wrap="square" lIns="0" tIns="0" rIns="0" bIns="0" rtlCol="0" anchor="t"/>
          <a:lstStyle/>
          <a:p>
            <a:pPr algn="l" indent="0" marL="0">
              <a:buNone/>
            </a:pPr>
            <a:r>
              <a:rPr lang="en-US" sz="3600" b="1" dirty="0">
                <a:solidFill>
                  <a:schemeClr val="tx1"/>
                </a:solidFill>
                <a:latin typeface="+mj-lt" pitchFamily="34" charset="0"/>
                <a:ea typeface="+mj-lt" pitchFamily="34" charset="-122"/>
                <a:cs typeface="+mj-lt" pitchFamily="34" charset="-120"/>
              </a:rPr>
              <a:t>You will leave with five things</a:t>
            </a:r>
            <a:endParaRPr lang="en-US" sz="3600" dirty="0"/>
          </a:p>
        </p:txBody>
      </p:sp>
      <p:sp>
        <p:nvSpPr>
          <p:cNvPr id="5" name="outcome 1"/>
          <p:cNvSpPr/>
          <p:nvPr/>
        </p:nvSpPr>
        <p:spPr>
          <a:xfrm>
            <a:off x="813816" y="2103120"/>
            <a:ext cx="1931213" cy="3017520"/>
          </a:xfrm>
          <a:prstGeom prst="roundRect">
            <a:avLst>
              <a:gd name="adj" fmla="val 5682"/>
            </a:avLst>
          </a:prstGeom>
          <a:solidFill>
            <a:schemeClr val="bg1"/>
          </a:solidFill>
          <a:ln w="9525">
            <a:solidFill>
              <a:srgbClr val="DDD7CB"/>
            </a:solidFill>
            <a:prstDash val="solid"/>
          </a:ln>
        </p:spPr>
      </p:sp>
      <p:sp>
        <p:nvSpPr>
          <p:cNvPr id="6" name="Text 3"/>
          <p:cNvSpPr txBox="1"/>
          <p:nvPr/>
        </p:nvSpPr>
        <p:spPr>
          <a:xfrm>
            <a:off x="1042416" y="2331720"/>
            <a:ext cx="914400" cy="640080"/>
          </a:xfrm>
          <a:prstGeom prst="rect">
            <a:avLst/>
          </a:prstGeom>
          <a:noFill/>
          <a:ln/>
        </p:spPr>
        <p:txBody>
          <a:bodyPr wrap="square" lIns="0" tIns="0" rIns="0" bIns="0" rtlCol="0" anchor="t"/>
          <a:lstStyle/>
          <a:p>
            <a:pPr indent="0" marL="0">
              <a:buNone/>
            </a:pPr>
            <a:r>
              <a:rPr lang="en-US" sz="3600" b="1" dirty="0">
                <a:solidFill>
                  <a:schemeClr val="accent1"/>
                </a:solidFill>
                <a:latin typeface="+mj-lt" pitchFamily="34" charset="0"/>
                <a:ea typeface="+mj-lt" pitchFamily="34" charset="-122"/>
                <a:cs typeface="+mj-lt" pitchFamily="34" charset="-120"/>
              </a:rPr>
              <a:t>1</a:t>
            </a:r>
            <a:endParaRPr lang="en-US" sz="3600" dirty="0"/>
          </a:p>
        </p:txBody>
      </p:sp>
      <p:sp>
        <p:nvSpPr>
          <p:cNvPr id="7" name="Text 4"/>
          <p:cNvSpPr txBox="1"/>
          <p:nvPr/>
        </p:nvSpPr>
        <p:spPr>
          <a:xfrm>
            <a:off x="1042416" y="3108960"/>
            <a:ext cx="1474013" cy="640080"/>
          </a:xfrm>
          <a:prstGeom prst="rect">
            <a:avLst/>
          </a:prstGeom>
          <a:noFill/>
          <a:ln/>
        </p:spPr>
        <p:txBody>
          <a:bodyPr wrap="square" lIns="0" tIns="0" rIns="0" bIns="0" rtlCol="0" anchor="t"/>
          <a:lstStyle/>
          <a:p>
            <a:pPr indent="0" marL="0">
              <a:buNone/>
            </a:pPr>
            <a:r>
              <a:rPr lang="en-US" sz="1800" b="1" dirty="0">
                <a:solidFill>
                  <a:schemeClr val="tx1"/>
                </a:solidFill>
              </a:rPr>
              <a:t>An AI tutor</a:t>
            </a:r>
            <a:endParaRPr lang="en-US" sz="1800" dirty="0"/>
          </a:p>
        </p:txBody>
      </p:sp>
      <p:sp>
        <p:nvSpPr>
          <p:cNvPr id="8" name="Text 5"/>
          <p:cNvSpPr txBox="1"/>
          <p:nvPr/>
        </p:nvSpPr>
        <p:spPr>
          <a:xfrm>
            <a:off x="1042416" y="3794760"/>
            <a:ext cx="1474013" cy="1188720"/>
          </a:xfrm>
          <a:prstGeom prst="rect">
            <a:avLst/>
          </a:prstGeom>
          <a:noFill/>
          <a:ln/>
        </p:spPr>
        <p:txBody>
          <a:bodyPr wrap="square" lIns="0" tIns="0" rIns="0" bIns="0" rtlCol="0" anchor="t"/>
          <a:lstStyle/>
          <a:p>
            <a:pPr indent="0" marL="0">
              <a:buNone/>
            </a:pPr>
            <a:r>
              <a:rPr lang="en-US" sz="1400" dirty="0">
                <a:solidFill>
                  <a:schemeClr val="tx2"/>
                </a:solidFill>
              </a:rPr>
              <a:t>For one of your courses, grounded in your outline</a:t>
            </a:r>
            <a:endParaRPr lang="en-US" sz="1400" dirty="0"/>
          </a:p>
        </p:txBody>
      </p:sp>
      <p:sp>
        <p:nvSpPr>
          <p:cNvPr id="9" name="outcome 2"/>
          <p:cNvSpPr/>
          <p:nvPr/>
        </p:nvSpPr>
        <p:spPr>
          <a:xfrm>
            <a:off x="2973629" y="2103120"/>
            <a:ext cx="1931213" cy="3017520"/>
          </a:xfrm>
          <a:prstGeom prst="roundRect">
            <a:avLst>
              <a:gd name="adj" fmla="val 5682"/>
            </a:avLst>
          </a:prstGeom>
          <a:solidFill>
            <a:schemeClr val="bg1"/>
          </a:solidFill>
          <a:ln w="9525">
            <a:solidFill>
              <a:srgbClr val="DDD7CB"/>
            </a:solidFill>
            <a:prstDash val="solid"/>
          </a:ln>
        </p:spPr>
      </p:sp>
      <p:sp>
        <p:nvSpPr>
          <p:cNvPr id="10" name="Text 7"/>
          <p:cNvSpPr txBox="1"/>
          <p:nvPr/>
        </p:nvSpPr>
        <p:spPr>
          <a:xfrm>
            <a:off x="3202229" y="2331720"/>
            <a:ext cx="914400" cy="640080"/>
          </a:xfrm>
          <a:prstGeom prst="rect">
            <a:avLst/>
          </a:prstGeom>
          <a:noFill/>
          <a:ln/>
        </p:spPr>
        <p:txBody>
          <a:bodyPr wrap="square" lIns="0" tIns="0" rIns="0" bIns="0" rtlCol="0" anchor="t"/>
          <a:lstStyle/>
          <a:p>
            <a:pPr indent="0" marL="0">
              <a:buNone/>
            </a:pPr>
            <a:r>
              <a:rPr lang="en-US" sz="3600" b="1" dirty="0">
                <a:solidFill>
                  <a:schemeClr val="accent1"/>
                </a:solidFill>
                <a:latin typeface="+mj-lt" pitchFamily="34" charset="0"/>
                <a:ea typeface="+mj-lt" pitchFamily="34" charset="-122"/>
                <a:cs typeface="+mj-lt" pitchFamily="34" charset="-120"/>
              </a:rPr>
              <a:t>2</a:t>
            </a:r>
            <a:endParaRPr lang="en-US" sz="3600" dirty="0"/>
          </a:p>
        </p:txBody>
      </p:sp>
      <p:sp>
        <p:nvSpPr>
          <p:cNvPr id="11" name="Text 8"/>
          <p:cNvSpPr txBox="1"/>
          <p:nvPr/>
        </p:nvSpPr>
        <p:spPr>
          <a:xfrm>
            <a:off x="3202229" y="3108960"/>
            <a:ext cx="1474013" cy="640080"/>
          </a:xfrm>
          <a:prstGeom prst="rect">
            <a:avLst/>
          </a:prstGeom>
          <a:noFill/>
          <a:ln/>
        </p:spPr>
        <p:txBody>
          <a:bodyPr wrap="square" lIns="0" tIns="0" rIns="0" bIns="0" rtlCol="0" anchor="t"/>
          <a:lstStyle/>
          <a:p>
            <a:pPr indent="0" marL="0">
              <a:buNone/>
            </a:pPr>
            <a:r>
              <a:rPr lang="en-US" sz="1800" b="1" dirty="0">
                <a:solidFill>
                  <a:schemeClr val="tx1"/>
                </a:solidFill>
              </a:rPr>
              <a:t>2–3 materials</a:t>
            </a:r>
            <a:endParaRPr lang="en-US" sz="1800" dirty="0"/>
          </a:p>
        </p:txBody>
      </p:sp>
      <p:sp>
        <p:nvSpPr>
          <p:cNvPr id="12" name="Text 9"/>
          <p:cNvSpPr txBox="1"/>
          <p:nvPr/>
        </p:nvSpPr>
        <p:spPr>
          <a:xfrm>
            <a:off x="3202229" y="3794760"/>
            <a:ext cx="1474013" cy="1188720"/>
          </a:xfrm>
          <a:prstGeom prst="rect">
            <a:avLst/>
          </a:prstGeom>
          <a:noFill/>
          <a:ln/>
        </p:spPr>
        <p:txBody>
          <a:bodyPr wrap="square" lIns="0" tIns="0" rIns="0" bIns="0" rtlCol="0" anchor="t"/>
          <a:lstStyle/>
          <a:p>
            <a:pPr indent="0" marL="0">
              <a:buNone/>
            </a:pPr>
            <a:r>
              <a:rPr lang="en-US" sz="1400" dirty="0">
                <a:solidFill>
                  <a:schemeClr val="tx2"/>
                </a:solidFill>
              </a:rPr>
              <a:t>Rubric, quiz, slides, case, role-play or survey</a:t>
            </a:r>
            <a:endParaRPr lang="en-US" sz="1400" dirty="0"/>
          </a:p>
        </p:txBody>
      </p:sp>
      <p:sp>
        <p:nvSpPr>
          <p:cNvPr id="13" name="outcome 3"/>
          <p:cNvSpPr/>
          <p:nvPr/>
        </p:nvSpPr>
        <p:spPr>
          <a:xfrm>
            <a:off x="5133442" y="2103120"/>
            <a:ext cx="1931213" cy="3017520"/>
          </a:xfrm>
          <a:prstGeom prst="roundRect">
            <a:avLst>
              <a:gd name="adj" fmla="val 5682"/>
            </a:avLst>
          </a:prstGeom>
          <a:solidFill>
            <a:schemeClr val="bg1"/>
          </a:solidFill>
          <a:ln w="9525">
            <a:solidFill>
              <a:srgbClr val="DDD7CB"/>
            </a:solidFill>
            <a:prstDash val="solid"/>
          </a:ln>
        </p:spPr>
      </p:sp>
      <p:sp>
        <p:nvSpPr>
          <p:cNvPr id="14" name="Text 11"/>
          <p:cNvSpPr txBox="1"/>
          <p:nvPr/>
        </p:nvSpPr>
        <p:spPr>
          <a:xfrm>
            <a:off x="5362042" y="2331720"/>
            <a:ext cx="914400" cy="640080"/>
          </a:xfrm>
          <a:prstGeom prst="rect">
            <a:avLst/>
          </a:prstGeom>
          <a:noFill/>
          <a:ln/>
        </p:spPr>
        <p:txBody>
          <a:bodyPr wrap="square" lIns="0" tIns="0" rIns="0" bIns="0" rtlCol="0" anchor="t"/>
          <a:lstStyle/>
          <a:p>
            <a:pPr indent="0" marL="0">
              <a:buNone/>
            </a:pPr>
            <a:r>
              <a:rPr lang="en-US" sz="3600" b="1" dirty="0">
                <a:solidFill>
                  <a:schemeClr val="accent1"/>
                </a:solidFill>
                <a:latin typeface="+mj-lt" pitchFamily="34" charset="0"/>
                <a:ea typeface="+mj-lt" pitchFamily="34" charset="-122"/>
                <a:cs typeface="+mj-lt" pitchFamily="34" charset="-120"/>
              </a:rPr>
              <a:t>3</a:t>
            </a:r>
            <a:endParaRPr lang="en-US" sz="3600" dirty="0"/>
          </a:p>
        </p:txBody>
      </p:sp>
      <p:sp>
        <p:nvSpPr>
          <p:cNvPr id="15" name="Text 12"/>
          <p:cNvSpPr txBox="1"/>
          <p:nvPr/>
        </p:nvSpPr>
        <p:spPr>
          <a:xfrm>
            <a:off x="5362042" y="3108960"/>
            <a:ext cx="1474013" cy="640080"/>
          </a:xfrm>
          <a:prstGeom prst="rect">
            <a:avLst/>
          </a:prstGeom>
          <a:noFill/>
          <a:ln/>
        </p:spPr>
        <p:txBody>
          <a:bodyPr wrap="square" lIns="0" tIns="0" rIns="0" bIns="0" rtlCol="0" anchor="t"/>
          <a:lstStyle/>
          <a:p>
            <a:pPr indent="0" marL="0">
              <a:buNone/>
            </a:pPr>
            <a:r>
              <a:rPr lang="en-US" sz="1800" b="1" dirty="0">
                <a:solidFill>
                  <a:schemeClr val="tx1"/>
                </a:solidFill>
              </a:rPr>
              <a:t>Detection literacy</a:t>
            </a:r>
            <a:endParaRPr lang="en-US" sz="1800" dirty="0"/>
          </a:p>
        </p:txBody>
      </p:sp>
      <p:sp>
        <p:nvSpPr>
          <p:cNvPr id="16" name="Text 13"/>
          <p:cNvSpPr txBox="1"/>
          <p:nvPr/>
        </p:nvSpPr>
        <p:spPr>
          <a:xfrm>
            <a:off x="5362042" y="3794760"/>
            <a:ext cx="1474013" cy="1188720"/>
          </a:xfrm>
          <a:prstGeom prst="rect">
            <a:avLst/>
          </a:prstGeom>
          <a:noFill/>
          <a:ln/>
        </p:spPr>
        <p:txBody>
          <a:bodyPr wrap="square" lIns="0" tIns="0" rIns="0" bIns="0" rtlCol="0" anchor="t"/>
          <a:lstStyle/>
          <a:p>
            <a:pPr indent="0" marL="0">
              <a:buNone/>
            </a:pPr>
            <a:r>
              <a:rPr lang="en-US" sz="1400" dirty="0">
                <a:solidFill>
                  <a:schemeClr val="tx2"/>
                </a:solidFill>
              </a:rPr>
              <a:t>What a Turnitin AI score can and can’t tell you</a:t>
            </a:r>
            <a:endParaRPr lang="en-US" sz="1400" dirty="0"/>
          </a:p>
        </p:txBody>
      </p:sp>
      <p:sp>
        <p:nvSpPr>
          <p:cNvPr id="17" name="outcome 4"/>
          <p:cNvSpPr/>
          <p:nvPr/>
        </p:nvSpPr>
        <p:spPr>
          <a:xfrm>
            <a:off x="7293254" y="2103120"/>
            <a:ext cx="1931213" cy="3017520"/>
          </a:xfrm>
          <a:prstGeom prst="roundRect">
            <a:avLst>
              <a:gd name="adj" fmla="val 5682"/>
            </a:avLst>
          </a:prstGeom>
          <a:solidFill>
            <a:schemeClr val="bg1"/>
          </a:solidFill>
          <a:ln w="9525">
            <a:solidFill>
              <a:srgbClr val="DDD7CB"/>
            </a:solidFill>
            <a:prstDash val="solid"/>
          </a:ln>
        </p:spPr>
      </p:sp>
      <p:sp>
        <p:nvSpPr>
          <p:cNvPr id="18" name="Text 15"/>
          <p:cNvSpPr txBox="1"/>
          <p:nvPr/>
        </p:nvSpPr>
        <p:spPr>
          <a:xfrm>
            <a:off x="7521854" y="2331720"/>
            <a:ext cx="914400" cy="640080"/>
          </a:xfrm>
          <a:prstGeom prst="rect">
            <a:avLst/>
          </a:prstGeom>
          <a:noFill/>
          <a:ln/>
        </p:spPr>
        <p:txBody>
          <a:bodyPr wrap="square" lIns="0" tIns="0" rIns="0" bIns="0" rtlCol="0" anchor="t"/>
          <a:lstStyle/>
          <a:p>
            <a:pPr indent="0" marL="0">
              <a:buNone/>
            </a:pPr>
            <a:r>
              <a:rPr lang="en-US" sz="3600" b="1" dirty="0">
                <a:solidFill>
                  <a:schemeClr val="accent1"/>
                </a:solidFill>
                <a:latin typeface="+mj-lt" pitchFamily="34" charset="0"/>
                <a:ea typeface="+mj-lt" pitchFamily="34" charset="-122"/>
                <a:cs typeface="+mj-lt" pitchFamily="34" charset="-120"/>
              </a:rPr>
              <a:t>4</a:t>
            </a:r>
            <a:endParaRPr lang="en-US" sz="3600" dirty="0"/>
          </a:p>
        </p:txBody>
      </p:sp>
      <p:sp>
        <p:nvSpPr>
          <p:cNvPr id="19" name="Text 16"/>
          <p:cNvSpPr txBox="1"/>
          <p:nvPr/>
        </p:nvSpPr>
        <p:spPr>
          <a:xfrm>
            <a:off x="7521854" y="3108960"/>
            <a:ext cx="1474013" cy="640080"/>
          </a:xfrm>
          <a:prstGeom prst="rect">
            <a:avLst/>
          </a:prstGeom>
          <a:noFill/>
          <a:ln/>
        </p:spPr>
        <p:txBody>
          <a:bodyPr wrap="square" lIns="0" tIns="0" rIns="0" bIns="0" rtlCol="0" anchor="t"/>
          <a:lstStyle/>
          <a:p>
            <a:pPr indent="0" marL="0">
              <a:buNone/>
            </a:pPr>
            <a:r>
              <a:rPr lang="en-US" sz="1800" b="1" dirty="0">
                <a:solidFill>
                  <a:schemeClr val="tx1"/>
                </a:solidFill>
              </a:rPr>
              <a:t>A Sakai embed</a:t>
            </a:r>
            <a:endParaRPr lang="en-US" sz="1800" dirty="0"/>
          </a:p>
        </p:txBody>
      </p:sp>
      <p:sp>
        <p:nvSpPr>
          <p:cNvPr id="20" name="Text 17"/>
          <p:cNvSpPr txBox="1"/>
          <p:nvPr/>
        </p:nvSpPr>
        <p:spPr>
          <a:xfrm>
            <a:off x="7521854" y="3794760"/>
            <a:ext cx="1474013" cy="1188720"/>
          </a:xfrm>
          <a:prstGeom prst="rect">
            <a:avLst/>
          </a:prstGeom>
          <a:noFill/>
          <a:ln/>
        </p:spPr>
        <p:txBody>
          <a:bodyPr wrap="square" lIns="0" tIns="0" rIns="0" bIns="0" rtlCol="0" anchor="t"/>
          <a:lstStyle/>
          <a:p>
            <a:pPr indent="0" marL="0">
              <a:buNone/>
            </a:pPr>
            <a:r>
              <a:rPr lang="en-US" sz="1400" dirty="0">
                <a:solidFill>
                  <a:schemeClr val="tx2"/>
                </a:solidFill>
              </a:rPr>
              <a:t>Your tutor where students already are</a:t>
            </a:r>
            <a:endParaRPr lang="en-US" sz="1400" dirty="0"/>
          </a:p>
        </p:txBody>
      </p:sp>
      <p:sp>
        <p:nvSpPr>
          <p:cNvPr id="21" name="outcome 5"/>
          <p:cNvSpPr/>
          <p:nvPr/>
        </p:nvSpPr>
        <p:spPr>
          <a:xfrm>
            <a:off x="9453067" y="2103120"/>
            <a:ext cx="1931213" cy="3017520"/>
          </a:xfrm>
          <a:prstGeom prst="roundRect">
            <a:avLst>
              <a:gd name="adj" fmla="val 5682"/>
            </a:avLst>
          </a:prstGeom>
          <a:solidFill>
            <a:schemeClr val="bg1"/>
          </a:solidFill>
          <a:ln w="9525">
            <a:solidFill>
              <a:srgbClr val="DDD7CB"/>
            </a:solidFill>
            <a:prstDash val="solid"/>
          </a:ln>
        </p:spPr>
      </p:sp>
      <p:sp>
        <p:nvSpPr>
          <p:cNvPr id="22" name="Text 19"/>
          <p:cNvSpPr txBox="1"/>
          <p:nvPr/>
        </p:nvSpPr>
        <p:spPr>
          <a:xfrm>
            <a:off x="9681667" y="2331720"/>
            <a:ext cx="914400" cy="640080"/>
          </a:xfrm>
          <a:prstGeom prst="rect">
            <a:avLst/>
          </a:prstGeom>
          <a:noFill/>
          <a:ln/>
        </p:spPr>
        <p:txBody>
          <a:bodyPr wrap="square" lIns="0" tIns="0" rIns="0" bIns="0" rtlCol="0" anchor="t"/>
          <a:lstStyle/>
          <a:p>
            <a:pPr indent="0" marL="0">
              <a:buNone/>
            </a:pPr>
            <a:r>
              <a:rPr lang="en-US" sz="3600" b="1" dirty="0">
                <a:solidFill>
                  <a:schemeClr val="accent1"/>
                </a:solidFill>
                <a:latin typeface="+mj-lt" pitchFamily="34" charset="0"/>
                <a:ea typeface="+mj-lt" pitchFamily="34" charset="-122"/>
                <a:cs typeface="+mj-lt" pitchFamily="34" charset="-120"/>
              </a:rPr>
              <a:t>5</a:t>
            </a:r>
            <a:endParaRPr lang="en-US" sz="3600" dirty="0"/>
          </a:p>
        </p:txBody>
      </p:sp>
      <p:sp>
        <p:nvSpPr>
          <p:cNvPr id="23" name="Text 20"/>
          <p:cNvSpPr txBox="1"/>
          <p:nvPr/>
        </p:nvSpPr>
        <p:spPr>
          <a:xfrm>
            <a:off x="9681667" y="3108960"/>
            <a:ext cx="1474013" cy="640080"/>
          </a:xfrm>
          <a:prstGeom prst="rect">
            <a:avLst/>
          </a:prstGeom>
          <a:noFill/>
          <a:ln/>
        </p:spPr>
        <p:txBody>
          <a:bodyPr wrap="square" lIns="0" tIns="0" rIns="0" bIns="0" rtlCol="0" anchor="t"/>
          <a:lstStyle/>
          <a:p>
            <a:pPr indent="0" marL="0">
              <a:buNone/>
            </a:pPr>
            <a:r>
              <a:rPr lang="en-US" sz="1800" b="1" dirty="0">
                <a:solidFill>
                  <a:schemeClr val="tx1"/>
                </a:solidFill>
              </a:rPr>
              <a:t>A 30-day plan</a:t>
            </a:r>
            <a:endParaRPr lang="en-US" sz="1800" dirty="0"/>
          </a:p>
        </p:txBody>
      </p:sp>
      <p:sp>
        <p:nvSpPr>
          <p:cNvPr id="24" name="Text 21"/>
          <p:cNvSpPr txBox="1"/>
          <p:nvPr/>
        </p:nvSpPr>
        <p:spPr>
          <a:xfrm>
            <a:off x="9681667" y="3794760"/>
            <a:ext cx="1474013" cy="1188720"/>
          </a:xfrm>
          <a:prstGeom prst="rect">
            <a:avLst/>
          </a:prstGeom>
          <a:noFill/>
          <a:ln/>
        </p:spPr>
        <p:txBody>
          <a:bodyPr wrap="square" lIns="0" tIns="0" rIns="0" bIns="0" rtlCol="0" anchor="t"/>
          <a:lstStyle/>
          <a:p>
            <a:pPr indent="0" marL="0">
              <a:buNone/>
            </a:pPr>
            <a:r>
              <a:rPr lang="en-US" sz="1400" dirty="0">
                <a:solidFill>
                  <a:schemeClr val="tx2"/>
                </a:solidFill>
              </a:rPr>
              <a:t>Written by you, for real students</a:t>
            </a:r>
            <a:endParaRPr lang="en-US" sz="1400" dirty="0"/>
          </a:p>
        </p:txBody>
      </p:sp>
      <p:sp>
        <p:nvSpPr>
          <p:cNvPr id="25" name="Slide Number Placeholder 0"/>
          <p:cNvSpPr>
            <a:spLocks noGrp="1"/>
          </p:cNvSpPr>
          <p:nvPr>
            <p:ph type="sldNum" sz="quarter" idx="4294967295"/>
          </p:nvPr>
        </p:nvSpPr>
        <p:spPr>
          <a:xfrm>
            <a:off x="10561320" y="6291072"/>
            <a:ext cx="8229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813816" y="640080"/>
            <a:ext cx="10570464" cy="320040"/>
          </a:xfrm>
          <a:prstGeom prst="rect">
            <a:avLst/>
          </a:prstGeom>
          <a:noFill/>
          <a:ln/>
        </p:spPr>
        <p:txBody>
          <a:bodyPr wrap="square" lIns="0" tIns="0" rIns="0" bIns="0" rtlCol="0" anchor="t"/>
          <a:lstStyle/>
          <a:p>
            <a:pPr indent="0" marL="0">
              <a:buNone/>
            </a:pPr>
            <a:r>
              <a:rPr lang="en-US" sz="1200" b="1" spc="300" kern="0" dirty="0">
                <a:solidFill>
                  <a:schemeClr val="accent1"/>
                </a:solidFill>
              </a:rPr>
              <a:t>WHY THIS MATTERS NOW</a:t>
            </a:r>
            <a:endParaRPr lang="en-US" sz="1200" dirty="0"/>
          </a:p>
        </p:txBody>
      </p:sp>
      <p:sp>
        <p:nvSpPr>
          <p:cNvPr id="3" name="Text 1"/>
          <p:cNvSpPr/>
          <p:nvPr>
            <p:ph idx="102" type="title" hasCustomPrompt="1"/>
          </p:nvPr>
        </p:nvSpPr>
        <p:spPr>
          <a:xfrm>
            <a:off x="813816" y="987552"/>
            <a:ext cx="10570464" cy="731520"/>
          </a:xfrm>
          <a:prstGeom prst="rect">
            <a:avLst/>
          </a:prstGeom>
          <a:noFill/>
          <a:ln/>
        </p:spPr>
        <p:txBody>
          <a:bodyPr wrap="square" lIns="0" tIns="0" rIns="0" bIns="0" rtlCol="0" anchor="t"/>
          <a:lstStyle/>
          <a:p>
            <a:pPr algn="l" indent="0" marL="0">
              <a:buNone/>
            </a:pPr>
            <a:r>
              <a:rPr lang="en-US" sz="3600" b="1" dirty="0">
                <a:solidFill>
                  <a:schemeClr val="tx1"/>
                </a:solidFill>
                <a:latin typeface="+mj-lt" pitchFamily="34" charset="0"/>
                <a:ea typeface="+mj-lt" pitchFamily="34" charset="-122"/>
                <a:cs typeface="+mj-lt" pitchFamily="34" charset="-120"/>
              </a:rPr>
              <a:t>Our students already use AI</a:t>
            </a:r>
            <a:endParaRPr lang="en-US" sz="3600" dirty="0"/>
          </a:p>
        </p:txBody>
      </p:sp>
      <p:sp>
        <p:nvSpPr>
          <p:cNvPr id="5" name="Text 2"/>
          <p:cNvSpPr txBox="1"/>
          <p:nvPr/>
        </p:nvSpPr>
        <p:spPr>
          <a:xfrm>
            <a:off x="813816" y="2011680"/>
            <a:ext cx="10570464" cy="822960"/>
          </a:xfrm>
          <a:prstGeom prst="rect">
            <a:avLst/>
          </a:prstGeom>
          <a:noFill/>
          <a:ln/>
        </p:spPr>
        <p:txBody>
          <a:bodyPr wrap="square" lIns="0" tIns="0" rIns="0" bIns="0" rtlCol="0" anchor="t"/>
          <a:lstStyle/>
          <a:p>
            <a:pPr indent="0" marL="0">
              <a:buNone/>
            </a:pPr>
            <a:r>
              <a:rPr lang="en-US" sz="2800" dirty="0">
                <a:solidFill>
                  <a:schemeClr val="tx1"/>
                </a:solidFill>
                <a:latin typeface="+mj-lt" pitchFamily="34" charset="0"/>
                <a:ea typeface="+mj-lt" pitchFamily="34" charset="-122"/>
                <a:cs typeface="+mj-lt" pitchFamily="34" charset="-120"/>
              </a:rPr>
              <a:t>Many use it to skip the thinking we are trying to teach.</a:t>
            </a:r>
            <a:endParaRPr lang="en-US" sz="2800" dirty="0"/>
          </a:p>
        </p:txBody>
      </p:sp>
      <p:sp>
        <p:nvSpPr>
          <p:cNvPr id="6" name="question"/>
          <p:cNvSpPr/>
          <p:nvPr/>
        </p:nvSpPr>
        <p:spPr>
          <a:xfrm>
            <a:off x="813816" y="3291840"/>
            <a:ext cx="10570464" cy="1371600"/>
          </a:xfrm>
          <a:prstGeom prst="roundRect">
            <a:avLst>
              <a:gd name="adj" fmla="val 8000"/>
            </a:avLst>
          </a:prstGeom>
          <a:solidFill>
            <a:schemeClr val="bg1"/>
          </a:solidFill>
          <a:ln w="9525">
            <a:solidFill>
              <a:srgbClr val="DDD7CB"/>
            </a:solidFill>
            <a:prstDash val="solid"/>
          </a:ln>
        </p:spPr>
      </p:sp>
      <p:pic>
        <p:nvPicPr>
          <p:cNvPr id="7" name="question icon" descr="preencoded.png">    </p:cNvPr>
          <p:cNvPicPr>
            <a:picLocks noChangeAspect="1"/>
          </p:cNvPicPr>
          <p:nvPr/>
        </p:nvPicPr>
        <p:blipFill>
          <a:blip r:embed="rId1"/>
          <a:stretch>
            <a:fillRect/>
          </a:stretch>
        </p:blipFill>
        <p:spPr>
          <a:xfrm>
            <a:off x="1179576" y="3703320"/>
            <a:ext cx="548640" cy="548640"/>
          </a:xfrm>
          <a:prstGeom prst="rect">
            <a:avLst/>
          </a:prstGeom>
        </p:spPr>
      </p:pic>
      <p:sp>
        <p:nvSpPr>
          <p:cNvPr id="8" name="Text 4"/>
          <p:cNvSpPr txBox="1"/>
          <p:nvPr/>
        </p:nvSpPr>
        <p:spPr>
          <a:xfrm>
            <a:off x="2002536" y="3291840"/>
            <a:ext cx="9015984" cy="1371600"/>
          </a:xfrm>
          <a:prstGeom prst="rect">
            <a:avLst/>
          </a:prstGeom>
          <a:noFill/>
          <a:ln/>
        </p:spPr>
        <p:txBody>
          <a:bodyPr wrap="square" lIns="0" tIns="0" rIns="0" bIns="0" rtlCol="0" anchor="ctr"/>
          <a:lstStyle/>
          <a:p>
            <a:pPr indent="0" marL="0">
              <a:buNone/>
            </a:pPr>
            <a:r>
              <a:rPr lang="en-US" sz="2400" i="1" dirty="0">
                <a:solidFill>
                  <a:schemeClr val="tx1"/>
                </a:solidFill>
              </a:rPr>
              <a:t>How do we make AI work for learning, instead of against it?</a:t>
            </a:r>
            <a:endParaRPr lang="en-US" sz="2400" dirty="0"/>
          </a:p>
        </p:txBody>
      </p:sp>
      <p:sp>
        <p:nvSpPr>
          <p:cNvPr id="25" name="Slide Number Placeholder 0"/>
          <p:cNvSpPr>
            <a:spLocks noGrp="1"/>
          </p:cNvSpPr>
          <p:nvPr>
            <p:ph type="sldNum" sz="quarter" idx="4294967295"/>
          </p:nvPr>
        </p:nvSpPr>
        <p:spPr>
          <a:xfrm>
            <a:off x="10561320" y="6291072"/>
            <a:ext cx="8229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txBox="1"/>
          <p:nvPr/>
        </p:nvSpPr>
        <p:spPr>
          <a:xfrm>
            <a:off x="813816" y="1737360"/>
            <a:ext cx="10570464" cy="365760"/>
          </a:xfrm>
          <a:prstGeom prst="rect">
            <a:avLst/>
          </a:prstGeom>
          <a:noFill/>
          <a:ln/>
        </p:spPr>
        <p:txBody>
          <a:bodyPr wrap="square" lIns="0" tIns="0" rIns="0" bIns="0" rtlCol="0" anchor="t"/>
          <a:lstStyle/>
          <a:p>
            <a:pPr indent="0" marL="0">
              <a:buNone/>
            </a:pPr>
            <a:r>
              <a:rPr lang="en-US" sz="1400" b="1" spc="400" kern="0" dirty="0">
                <a:solidFill>
                  <a:schemeClr val="accent2"/>
                </a:solidFill>
              </a:rPr>
              <a:t>THE ONE RULE FOR TODAY</a:t>
            </a:r>
            <a:endParaRPr lang="en-US" sz="1400" dirty="0"/>
          </a:p>
        </p:txBody>
      </p:sp>
      <p:sp>
        <p:nvSpPr>
          <p:cNvPr id="4" name="Text 1"/>
          <p:cNvSpPr txBox="1"/>
          <p:nvPr/>
        </p:nvSpPr>
        <p:spPr>
          <a:xfrm>
            <a:off x="813816" y="2286000"/>
            <a:ext cx="10570464" cy="1828800"/>
          </a:xfrm>
          <a:prstGeom prst="rect">
            <a:avLst/>
          </a:prstGeom>
          <a:noFill/>
          <a:ln/>
        </p:spPr>
        <p:txBody>
          <a:bodyPr wrap="square" lIns="0" tIns="0" rIns="0" bIns="0" rtlCol="0" anchor="t"/>
          <a:lstStyle/>
          <a:p>
            <a:pPr indent="0" marL="0">
              <a:buNone/>
            </a:pPr>
            <a:r>
              <a:rPr lang="en-US" sz="5200" b="1" dirty="0">
                <a:solidFill>
                  <a:schemeClr val="bg1"/>
                </a:solidFill>
                <a:latin typeface="+mj-lt" pitchFamily="34" charset="0"/>
                <a:ea typeface="+mj-lt" pitchFamily="34" charset="-122"/>
                <a:cs typeface="+mj-lt" pitchFamily="34" charset="-120"/>
              </a:rPr>
              <a:t>AI should guide students, not do the work for them</a:t>
            </a:r>
            <a:endParaRPr lang="en-US" sz="5200" dirty="0"/>
          </a:p>
        </p:txBody>
      </p:sp>
      <p:sp>
        <p:nvSpPr>
          <p:cNvPr id="5" name="Text 2"/>
          <p:cNvSpPr txBox="1"/>
          <p:nvPr/>
        </p:nvSpPr>
        <p:spPr>
          <a:xfrm>
            <a:off x="813816" y="4389120"/>
            <a:ext cx="9144000" cy="731520"/>
          </a:xfrm>
          <a:prstGeom prst="rect">
            <a:avLst/>
          </a:prstGeom>
          <a:noFill/>
          <a:ln/>
        </p:spPr>
        <p:txBody>
          <a:bodyPr wrap="square" lIns="0" tIns="0" rIns="0" bIns="0" rtlCol="0" anchor="t"/>
          <a:lstStyle/>
          <a:p>
            <a:pPr indent="0" marL="0">
              <a:buNone/>
            </a:pPr>
            <a:r>
              <a:rPr lang="en-US" sz="1800" dirty="0">
                <a:solidFill>
                  <a:srgbClr val="C9D2DC"/>
                </a:solidFill>
              </a:rPr>
              <a:t>A good tutor doesn’t hand over the answer. It asks the question that gets the student one step closer.</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813816" y="640080"/>
            <a:ext cx="10570464" cy="320040"/>
          </a:xfrm>
          <a:prstGeom prst="rect">
            <a:avLst/>
          </a:prstGeom>
          <a:noFill/>
          <a:ln/>
        </p:spPr>
        <p:txBody>
          <a:bodyPr wrap="square" lIns="0" tIns="0" rIns="0" bIns="0" rtlCol="0" anchor="t"/>
          <a:lstStyle/>
          <a:p>
            <a:pPr indent="0" marL="0">
              <a:buNone/>
            </a:pPr>
            <a:r>
              <a:rPr lang="en-US" sz="1200" b="1" spc="300" kern="0" dirty="0">
                <a:solidFill>
                  <a:schemeClr val="accent1"/>
                </a:solidFill>
              </a:rPr>
              <a:t>MINDSET SHIFT · PAIRS · 10 MINUTES</a:t>
            </a:r>
            <a:endParaRPr lang="en-US" sz="1200" dirty="0"/>
          </a:p>
        </p:txBody>
      </p:sp>
      <p:sp>
        <p:nvSpPr>
          <p:cNvPr id="3" name="Text 1"/>
          <p:cNvSpPr/>
          <p:nvPr>
            <p:ph idx="102" type="title" hasCustomPrompt="1"/>
          </p:nvPr>
        </p:nvSpPr>
        <p:spPr>
          <a:xfrm>
            <a:off x="813816" y="987552"/>
            <a:ext cx="10570464" cy="731520"/>
          </a:xfrm>
          <a:prstGeom prst="rect">
            <a:avLst/>
          </a:prstGeom>
          <a:noFill/>
          <a:ln/>
        </p:spPr>
        <p:txBody>
          <a:bodyPr wrap="square" lIns="0" tIns="0" rIns="0" bIns="0" rtlCol="0" anchor="t"/>
          <a:lstStyle/>
          <a:p>
            <a:pPr algn="l" indent="0" marL="0">
              <a:buNone/>
            </a:pPr>
            <a:r>
              <a:rPr lang="en-US" sz="3600" b="1" dirty="0">
                <a:solidFill>
                  <a:schemeClr val="tx1"/>
                </a:solidFill>
                <a:latin typeface="+mj-lt" pitchFamily="34" charset="0"/>
                <a:ea typeface="+mj-lt" pitchFamily="34" charset="-122"/>
                <a:cs typeface="+mj-lt" pitchFamily="34" charset="-120"/>
              </a:rPr>
              <a:t>From worry to design rule</a:t>
            </a:r>
            <a:endParaRPr lang="en-US" sz="3600" dirty="0"/>
          </a:p>
        </p:txBody>
      </p:sp>
      <p:graphicFrame>
        <p:nvGraphicFramePr>
          <p:cNvPr id="6" name="worry table"/>
          <p:cNvGraphicFramePr>
            <a:graphicFrameLocks noGrp="1"/>
          </p:cNvGraphicFramePr>
          <p:nvPr>
            <p:extLst>
              <p:ext uri="{D42A27DB-BD31-4B8C-83A1-F6EECF244321}">
                <p14:modId xmlns:p14="http://schemas.microsoft.com/office/powerpoint/2010/main" val="1579011935"/>
              </p:ext>
            </p:extLst>
          </p:nvPr>
        </p:nvGraphicFramePr>
        <p:xfrm>
          <a:off x="813816" y="2057400"/>
          <a:ext cx="10570464" cy="914400"/>
        </p:xfrm>
        <a:graphic>
          <a:graphicData uri="http://schemas.openxmlformats.org/drawingml/2006/table">
            <a:tbl>
              <a:tblPr/>
              <a:tblGrid>
                <a:gridCol w="4754880"/>
                <a:gridCol w="914400"/>
                <a:gridCol w="4901184"/>
              </a:tblGrid>
              <a:tr h="548640">
                <a:tc>
                  <a:txBody>
                    <a:bodyPr/>
                    <a:lstStyle/>
                    <a:p>
                      <a:pPr indent="0" marL="0">
                        <a:buNone/>
                      </a:pPr>
                      <a:r>
                        <a:rPr lang="en-US" sz="1600" b="1" dirty="0">
                          <a:solidFill>
                            <a:schemeClr val="tx1"/>
                          </a:solidFill>
                        </a:rPr>
                        <a:t>The worry</a:t>
                      </a:r>
                      <a:endParaRPr lang="en-US" sz="16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solidFill>
                      <a:schemeClr val="accent6"/>
                    </a:solidFill>
                  </a:tcPr>
                </a:tc>
                <a:tc>
                  <a:txBody>
                    <a:bodyPr/>
                    <a:lstStyle/>
                    <a:p>
                      <a:pPr indent="0" marL="0">
                        <a:buNone/>
                      </a:pPr>
                      <a:endParaRPr lang="en-US" sz="16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solidFill>
                      <a:schemeClr val="accent6"/>
                    </a:solidFill>
                  </a:tcPr>
                </a:tc>
                <a:tc>
                  <a:txBody>
                    <a:bodyPr/>
                    <a:lstStyle/>
                    <a:p>
                      <a:pPr indent="0" marL="0">
                        <a:buNone/>
                      </a:pPr>
                      <a:r>
                        <a:rPr lang="en-US" sz="1600" b="1" dirty="0">
                          <a:solidFill>
                            <a:schemeClr val="tx1"/>
                          </a:solidFill>
                        </a:rPr>
                        <a:t>The design rule</a:t>
                      </a:r>
                      <a:endParaRPr lang="en-US" sz="16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solidFill>
                      <a:schemeClr val="accent6"/>
                    </a:solidFill>
                  </a:tcPr>
                </a:tc>
              </a:tr>
              <a:tr h="548640">
                <a:tc>
                  <a:txBody>
                    <a:bodyPr/>
                    <a:lstStyle/>
                    <a:p>
                      <a:pPr indent="0" marL="0">
                        <a:buNone/>
                      </a:pPr>
                      <a:r>
                        <a:rPr lang="en-US" sz="1600" dirty="0">
                          <a:solidFill>
                            <a:schemeClr val="tx1"/>
                          </a:solidFill>
                        </a:rPr>
                        <a:t>“They copy answers.”</a:t>
                      </a:r>
                      <a:endParaRPr lang="en-US" sz="16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algn="ctr" indent="0" marL="0">
                        <a:buNone/>
                      </a:pPr>
                      <a:r>
                        <a:rPr lang="en-US" sz="1600" dirty="0">
                          <a:solidFill>
                            <a:schemeClr val="accent1"/>
                          </a:solidFill>
                        </a:rPr>
                        <a:t>→</a:t>
                      </a:r>
                      <a:endParaRPr lang="en-US" sz="16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600" b="1" dirty="0">
                          <a:solidFill>
                            <a:schemeClr val="tx1"/>
                          </a:solidFill>
                        </a:rPr>
                        <a:t>The tutor never gives graded answers.</a:t>
                      </a:r>
                      <a:endParaRPr lang="en-US" sz="16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548640">
                <a:tc>
                  <a:txBody>
                    <a:bodyPr/>
                    <a:lstStyle/>
                    <a:p>
                      <a:pPr indent="0" marL="0">
                        <a:buNone/>
                      </a:pPr>
                      <a:r>
                        <a:rPr lang="en-US" sz="1600" dirty="0">
                          <a:solidFill>
                            <a:schemeClr val="tx1"/>
                          </a:solidFill>
                        </a:rPr>
                        <a:t>“It makes things up.”</a:t>
                      </a:r>
                      <a:endParaRPr lang="en-US" sz="16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algn="ctr" indent="0" marL="0">
                        <a:buNone/>
                      </a:pPr>
                      <a:r>
                        <a:rPr lang="en-US" sz="1600" dirty="0">
                          <a:solidFill>
                            <a:schemeClr val="accent1"/>
                          </a:solidFill>
                        </a:rPr>
                        <a:t>→</a:t>
                      </a:r>
                      <a:endParaRPr lang="en-US" sz="16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600" b="1" dirty="0">
                          <a:solidFill>
                            <a:schemeClr val="tx1"/>
                          </a:solidFill>
                        </a:rPr>
                        <a:t>It uses only my outline and admits doubt.</a:t>
                      </a:r>
                      <a:endParaRPr lang="en-US" sz="16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548640">
                <a:tc>
                  <a:txBody>
                    <a:bodyPr/>
                    <a:lstStyle/>
                    <a:p>
                      <a:pPr indent="0" marL="0">
                        <a:buNone/>
                      </a:pPr>
                      <a:r>
                        <a:rPr lang="en-US" sz="1600" dirty="0">
                          <a:solidFill>
                            <a:schemeClr val="tx1"/>
                          </a:solidFill>
                        </a:rPr>
                        <a:t>“They stop thinking.”</a:t>
                      </a:r>
                      <a:endParaRPr lang="en-US" sz="16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algn="ctr" indent="0" marL="0">
                        <a:buNone/>
                      </a:pPr>
                      <a:r>
                        <a:rPr lang="en-US" sz="1600" dirty="0">
                          <a:solidFill>
                            <a:schemeClr val="accent1"/>
                          </a:solidFill>
                        </a:rPr>
                        <a:t>→</a:t>
                      </a:r>
                      <a:endParaRPr lang="en-US" sz="16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600" b="1" dirty="0">
                          <a:solidFill>
                            <a:schemeClr val="tx1"/>
                          </a:solidFill>
                        </a:rPr>
                        <a:t>It asks before it tells.</a:t>
                      </a:r>
                      <a:endParaRPr lang="en-US" sz="16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548640">
                <a:tc>
                  <a:txBody>
                    <a:bodyPr/>
                    <a:lstStyle/>
                    <a:p>
                      <a:pPr indent="0" marL="0">
                        <a:buNone/>
                      </a:pPr>
                      <a:r>
                        <a:rPr lang="en-US" sz="1600" dirty="0">
                          <a:solidFill>
                            <a:schemeClr val="tx1"/>
                          </a:solidFill>
                        </a:rPr>
                        <a:t>“I can’t tell who wrote it.”</a:t>
                      </a:r>
                      <a:endParaRPr lang="en-US" sz="16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algn="ctr" indent="0" marL="0">
                        <a:buNone/>
                      </a:pPr>
                      <a:r>
                        <a:rPr lang="en-US" sz="1600" dirty="0">
                          <a:solidFill>
                            <a:schemeClr val="accent1"/>
                          </a:solidFill>
                        </a:rPr>
                        <a:t>→</a:t>
                      </a:r>
                      <a:endParaRPr lang="en-US" sz="16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600" b="1" dirty="0">
                          <a:solidFill>
                            <a:schemeClr val="tx1"/>
                          </a:solidFill>
                        </a:rPr>
                        <a:t>Assessments AI alone can’t finish.</a:t>
                      </a:r>
                      <a:endParaRPr lang="en-US" sz="16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548640">
                <a:tc>
                  <a:txBody>
                    <a:bodyPr/>
                    <a:lstStyle/>
                    <a:p>
                      <a:pPr indent="0" marL="0">
                        <a:buNone/>
                      </a:pPr>
                      <a:r>
                        <a:rPr lang="en-US" sz="1600" dirty="0">
                          <a:solidFill>
                            <a:schemeClr val="tx1"/>
                          </a:solidFill>
                        </a:rPr>
                        <a:t>[A worry from the room]</a:t>
                      </a:r>
                      <a:endParaRPr lang="en-US" sz="16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algn="ctr" indent="0" marL="0">
                        <a:buNone/>
                      </a:pPr>
                      <a:r>
                        <a:rPr lang="en-US" sz="1600" dirty="0">
                          <a:solidFill>
                            <a:schemeClr val="accent1"/>
                          </a:solidFill>
                        </a:rPr>
                        <a:t>→</a:t>
                      </a:r>
                      <a:endParaRPr lang="en-US" sz="16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600" dirty="0">
                          <a:solidFill>
                            <a:schemeClr val="tx1"/>
                          </a:solidFill>
                        </a:rPr>
                        <a:t>[Its design rule]</a:t>
                      </a:r>
                      <a:endParaRPr lang="en-US" sz="16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561320" y="6291072"/>
            <a:ext cx="8229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813816" y="640080"/>
            <a:ext cx="10570464" cy="320040"/>
          </a:xfrm>
          <a:prstGeom prst="rect">
            <a:avLst/>
          </a:prstGeom>
          <a:noFill/>
          <a:ln/>
        </p:spPr>
        <p:txBody>
          <a:bodyPr wrap="square" lIns="0" tIns="0" rIns="0" bIns="0" rtlCol="0" anchor="t"/>
          <a:lstStyle/>
          <a:p>
            <a:pPr indent="0" marL="0">
              <a:buNone/>
            </a:pPr>
            <a:r>
              <a:rPr lang="en-US" sz="1200" b="1" spc="300" kern="0" dirty="0">
                <a:solidFill>
                  <a:schemeClr val="accent1"/>
                </a:solidFill>
              </a:rPr>
              <a:t>THREE PRINCIPLES</a:t>
            </a:r>
            <a:endParaRPr lang="en-US" sz="1200" dirty="0"/>
          </a:p>
        </p:txBody>
      </p:sp>
      <p:sp>
        <p:nvSpPr>
          <p:cNvPr id="3" name="Text 1"/>
          <p:cNvSpPr/>
          <p:nvPr>
            <p:ph idx="102" type="title" hasCustomPrompt="1"/>
          </p:nvPr>
        </p:nvSpPr>
        <p:spPr>
          <a:xfrm>
            <a:off x="813816" y="987552"/>
            <a:ext cx="10570464" cy="731520"/>
          </a:xfrm>
          <a:prstGeom prst="rect">
            <a:avLst/>
          </a:prstGeom>
          <a:noFill/>
          <a:ln/>
        </p:spPr>
        <p:txBody>
          <a:bodyPr wrap="square" lIns="0" tIns="0" rIns="0" bIns="0" rtlCol="0" anchor="t"/>
          <a:lstStyle/>
          <a:p>
            <a:pPr algn="l" indent="0" marL="0">
              <a:buNone/>
            </a:pPr>
            <a:r>
              <a:rPr lang="en-US" sz="3600" b="1" dirty="0">
                <a:solidFill>
                  <a:schemeClr val="tx1"/>
                </a:solidFill>
                <a:latin typeface="+mj-lt" pitchFamily="34" charset="0"/>
                <a:ea typeface="+mj-lt" pitchFamily="34" charset="-122"/>
                <a:cs typeface="+mj-lt" pitchFamily="34" charset="-120"/>
              </a:rPr>
              <a:t>Every tutor we build today follows these</a:t>
            </a:r>
            <a:endParaRPr lang="en-US" sz="3600" dirty="0"/>
          </a:p>
        </p:txBody>
      </p:sp>
      <p:sp>
        <p:nvSpPr>
          <p:cNvPr id="5" name="principle 1"/>
          <p:cNvSpPr/>
          <p:nvPr/>
        </p:nvSpPr>
        <p:spPr>
          <a:xfrm>
            <a:off x="813816" y="2103120"/>
            <a:ext cx="3279648" cy="3108960"/>
          </a:xfrm>
          <a:prstGeom prst="roundRect">
            <a:avLst>
              <a:gd name="adj" fmla="val 3529"/>
            </a:avLst>
          </a:prstGeom>
          <a:solidFill>
            <a:schemeClr val="bg1"/>
          </a:solidFill>
          <a:ln w="9525">
            <a:solidFill>
              <a:srgbClr val="DDD7CB"/>
            </a:solidFill>
            <a:prstDash val="solid"/>
          </a:ln>
        </p:spPr>
      </p:sp>
      <p:pic>
        <p:nvPicPr>
          <p:cNvPr id="6" name="principle icon 1" descr="preencoded.png">    </p:cNvPr>
          <p:cNvPicPr>
            <a:picLocks noChangeAspect="1"/>
          </p:cNvPicPr>
          <p:nvPr/>
        </p:nvPicPr>
        <p:blipFill>
          <a:blip r:embed="rId1"/>
          <a:stretch>
            <a:fillRect/>
          </a:stretch>
        </p:blipFill>
        <p:spPr>
          <a:xfrm>
            <a:off x="1179576" y="2468880"/>
            <a:ext cx="502920" cy="502920"/>
          </a:xfrm>
          <a:prstGeom prst="rect">
            <a:avLst/>
          </a:prstGeom>
        </p:spPr>
      </p:pic>
      <p:sp>
        <p:nvSpPr>
          <p:cNvPr id="7" name="Text 3"/>
          <p:cNvSpPr txBox="1"/>
          <p:nvPr/>
        </p:nvSpPr>
        <p:spPr>
          <a:xfrm>
            <a:off x="1179576" y="3246120"/>
            <a:ext cx="2548128" cy="411480"/>
          </a:xfrm>
          <a:prstGeom prst="rect">
            <a:avLst/>
          </a:prstGeom>
          <a:noFill/>
          <a:ln/>
        </p:spPr>
        <p:txBody>
          <a:bodyPr wrap="square" lIns="0" tIns="0" rIns="0" bIns="0" rtlCol="0" anchor="t"/>
          <a:lstStyle/>
          <a:p>
            <a:pPr indent="0" marL="0">
              <a:buNone/>
            </a:pPr>
            <a:r>
              <a:rPr lang="en-US" sz="2000" b="1" dirty="0">
                <a:solidFill>
                  <a:schemeClr val="tx1"/>
                </a:solidFill>
              </a:rPr>
              <a:t>Socratic by design</a:t>
            </a:r>
            <a:endParaRPr lang="en-US" sz="2000" dirty="0"/>
          </a:p>
        </p:txBody>
      </p:sp>
      <p:sp>
        <p:nvSpPr>
          <p:cNvPr id="8" name="Text 4"/>
          <p:cNvSpPr txBox="1"/>
          <p:nvPr/>
        </p:nvSpPr>
        <p:spPr>
          <a:xfrm>
            <a:off x="1179576" y="3794760"/>
            <a:ext cx="2548128" cy="1188720"/>
          </a:xfrm>
          <a:prstGeom prst="rect">
            <a:avLst/>
          </a:prstGeom>
          <a:noFill/>
          <a:ln/>
        </p:spPr>
        <p:txBody>
          <a:bodyPr wrap="square" lIns="0" tIns="0" rIns="0" bIns="0" rtlCol="0" anchor="t"/>
          <a:lstStyle/>
          <a:p>
            <a:pPr indent="0" marL="0">
              <a:buNone/>
            </a:pPr>
            <a:r>
              <a:rPr lang="en-US" sz="1600" dirty="0">
                <a:solidFill>
                  <a:schemeClr val="tx2"/>
                </a:solidFill>
              </a:rPr>
              <a:t>The tutor asks before it tells.</a:t>
            </a:r>
            <a:endParaRPr lang="en-US" sz="1600" dirty="0"/>
          </a:p>
        </p:txBody>
      </p:sp>
      <p:sp>
        <p:nvSpPr>
          <p:cNvPr id="9" name="principle 2"/>
          <p:cNvSpPr/>
          <p:nvPr/>
        </p:nvSpPr>
        <p:spPr>
          <a:xfrm>
            <a:off x="4459224" y="2103120"/>
            <a:ext cx="3279648" cy="3108960"/>
          </a:xfrm>
          <a:prstGeom prst="roundRect">
            <a:avLst>
              <a:gd name="adj" fmla="val 3529"/>
            </a:avLst>
          </a:prstGeom>
          <a:solidFill>
            <a:schemeClr val="bg1"/>
          </a:solidFill>
          <a:ln w="9525">
            <a:solidFill>
              <a:srgbClr val="DDD7CB"/>
            </a:solidFill>
            <a:prstDash val="solid"/>
          </a:ln>
        </p:spPr>
      </p:sp>
      <p:pic>
        <p:nvPicPr>
          <p:cNvPr id="10" name="principle icon 2" descr="preencoded.png">    </p:cNvPr>
          <p:cNvPicPr>
            <a:picLocks noChangeAspect="1"/>
          </p:cNvPicPr>
          <p:nvPr/>
        </p:nvPicPr>
        <p:blipFill>
          <a:blip r:embed="rId2"/>
          <a:stretch>
            <a:fillRect/>
          </a:stretch>
        </p:blipFill>
        <p:spPr>
          <a:xfrm>
            <a:off x="4824984" y="2468880"/>
            <a:ext cx="502920" cy="502920"/>
          </a:xfrm>
          <a:prstGeom prst="rect">
            <a:avLst/>
          </a:prstGeom>
        </p:spPr>
      </p:pic>
      <p:sp>
        <p:nvSpPr>
          <p:cNvPr id="11" name="Text 6"/>
          <p:cNvSpPr txBox="1"/>
          <p:nvPr/>
        </p:nvSpPr>
        <p:spPr>
          <a:xfrm>
            <a:off x="4824984" y="3246120"/>
            <a:ext cx="2548128" cy="411480"/>
          </a:xfrm>
          <a:prstGeom prst="rect">
            <a:avLst/>
          </a:prstGeom>
          <a:noFill/>
          <a:ln/>
        </p:spPr>
        <p:txBody>
          <a:bodyPr wrap="square" lIns="0" tIns="0" rIns="0" bIns="0" rtlCol="0" anchor="t"/>
          <a:lstStyle/>
          <a:p>
            <a:pPr indent="0" marL="0">
              <a:buNone/>
            </a:pPr>
            <a:r>
              <a:rPr lang="en-US" sz="2000" b="1" dirty="0">
                <a:solidFill>
                  <a:schemeClr val="tx1"/>
                </a:solidFill>
              </a:rPr>
              <a:t>Integrity by design</a:t>
            </a:r>
            <a:endParaRPr lang="en-US" sz="2000" dirty="0"/>
          </a:p>
        </p:txBody>
      </p:sp>
      <p:sp>
        <p:nvSpPr>
          <p:cNvPr id="12" name="Text 7"/>
          <p:cNvSpPr txBox="1"/>
          <p:nvPr/>
        </p:nvSpPr>
        <p:spPr>
          <a:xfrm>
            <a:off x="4824984" y="3794760"/>
            <a:ext cx="2548128" cy="1188720"/>
          </a:xfrm>
          <a:prstGeom prst="rect">
            <a:avLst/>
          </a:prstGeom>
          <a:noFill/>
          <a:ln/>
        </p:spPr>
        <p:txBody>
          <a:bodyPr wrap="square" lIns="0" tIns="0" rIns="0" bIns="0" rtlCol="0" anchor="t"/>
          <a:lstStyle/>
          <a:p>
            <a:pPr indent="0" marL="0">
              <a:buNone/>
            </a:pPr>
            <a:r>
              <a:rPr lang="en-US" sz="1600" dirty="0">
                <a:solidFill>
                  <a:schemeClr val="tx2"/>
                </a:solidFill>
              </a:rPr>
              <a:t>It never completes graded work.</a:t>
            </a:r>
            <a:endParaRPr lang="en-US" sz="1600" dirty="0"/>
          </a:p>
        </p:txBody>
      </p:sp>
      <p:sp>
        <p:nvSpPr>
          <p:cNvPr id="13" name="principle 3"/>
          <p:cNvSpPr/>
          <p:nvPr/>
        </p:nvSpPr>
        <p:spPr>
          <a:xfrm>
            <a:off x="8104632" y="2103120"/>
            <a:ext cx="3279648" cy="3108960"/>
          </a:xfrm>
          <a:prstGeom prst="roundRect">
            <a:avLst>
              <a:gd name="adj" fmla="val 3529"/>
            </a:avLst>
          </a:prstGeom>
          <a:solidFill>
            <a:schemeClr val="bg1"/>
          </a:solidFill>
          <a:ln w="9525">
            <a:solidFill>
              <a:srgbClr val="DDD7CB"/>
            </a:solidFill>
            <a:prstDash val="solid"/>
          </a:ln>
        </p:spPr>
      </p:sp>
      <p:pic>
        <p:nvPicPr>
          <p:cNvPr id="14" name="principle icon 3" descr="preencoded.png">    </p:cNvPr>
          <p:cNvPicPr>
            <a:picLocks noChangeAspect="1"/>
          </p:cNvPicPr>
          <p:nvPr/>
        </p:nvPicPr>
        <p:blipFill>
          <a:blip r:embed="rId3"/>
          <a:stretch>
            <a:fillRect/>
          </a:stretch>
        </p:blipFill>
        <p:spPr>
          <a:xfrm>
            <a:off x="8470392" y="2468880"/>
            <a:ext cx="502920" cy="502920"/>
          </a:xfrm>
          <a:prstGeom prst="rect">
            <a:avLst/>
          </a:prstGeom>
        </p:spPr>
      </p:pic>
      <p:sp>
        <p:nvSpPr>
          <p:cNvPr id="15" name="Text 9"/>
          <p:cNvSpPr txBox="1"/>
          <p:nvPr/>
        </p:nvSpPr>
        <p:spPr>
          <a:xfrm>
            <a:off x="8470392" y="3246120"/>
            <a:ext cx="2548128" cy="411480"/>
          </a:xfrm>
          <a:prstGeom prst="rect">
            <a:avLst/>
          </a:prstGeom>
          <a:noFill/>
          <a:ln/>
        </p:spPr>
        <p:txBody>
          <a:bodyPr wrap="square" lIns="0" tIns="0" rIns="0" bIns="0" rtlCol="0" anchor="t"/>
          <a:lstStyle/>
          <a:p>
            <a:pPr indent="0" marL="0">
              <a:buNone/>
            </a:pPr>
            <a:r>
              <a:rPr lang="en-US" sz="2000" b="1" dirty="0">
                <a:solidFill>
                  <a:schemeClr val="tx1"/>
                </a:solidFill>
              </a:rPr>
              <a:t>You stay the teacher</a:t>
            </a:r>
            <a:endParaRPr lang="en-US" sz="2000" dirty="0"/>
          </a:p>
        </p:txBody>
      </p:sp>
      <p:sp>
        <p:nvSpPr>
          <p:cNvPr id="16" name="Text 10"/>
          <p:cNvSpPr txBox="1"/>
          <p:nvPr/>
        </p:nvSpPr>
        <p:spPr>
          <a:xfrm>
            <a:off x="8470392" y="3794760"/>
            <a:ext cx="2548128" cy="1188720"/>
          </a:xfrm>
          <a:prstGeom prst="rect">
            <a:avLst/>
          </a:prstGeom>
          <a:noFill/>
          <a:ln/>
        </p:spPr>
        <p:txBody>
          <a:bodyPr wrap="square" lIns="0" tIns="0" rIns="0" bIns="0" rtlCol="0" anchor="t"/>
          <a:lstStyle/>
          <a:p>
            <a:pPr indent="0" marL="0">
              <a:buNone/>
            </a:pPr>
            <a:r>
              <a:rPr lang="en-US" sz="1600" dirty="0">
                <a:solidFill>
                  <a:schemeClr val="tx2"/>
                </a:solidFill>
              </a:rPr>
              <a:t>It knows only what you give it, and says so when it doesn’t know.</a:t>
            </a:r>
            <a:endParaRPr lang="en-US" sz="1600" dirty="0"/>
          </a:p>
        </p:txBody>
      </p:sp>
      <p:sp>
        <p:nvSpPr>
          <p:cNvPr id="25" name="Slide Number Placeholder 0"/>
          <p:cNvSpPr>
            <a:spLocks noGrp="1"/>
          </p:cNvSpPr>
          <p:nvPr>
            <p:ph type="sldNum" sz="quarter" idx="4294967295"/>
          </p:nvPr>
        </p:nvSpPr>
        <p:spPr>
          <a:xfrm>
            <a:off x="10561320" y="6291072"/>
            <a:ext cx="8229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813816" y="987552"/>
            <a:ext cx="10570464" cy="731520"/>
          </a:xfrm>
          <a:prstGeom prst="rect">
            <a:avLst/>
          </a:prstGeom>
          <a:noFill/>
          <a:ln/>
        </p:spPr>
        <p:txBody>
          <a:bodyPr wrap="square" lIns="0" tIns="0" rIns="0" bIns="0" rtlCol="0" anchor="t"/>
          <a:lstStyle/>
          <a:p>
            <a:pPr algn="l" indent="0" marL="0">
              <a:buNone/>
            </a:pPr>
            <a:r>
              <a:rPr lang="en-US" sz="3600" b="1" dirty="0">
                <a:solidFill>
                  <a:schemeClr val="tx1"/>
                </a:solidFill>
                <a:latin typeface="+mj-lt" pitchFamily="34" charset="0"/>
                <a:ea typeface="+mj-lt" pitchFamily="34" charset="-122"/>
                <a:cs typeface="+mj-lt" pitchFamily="34" charset="-120"/>
              </a:rPr>
              <a:t>Today’s plan</a:t>
            </a:r>
            <a:endParaRPr lang="en-US" sz="3600" dirty="0"/>
          </a:p>
        </p:txBody>
      </p:sp>
      <p:graphicFrame>
        <p:nvGraphicFramePr>
          <p:cNvPr id="8" name="agenda table"/>
          <p:cNvGraphicFramePr>
            <a:graphicFrameLocks noGrp="1"/>
          </p:cNvGraphicFramePr>
          <p:nvPr>
            <p:extLst>
              <p:ext uri="{D42A27DB-BD31-4B8C-83A1-F6EECF244321}">
                <p14:modId xmlns:p14="http://schemas.microsoft.com/office/powerpoint/2010/main" val="1579011935"/>
              </p:ext>
            </p:extLst>
          </p:nvPr>
        </p:nvGraphicFramePr>
        <p:xfrm>
          <a:off x="813816" y="1874520"/>
          <a:ext cx="10570464" cy="914400"/>
        </p:xfrm>
        <a:graphic>
          <a:graphicData uri="http://schemas.openxmlformats.org/drawingml/2006/table">
            <a:tbl>
              <a:tblPr/>
              <a:tblGrid>
                <a:gridCol w="2103120"/>
                <a:gridCol w="7004304"/>
                <a:gridCol w="1463040"/>
              </a:tblGrid>
              <a:tr h="402336">
                <a:tc>
                  <a:txBody>
                    <a:bodyPr/>
                    <a:lstStyle/>
                    <a:p>
                      <a:pPr indent="0" marL="0">
                        <a:buNone/>
                      </a:pPr>
                      <a:r>
                        <a:rPr lang="en-US" sz="1400" b="1" dirty="0">
                          <a:solidFill>
                            <a:schemeClr val="tx1"/>
                          </a:solidFill>
                        </a:rPr>
                        <a:t>Time</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solidFill>
                      <a:schemeClr val="accent6"/>
                    </a:solidFill>
                  </a:tcPr>
                </a:tc>
                <a:tc>
                  <a:txBody>
                    <a:bodyPr/>
                    <a:lstStyle/>
                    <a:p>
                      <a:pPr indent="0" marL="0">
                        <a:buNone/>
                      </a:pPr>
                      <a:r>
                        <a:rPr lang="en-US" sz="1400" b="1" dirty="0">
                          <a:solidFill>
                            <a:schemeClr val="tx1"/>
                          </a:solidFill>
                        </a:rPr>
                        <a:t>Block</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solidFill>
                      <a:schemeClr val="accent6"/>
                    </a:solidFill>
                  </a:tcPr>
                </a:tc>
                <a:tc>
                  <a:txBody>
                    <a:bodyPr/>
                    <a:lstStyle/>
                    <a:p>
                      <a:pPr algn="r" indent="0" marL="0">
                        <a:buNone/>
                      </a:pPr>
                      <a:r>
                        <a:rPr lang="en-US" sz="1400" b="1" dirty="0">
                          <a:solidFill>
                            <a:schemeClr val="tx1"/>
                          </a:solidFill>
                        </a:rPr>
                        <a:t>Minutes</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solidFill>
                      <a:schemeClr val="accent6"/>
                    </a:solidFill>
                  </a:tcPr>
                </a:tc>
              </a:tr>
              <a:tr h="402336">
                <a:tc>
                  <a:txBody>
                    <a:bodyPr/>
                    <a:lstStyle/>
                    <a:p>
                      <a:pPr indent="0" marL="0">
                        <a:buNone/>
                      </a:pPr>
                      <a:r>
                        <a:rPr lang="en-US" sz="1400" dirty="0">
                          <a:solidFill>
                            <a:schemeClr val="tx1"/>
                          </a:solidFill>
                        </a:rPr>
                        <a:t>0:00–0:20</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Opening and mindset shift</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algn="r" indent="0" marL="0">
                        <a:buNone/>
                      </a:pPr>
                      <a:r>
                        <a:rPr lang="en-US" sz="1400" dirty="0">
                          <a:solidFill>
                            <a:schemeClr val="tx1"/>
                          </a:solidFill>
                        </a:rPr>
                        <a:t>20</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402336">
                <a:tc>
                  <a:txBody>
                    <a:bodyPr/>
                    <a:lstStyle/>
                    <a:p>
                      <a:pPr indent="0" marL="0">
                        <a:buNone/>
                      </a:pPr>
                      <a:r>
                        <a:rPr lang="en-US" sz="1400" dirty="0">
                          <a:solidFill>
                            <a:schemeClr val="tx1"/>
                          </a:solidFill>
                        </a:rPr>
                        <a:t>0:20–0:55</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Live demonstrations</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algn="r" indent="0" marL="0">
                        <a:buNone/>
                      </a:pPr>
                      <a:r>
                        <a:rPr lang="en-US" sz="1400" dirty="0">
                          <a:solidFill>
                            <a:schemeClr val="tx1"/>
                          </a:solidFill>
                        </a:rPr>
                        <a:t>35</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402336">
                <a:tc>
                  <a:txBody>
                    <a:bodyPr/>
                    <a:lstStyle/>
                    <a:p>
                      <a:pPr indent="0" marL="0">
                        <a:buNone/>
                      </a:pPr>
                      <a:r>
                        <a:rPr lang="en-US" sz="1400" dirty="0">
                          <a:solidFill>
                            <a:schemeClr val="tx1"/>
                          </a:solidFill>
                        </a:rPr>
                        <a:t>0:55–1:10</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solidFill>
                      <a:schemeClr val="accent6"/>
                    </a:solidFill>
                  </a:tcPr>
                </a:tc>
                <a:tc>
                  <a:txBody>
                    <a:bodyPr/>
                    <a:lstStyle/>
                    <a:p>
                      <a:pPr indent="0" marL="0">
                        <a:buNone/>
                      </a:pPr>
                      <a:r>
                        <a:rPr lang="en-US" sz="1400" dirty="0">
                          <a:solidFill>
                            <a:schemeClr val="tx1"/>
                          </a:solidFill>
                        </a:rPr>
                        <a:t>Break</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solidFill>
                      <a:schemeClr val="accent6"/>
                    </a:solidFill>
                  </a:tcPr>
                </a:tc>
                <a:tc>
                  <a:txBody>
                    <a:bodyPr/>
                    <a:lstStyle/>
                    <a:p>
                      <a:pPr algn="r" indent="0" marL="0">
                        <a:buNone/>
                      </a:pPr>
                      <a:r>
                        <a:rPr lang="en-US" sz="1400" dirty="0">
                          <a:solidFill>
                            <a:schemeClr val="tx1"/>
                          </a:solidFill>
                        </a:rPr>
                        <a:t>15</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solidFill>
                      <a:schemeClr val="accent6"/>
                    </a:solidFill>
                  </a:tcPr>
                </a:tc>
              </a:tr>
              <a:tr h="402336">
                <a:tc>
                  <a:txBody>
                    <a:bodyPr/>
                    <a:lstStyle/>
                    <a:p>
                      <a:pPr indent="0" marL="0">
                        <a:buNone/>
                      </a:pPr>
                      <a:r>
                        <a:rPr lang="en-US" sz="1400" dirty="0">
                          <a:solidFill>
                            <a:schemeClr val="tx1"/>
                          </a:solidFill>
                        </a:rPr>
                        <a:t>1:10–2:15</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b="1" dirty="0">
                          <a:solidFill>
                            <a:schemeClr val="tx1"/>
                          </a:solidFill>
                        </a:rPr>
                        <a:t>Activity 1: Build your course AI Tutor</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algn="r" indent="0" marL="0">
                        <a:buNone/>
                      </a:pPr>
                      <a:r>
                        <a:rPr lang="en-US" sz="1400" dirty="0">
                          <a:solidFill>
                            <a:schemeClr val="tx1"/>
                          </a:solidFill>
                        </a:rPr>
                        <a:t>65</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402336">
                <a:tc>
                  <a:txBody>
                    <a:bodyPr/>
                    <a:lstStyle/>
                    <a:p>
                      <a:pPr indent="0" marL="0">
                        <a:buNone/>
                      </a:pPr>
                      <a:r>
                        <a:rPr lang="en-US" sz="1400" dirty="0">
                          <a:solidFill>
                            <a:schemeClr val="tx1"/>
                          </a:solidFill>
                        </a:rPr>
                        <a:t>2:15–2:30</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Quick sharing</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algn="r" indent="0" marL="0">
                        <a:buNone/>
                      </a:pPr>
                      <a:r>
                        <a:rPr lang="en-US" sz="1400" dirty="0">
                          <a:solidFill>
                            <a:schemeClr val="tx1"/>
                          </a:solidFill>
                        </a:rPr>
                        <a:t>15</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402336">
                <a:tc>
                  <a:txBody>
                    <a:bodyPr/>
                    <a:lstStyle/>
                    <a:p>
                      <a:pPr indent="0" marL="0">
                        <a:buNone/>
                      </a:pPr>
                      <a:r>
                        <a:rPr lang="en-US" sz="1400" dirty="0">
                          <a:solidFill>
                            <a:schemeClr val="tx1"/>
                          </a:solidFill>
                        </a:rPr>
                        <a:t>2:30–2:45</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solidFill>
                      <a:schemeClr val="accent6"/>
                    </a:solidFill>
                  </a:tcPr>
                </a:tc>
                <a:tc>
                  <a:txBody>
                    <a:bodyPr/>
                    <a:lstStyle/>
                    <a:p>
                      <a:pPr indent="0" marL="0">
                        <a:buNone/>
                      </a:pPr>
                      <a:r>
                        <a:rPr lang="en-US" sz="1400" dirty="0">
                          <a:solidFill>
                            <a:schemeClr val="tx1"/>
                          </a:solidFill>
                        </a:rPr>
                        <a:t>Break</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solidFill>
                      <a:schemeClr val="accent6"/>
                    </a:solidFill>
                  </a:tcPr>
                </a:tc>
                <a:tc>
                  <a:txBody>
                    <a:bodyPr/>
                    <a:lstStyle/>
                    <a:p>
                      <a:pPr algn="r" indent="0" marL="0">
                        <a:buNone/>
                      </a:pPr>
                      <a:r>
                        <a:rPr lang="en-US" sz="1400" dirty="0">
                          <a:solidFill>
                            <a:schemeClr val="tx1"/>
                          </a:solidFill>
                        </a:rPr>
                        <a:t>15</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solidFill>
                      <a:schemeClr val="accent6"/>
                    </a:solidFill>
                  </a:tcPr>
                </a:tc>
              </a:tr>
              <a:tr h="402336">
                <a:tc>
                  <a:txBody>
                    <a:bodyPr/>
                    <a:lstStyle/>
                    <a:p>
                      <a:pPr indent="0" marL="0">
                        <a:buNone/>
                      </a:pPr>
                      <a:r>
                        <a:rPr lang="en-US" sz="1400" dirty="0">
                          <a:solidFill>
                            <a:schemeClr val="tx1"/>
                          </a:solidFill>
                        </a:rPr>
                        <a:t>2:45–3:35</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b="1" dirty="0">
                          <a:solidFill>
                            <a:schemeClr val="tx1"/>
                          </a:solidFill>
                        </a:rPr>
                        <a:t>Activity 2: Create teaching materials with AI</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algn="r" indent="0" marL="0">
                        <a:buNone/>
                      </a:pPr>
                      <a:r>
                        <a:rPr lang="en-US" sz="1400" dirty="0">
                          <a:solidFill>
                            <a:schemeClr val="tx1"/>
                          </a:solidFill>
                        </a:rPr>
                        <a:t>50</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402336">
                <a:tc>
                  <a:txBody>
                    <a:bodyPr/>
                    <a:lstStyle/>
                    <a:p>
                      <a:pPr indent="0" marL="0">
                        <a:buNone/>
                      </a:pPr>
                      <a:r>
                        <a:rPr lang="en-US" sz="1400" dirty="0">
                          <a:solidFill>
                            <a:schemeClr val="tx1"/>
                          </a:solidFill>
                        </a:rPr>
                        <a:t>3:35–3:55</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Plagiarism and AI detection</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algn="r" indent="0" marL="0">
                        <a:buNone/>
                      </a:pPr>
                      <a:r>
                        <a:rPr lang="en-US" sz="1400" dirty="0">
                          <a:solidFill>
                            <a:schemeClr val="tx1"/>
                          </a:solidFill>
                        </a:rPr>
                        <a:t>20</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402336">
                <a:tc>
                  <a:txBody>
                    <a:bodyPr/>
                    <a:lstStyle/>
                    <a:p>
                      <a:pPr indent="0" marL="0">
                        <a:buNone/>
                      </a:pPr>
                      <a:r>
                        <a:rPr lang="en-US" sz="1400" dirty="0">
                          <a:solidFill>
                            <a:schemeClr val="tx1"/>
                          </a:solidFill>
                        </a:rPr>
                        <a:t>3:55–4:15</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Embedding in Sakai, action plan and close</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algn="r" indent="0" marL="0">
                        <a:buNone/>
                      </a:pPr>
                      <a:r>
                        <a:rPr lang="en-US" sz="1400" dirty="0">
                          <a:solidFill>
                            <a:schemeClr val="tx1"/>
                          </a:solidFill>
                        </a:rPr>
                        <a:t>20</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bl>
          </a:graphicData>
        </a:graphic>
      </p:graphicFrame>
      <p:sp>
        <p:nvSpPr>
          <p:cNvPr id="5" name="Text 1"/>
          <p:cNvSpPr/>
          <p:nvPr>
            <p:ph idx="101" type="body" hasCustomPrompt="1"/>
          </p:nvPr>
        </p:nvSpPr>
        <p:spPr>
          <a:xfrm>
            <a:off x="813816" y="640080"/>
            <a:ext cx="10570464" cy="320040"/>
          </a:xfrm>
          <a:prstGeom prst="rect">
            <a:avLst/>
          </a:prstGeom>
          <a:noFill/>
          <a:ln/>
        </p:spPr>
        <p:txBody>
          <a:bodyPr wrap="square" lIns="0" tIns="0" rIns="0" bIns="0" rtlCol="0" anchor="t"/>
          <a:lstStyle/>
          <a:p>
            <a:pPr indent="0" marL="0">
              <a:buNone/>
            </a:pPr>
            <a:endParaRPr lang="en-US" sz="1200" dirty="0"/>
          </a:p>
        </p:txBody>
      </p:sp>
      <p:sp>
        <p:nvSpPr>
          <p:cNvPr id="25" name="Slide Number Placeholder 0"/>
          <p:cNvSpPr>
            <a:spLocks noGrp="1"/>
          </p:cNvSpPr>
          <p:nvPr>
            <p:ph type="sldNum" sz="quarter" idx="4294967295"/>
          </p:nvPr>
        </p:nvSpPr>
        <p:spPr>
          <a:xfrm>
            <a:off x="10561320" y="6291072"/>
            <a:ext cx="8229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813816" y="640080"/>
            <a:ext cx="10570464" cy="320040"/>
          </a:xfrm>
          <a:prstGeom prst="rect">
            <a:avLst/>
          </a:prstGeom>
          <a:noFill/>
          <a:ln/>
        </p:spPr>
        <p:txBody>
          <a:bodyPr wrap="square" lIns="0" tIns="0" rIns="0" bIns="0" rtlCol="0" anchor="t"/>
          <a:lstStyle/>
          <a:p>
            <a:pPr indent="0" marL="0">
              <a:buNone/>
            </a:pPr>
            <a:r>
              <a:rPr lang="en-US" sz="1200" b="1" spc="300" kern="0" dirty="0">
                <a:solidFill>
                  <a:schemeClr val="accent1"/>
                </a:solidFill>
              </a:rPr>
              <a:t>BEFORE WE START</a:t>
            </a:r>
            <a:endParaRPr lang="en-US" sz="1200" dirty="0"/>
          </a:p>
        </p:txBody>
      </p:sp>
      <p:sp>
        <p:nvSpPr>
          <p:cNvPr id="3" name="Text 1"/>
          <p:cNvSpPr/>
          <p:nvPr>
            <p:ph idx="102" type="title" hasCustomPrompt="1"/>
          </p:nvPr>
        </p:nvSpPr>
        <p:spPr>
          <a:xfrm>
            <a:off x="813816" y="987552"/>
            <a:ext cx="10570464" cy="731520"/>
          </a:xfrm>
          <a:prstGeom prst="rect">
            <a:avLst/>
          </a:prstGeom>
          <a:noFill/>
          <a:ln/>
        </p:spPr>
        <p:txBody>
          <a:bodyPr wrap="square" lIns="0" tIns="0" rIns="0" bIns="0" rtlCol="0" anchor="t"/>
          <a:lstStyle/>
          <a:p>
            <a:pPr algn="l" indent="0" marL="0">
              <a:buNone/>
            </a:pPr>
            <a:r>
              <a:rPr lang="en-US" sz="3600" b="1" dirty="0">
                <a:solidFill>
                  <a:schemeClr val="tx1"/>
                </a:solidFill>
                <a:latin typeface="+mj-lt" pitchFamily="34" charset="0"/>
                <a:ea typeface="+mj-lt" pitchFamily="34" charset="-122"/>
                <a:cs typeface="+mj-lt" pitchFamily="34" charset="-120"/>
              </a:rPr>
              <a:t>How today works</a:t>
            </a:r>
            <a:endParaRPr lang="en-US" sz="3600" dirty="0"/>
          </a:p>
        </p:txBody>
      </p:sp>
      <p:sp>
        <p:nvSpPr>
          <p:cNvPr id="5" name="housekeeping 1"/>
          <p:cNvSpPr/>
          <p:nvPr/>
        </p:nvSpPr>
        <p:spPr>
          <a:xfrm>
            <a:off x="813816" y="2103120"/>
            <a:ext cx="5102352" cy="1371600"/>
          </a:xfrm>
          <a:prstGeom prst="roundRect">
            <a:avLst>
              <a:gd name="adj" fmla="val 8000"/>
            </a:avLst>
          </a:prstGeom>
          <a:solidFill>
            <a:schemeClr val="bg1"/>
          </a:solidFill>
          <a:ln w="9525">
            <a:solidFill>
              <a:srgbClr val="DDD7CB"/>
            </a:solidFill>
            <a:prstDash val="solid"/>
          </a:ln>
        </p:spPr>
      </p:sp>
      <p:pic>
        <p:nvPicPr>
          <p:cNvPr id="6" name="housekeeping icon 1" descr="preencoded.png">    </p:cNvPr>
          <p:cNvPicPr>
            <a:picLocks noChangeAspect="1"/>
          </p:cNvPicPr>
          <p:nvPr/>
        </p:nvPicPr>
        <p:blipFill>
          <a:blip r:embed="rId1"/>
          <a:stretch>
            <a:fillRect/>
          </a:stretch>
        </p:blipFill>
        <p:spPr>
          <a:xfrm>
            <a:off x="1179576" y="2532888"/>
            <a:ext cx="502920" cy="502920"/>
          </a:xfrm>
          <a:prstGeom prst="rect">
            <a:avLst/>
          </a:prstGeom>
        </p:spPr>
      </p:pic>
      <p:sp>
        <p:nvSpPr>
          <p:cNvPr id="7" name="Text 3"/>
          <p:cNvSpPr txBox="1"/>
          <p:nvPr/>
        </p:nvSpPr>
        <p:spPr>
          <a:xfrm>
            <a:off x="2002536" y="2103120"/>
            <a:ext cx="3639312" cy="1371600"/>
          </a:xfrm>
          <a:prstGeom prst="rect">
            <a:avLst/>
          </a:prstGeom>
          <a:noFill/>
          <a:ln/>
        </p:spPr>
        <p:txBody>
          <a:bodyPr wrap="square" lIns="0" tIns="0" rIns="0" bIns="0" rtlCol="0" anchor="ctr"/>
          <a:lstStyle/>
          <a:p>
            <a:pPr indent="0" marL="0">
              <a:buNone/>
            </a:pPr>
            <a:r>
              <a:rPr lang="en-US" sz="1800" b="1" dirty="0">
                <a:solidFill>
                  <a:schemeClr val="tx1"/>
                </a:solidFill>
              </a:rPr>
              <a:t>Scan the QR code </a:t>
            </a:r>
            <a:pPr indent="0" marL="0">
              <a:buNone/>
            </a:pPr>
            <a:r>
              <a:rPr lang="en-US" sz="1800" dirty="0">
                <a:solidFill>
                  <a:schemeClr val="tx1"/>
                </a:solidFill>
              </a:rPr>
              <a:t>for every template and prompt [add QR]</a:t>
            </a:r>
            <a:endParaRPr lang="en-US" sz="1800" dirty="0"/>
          </a:p>
        </p:txBody>
      </p:sp>
      <p:sp>
        <p:nvSpPr>
          <p:cNvPr id="8" name="housekeeping 2"/>
          <p:cNvSpPr/>
          <p:nvPr/>
        </p:nvSpPr>
        <p:spPr>
          <a:xfrm>
            <a:off x="6281928" y="2103120"/>
            <a:ext cx="5102352" cy="1371600"/>
          </a:xfrm>
          <a:prstGeom prst="roundRect">
            <a:avLst>
              <a:gd name="adj" fmla="val 8000"/>
            </a:avLst>
          </a:prstGeom>
          <a:solidFill>
            <a:schemeClr val="bg1"/>
          </a:solidFill>
          <a:ln w="9525">
            <a:solidFill>
              <a:srgbClr val="DDD7CB"/>
            </a:solidFill>
            <a:prstDash val="solid"/>
          </a:ln>
        </p:spPr>
      </p:sp>
      <p:pic>
        <p:nvPicPr>
          <p:cNvPr id="9" name="housekeeping icon 2" descr="preencoded.png">    </p:cNvPr>
          <p:cNvPicPr>
            <a:picLocks noChangeAspect="1"/>
          </p:cNvPicPr>
          <p:nvPr/>
        </p:nvPicPr>
        <p:blipFill>
          <a:blip r:embed="rId2"/>
          <a:stretch>
            <a:fillRect/>
          </a:stretch>
        </p:blipFill>
        <p:spPr>
          <a:xfrm>
            <a:off x="6647688" y="2532888"/>
            <a:ext cx="502920" cy="502920"/>
          </a:xfrm>
          <a:prstGeom prst="rect">
            <a:avLst/>
          </a:prstGeom>
        </p:spPr>
      </p:pic>
      <p:sp>
        <p:nvSpPr>
          <p:cNvPr id="10" name="Text 5"/>
          <p:cNvSpPr txBox="1"/>
          <p:nvPr/>
        </p:nvSpPr>
        <p:spPr>
          <a:xfrm>
            <a:off x="7470648" y="2103120"/>
            <a:ext cx="3639312" cy="1371600"/>
          </a:xfrm>
          <a:prstGeom prst="rect">
            <a:avLst/>
          </a:prstGeom>
          <a:noFill/>
          <a:ln/>
        </p:spPr>
        <p:txBody>
          <a:bodyPr wrap="square" lIns="0" tIns="0" rIns="0" bIns="0" rtlCol="0" anchor="ctr"/>
          <a:lstStyle/>
          <a:p>
            <a:pPr indent="0" marL="0">
              <a:buNone/>
            </a:pPr>
            <a:r>
              <a:rPr lang="en-US" sz="1800" b="1" dirty="0">
                <a:solidFill>
                  <a:schemeClr val="tx1"/>
                </a:solidFill>
              </a:rPr>
              <a:t>Table helpers: </a:t>
            </a:r>
            <a:pPr indent="0" marL="0">
              <a:buNone/>
            </a:pPr>
            <a:r>
              <a:rPr lang="en-US" sz="1800" dirty="0">
                <a:solidFill>
                  <a:schemeClr val="tx1"/>
                </a:solidFill>
              </a:rPr>
              <a:t>[names]</a:t>
            </a:r>
            <a:endParaRPr lang="en-US" sz="1800" dirty="0"/>
          </a:p>
        </p:txBody>
      </p:sp>
      <p:sp>
        <p:nvSpPr>
          <p:cNvPr id="11" name="housekeeping 3"/>
          <p:cNvSpPr/>
          <p:nvPr/>
        </p:nvSpPr>
        <p:spPr>
          <a:xfrm>
            <a:off x="813816" y="3794760"/>
            <a:ext cx="5102352" cy="1371600"/>
          </a:xfrm>
          <a:prstGeom prst="roundRect">
            <a:avLst>
              <a:gd name="adj" fmla="val 8000"/>
            </a:avLst>
          </a:prstGeom>
          <a:solidFill>
            <a:schemeClr val="bg1"/>
          </a:solidFill>
          <a:ln w="9525">
            <a:solidFill>
              <a:srgbClr val="DDD7CB"/>
            </a:solidFill>
            <a:prstDash val="solid"/>
          </a:ln>
        </p:spPr>
      </p:sp>
      <p:pic>
        <p:nvPicPr>
          <p:cNvPr id="12" name="housekeeping icon 3" descr="preencoded.png">    </p:cNvPr>
          <p:cNvPicPr>
            <a:picLocks noChangeAspect="1"/>
          </p:cNvPicPr>
          <p:nvPr/>
        </p:nvPicPr>
        <p:blipFill>
          <a:blip r:embed="rId3"/>
          <a:stretch>
            <a:fillRect/>
          </a:stretch>
        </p:blipFill>
        <p:spPr>
          <a:xfrm>
            <a:off x="1179576" y="4224528"/>
            <a:ext cx="502920" cy="502920"/>
          </a:xfrm>
          <a:prstGeom prst="rect">
            <a:avLst/>
          </a:prstGeom>
        </p:spPr>
      </p:pic>
      <p:sp>
        <p:nvSpPr>
          <p:cNvPr id="13" name="Text 7"/>
          <p:cNvSpPr txBox="1"/>
          <p:nvPr/>
        </p:nvSpPr>
        <p:spPr>
          <a:xfrm>
            <a:off x="2002536" y="3794760"/>
            <a:ext cx="3639312" cy="1371600"/>
          </a:xfrm>
          <a:prstGeom prst="rect">
            <a:avLst/>
          </a:prstGeom>
          <a:noFill/>
          <a:ln/>
        </p:spPr>
        <p:txBody>
          <a:bodyPr wrap="square" lIns="0" tIns="0" rIns="0" bIns="0" rtlCol="0" anchor="ctr"/>
          <a:lstStyle/>
          <a:p>
            <a:pPr indent="0" marL="0">
              <a:buNone/>
            </a:pPr>
            <a:r>
              <a:rPr lang="en-US" sz="1800" b="1" dirty="0">
                <a:solidFill>
                  <a:schemeClr val="tx1"/>
                </a:solidFill>
              </a:rPr>
              <a:t>Green card</a:t>
            </a:r>
            <a:pPr indent="0" marL="0">
              <a:buNone/>
            </a:pPr>
            <a:r>
              <a:rPr lang="en-US" sz="1800" dirty="0">
                <a:solidFill>
                  <a:schemeClr val="tx1"/>
                </a:solidFill>
              </a:rPr>
              <a:t> = done · </a:t>
            </a:r>
            <a:pPr indent="0" marL="0">
              <a:buNone/>
            </a:pPr>
            <a:r>
              <a:rPr lang="en-US" sz="1800" b="1" dirty="0">
                <a:solidFill>
                  <a:schemeClr val="tx1"/>
                </a:solidFill>
              </a:rPr>
              <a:t>Red card</a:t>
            </a:r>
            <a:pPr indent="0" marL="0">
              <a:buNone/>
            </a:pPr>
            <a:r>
              <a:rPr lang="en-US" sz="1800" dirty="0">
                <a:solidFill>
                  <a:schemeClr val="tx1"/>
                </a:solidFill>
              </a:rPr>
              <a:t> = stuck</a:t>
            </a:r>
            <a:endParaRPr lang="en-US" sz="1800" dirty="0"/>
          </a:p>
        </p:txBody>
      </p:sp>
      <p:sp>
        <p:nvSpPr>
          <p:cNvPr id="14" name="housekeeping 4"/>
          <p:cNvSpPr/>
          <p:nvPr/>
        </p:nvSpPr>
        <p:spPr>
          <a:xfrm>
            <a:off x="6281928" y="3794760"/>
            <a:ext cx="5102352" cy="1371600"/>
          </a:xfrm>
          <a:prstGeom prst="roundRect">
            <a:avLst>
              <a:gd name="adj" fmla="val 8000"/>
            </a:avLst>
          </a:prstGeom>
          <a:solidFill>
            <a:schemeClr val="bg1"/>
          </a:solidFill>
          <a:ln w="9525">
            <a:solidFill>
              <a:srgbClr val="DDD7CB"/>
            </a:solidFill>
            <a:prstDash val="solid"/>
          </a:ln>
        </p:spPr>
      </p:sp>
      <p:pic>
        <p:nvPicPr>
          <p:cNvPr id="15" name="housekeeping icon 4" descr="preencoded.png">    </p:cNvPr>
          <p:cNvPicPr>
            <a:picLocks noChangeAspect="1"/>
          </p:cNvPicPr>
          <p:nvPr/>
        </p:nvPicPr>
        <p:blipFill>
          <a:blip r:embed="rId4"/>
          <a:stretch>
            <a:fillRect/>
          </a:stretch>
        </p:blipFill>
        <p:spPr>
          <a:xfrm>
            <a:off x="6647688" y="4224528"/>
            <a:ext cx="502920" cy="502920"/>
          </a:xfrm>
          <a:prstGeom prst="rect">
            <a:avLst/>
          </a:prstGeom>
        </p:spPr>
      </p:pic>
      <p:sp>
        <p:nvSpPr>
          <p:cNvPr id="16" name="Text 9"/>
          <p:cNvSpPr txBox="1"/>
          <p:nvPr/>
        </p:nvSpPr>
        <p:spPr>
          <a:xfrm>
            <a:off x="7470648" y="3794760"/>
            <a:ext cx="3639312" cy="1371600"/>
          </a:xfrm>
          <a:prstGeom prst="rect">
            <a:avLst/>
          </a:prstGeom>
          <a:noFill/>
          <a:ln/>
        </p:spPr>
        <p:txBody>
          <a:bodyPr wrap="square" lIns="0" tIns="0" rIns="0" bIns="0" rtlCol="0" anchor="ctr"/>
          <a:lstStyle/>
          <a:p>
            <a:pPr indent="0" marL="0">
              <a:buNone/>
            </a:pPr>
            <a:r>
              <a:rPr lang="en-US" sz="1800" b="1" dirty="0">
                <a:solidFill>
                  <a:schemeClr val="tx1"/>
                </a:solidFill>
              </a:rPr>
              <a:t>No student data: </a:t>
            </a:r>
            <a:pPr indent="0" marL="0">
              <a:buNone/>
            </a:pPr>
            <a:r>
              <a:rPr lang="en-US" sz="1800" dirty="0">
                <a:solidFill>
                  <a:schemeClr val="tx1"/>
                </a:solidFill>
              </a:rPr>
              <a:t>no names, IDs, grades or unreleased exams</a:t>
            </a:r>
            <a:endParaRPr lang="en-US" sz="1800" dirty="0"/>
          </a:p>
        </p:txBody>
      </p:sp>
      <p:sp>
        <p:nvSpPr>
          <p:cNvPr id="25" name="Slide Number Placeholder 0"/>
          <p:cNvSpPr>
            <a:spLocks noGrp="1"/>
          </p:cNvSpPr>
          <p:nvPr>
            <p:ph type="sldNum" sz="quarter" idx="4294967295"/>
          </p:nvPr>
        </p:nvSpPr>
        <p:spPr>
          <a:xfrm>
            <a:off x="10561320" y="6291072"/>
            <a:ext cx="8229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813816" y="640080"/>
            <a:ext cx="10570464" cy="320040"/>
          </a:xfrm>
          <a:prstGeom prst="rect">
            <a:avLst/>
          </a:prstGeom>
          <a:noFill/>
          <a:ln/>
        </p:spPr>
        <p:txBody>
          <a:bodyPr wrap="square" lIns="0" tIns="0" rIns="0" bIns="0" rtlCol="0" anchor="t"/>
          <a:lstStyle/>
          <a:p>
            <a:pPr indent="0" marL="0">
              <a:buNone/>
            </a:pPr>
            <a:r>
              <a:rPr lang="en-US" sz="1200" b="1" spc="300" kern="0" dirty="0">
                <a:solidFill>
                  <a:schemeClr val="accent1"/>
                </a:solidFill>
              </a:rPr>
              <a:t>LIVE DEMO 1 · WHAT A STUDENT SEES</a:t>
            </a:r>
            <a:endParaRPr lang="en-US" sz="1200" dirty="0"/>
          </a:p>
        </p:txBody>
      </p:sp>
      <p:sp>
        <p:nvSpPr>
          <p:cNvPr id="3" name="Text 1"/>
          <p:cNvSpPr/>
          <p:nvPr>
            <p:ph idx="102" type="title" hasCustomPrompt="1"/>
          </p:nvPr>
        </p:nvSpPr>
        <p:spPr>
          <a:xfrm>
            <a:off x="813816" y="987552"/>
            <a:ext cx="10570464" cy="731520"/>
          </a:xfrm>
          <a:prstGeom prst="rect">
            <a:avLst/>
          </a:prstGeom>
          <a:noFill/>
          <a:ln/>
        </p:spPr>
        <p:txBody>
          <a:bodyPr wrap="square" lIns="0" tIns="0" rIns="0" bIns="0" rtlCol="0" anchor="t"/>
          <a:lstStyle/>
          <a:p>
            <a:pPr algn="l" indent="0" marL="0">
              <a:buNone/>
            </a:pPr>
            <a:r>
              <a:rPr lang="en-US" sz="3600" b="1" dirty="0">
                <a:solidFill>
                  <a:schemeClr val="tx1"/>
                </a:solidFill>
                <a:latin typeface="+mj-lt" pitchFamily="34" charset="0"/>
                <a:ea typeface="+mj-lt" pitchFamily="34" charset="-122"/>
                <a:cs typeface="+mj-lt" pitchFamily="34" charset="-120"/>
              </a:rPr>
              <a:t>Meet the CSE 455 Security Tutor</a:t>
            </a:r>
            <a:endParaRPr lang="en-US" sz="3600" dirty="0"/>
          </a:p>
        </p:txBody>
      </p:sp>
      <p:graphicFrame>
        <p:nvGraphicFramePr>
          <p:cNvPr id="10" name="demo table"/>
          <p:cNvGraphicFramePr>
            <a:graphicFrameLocks noGrp="1"/>
          </p:cNvGraphicFramePr>
          <p:nvPr>
            <p:extLst>
              <p:ext uri="{D42A27DB-BD31-4B8C-83A1-F6EECF244321}">
                <p14:modId xmlns:p14="http://schemas.microsoft.com/office/powerpoint/2010/main" val="1579011935"/>
              </p:ext>
            </p:extLst>
          </p:nvPr>
        </p:nvGraphicFramePr>
        <p:xfrm>
          <a:off x="813816" y="2103120"/>
          <a:ext cx="10570464" cy="914400"/>
        </p:xfrm>
        <a:graphic>
          <a:graphicData uri="http://schemas.openxmlformats.org/drawingml/2006/table">
            <a:tbl>
              <a:tblPr/>
              <a:tblGrid>
                <a:gridCol w="5815584"/>
                <a:gridCol w="4754880"/>
              </a:tblGrid>
              <a:tr h="594360">
                <a:tc>
                  <a:txBody>
                    <a:bodyPr/>
                    <a:lstStyle/>
                    <a:p>
                      <a:pPr indent="0" marL="0">
                        <a:buNone/>
                      </a:pPr>
                      <a:r>
                        <a:rPr lang="en-US" sz="1600" b="1" dirty="0">
                          <a:solidFill>
                            <a:schemeClr val="tx1"/>
                          </a:solidFill>
                        </a:rPr>
                        <a:t>A student types</a:t>
                      </a:r>
                      <a:endParaRPr lang="en-US" sz="16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solidFill>
                      <a:schemeClr val="accent6"/>
                    </a:solidFill>
                  </a:tcPr>
                </a:tc>
                <a:tc>
                  <a:txBody>
                    <a:bodyPr/>
                    <a:lstStyle/>
                    <a:p>
                      <a:pPr indent="0" marL="0">
                        <a:buNone/>
                      </a:pPr>
                      <a:r>
                        <a:rPr lang="en-US" sz="1600" b="1" dirty="0">
                          <a:solidFill>
                            <a:schemeClr val="tx1"/>
                          </a:solidFill>
                        </a:rPr>
                        <a:t>A good tutor</a:t>
                      </a:r>
                      <a:endParaRPr lang="en-US" sz="16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solidFill>
                      <a:schemeClr val="accent6"/>
                    </a:solidFill>
                  </a:tcPr>
                </a:tc>
              </a:tr>
              <a:tr h="594360">
                <a:tc>
                  <a:txBody>
                    <a:bodyPr/>
                    <a:lstStyle/>
                    <a:p>
                      <a:pPr indent="0" marL="0">
                        <a:buNone/>
                      </a:pPr>
                      <a:r>
                        <a:rPr lang="en-US" sz="1600" dirty="0">
                          <a:solidFill>
                            <a:schemeClr val="tx1"/>
                          </a:solidFill>
                        </a:rPr>
                        <a:t>“What is the answer to Assignment 2, question 3?”</a:t>
                      </a:r>
                      <a:endParaRPr lang="en-US" sz="16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600" dirty="0">
                          <a:solidFill>
                            <a:schemeClr val="tx1"/>
                          </a:solidFill>
                        </a:rPr>
                        <a:t>Declines, then asks what they have tried</a:t>
                      </a:r>
                      <a:endParaRPr lang="en-US" sz="16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594360">
                <a:tc>
                  <a:txBody>
                    <a:bodyPr/>
                    <a:lstStyle/>
                    <a:p>
                      <a:pPr indent="0" marL="0">
                        <a:buNone/>
                      </a:pPr>
                      <a:r>
                        <a:rPr lang="en-US" sz="1600" dirty="0">
                          <a:solidFill>
                            <a:schemeClr val="tx1"/>
                          </a:solidFill>
                        </a:rPr>
                        <a:t>“I don’t get why salting a password helps.”</a:t>
                      </a:r>
                      <a:endParaRPr lang="en-US" sz="16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600" dirty="0">
                          <a:solidFill>
                            <a:schemeClr val="tx1"/>
                          </a:solidFill>
                        </a:rPr>
                        <a:t>Asks a guiding question, then builds the idea</a:t>
                      </a:r>
                      <a:endParaRPr lang="en-US" sz="16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594360">
                <a:tc>
                  <a:txBody>
                    <a:bodyPr/>
                    <a:lstStyle/>
                    <a:p>
                      <a:pPr indent="0" marL="0">
                        <a:buNone/>
                      </a:pPr>
                      <a:r>
                        <a:rPr lang="en-US" sz="1600" dirty="0">
                          <a:solidFill>
                            <a:schemeClr val="tx1"/>
                          </a:solidFill>
                        </a:rPr>
                        <a:t>“What’s the best biryani in Karachi?”</a:t>
                      </a:r>
                      <a:endParaRPr lang="en-US" sz="16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600" dirty="0">
                          <a:solidFill>
                            <a:schemeClr val="tx1"/>
                          </a:solidFill>
                        </a:rPr>
                        <a:t>Steers back to the course</a:t>
                      </a:r>
                      <a:endParaRPr lang="en-US" sz="16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bl>
          </a:graphicData>
        </a:graphic>
      </p:graphicFrame>
      <p:sp>
        <p:nvSpPr>
          <p:cNvPr id="6" name="Text 2"/>
          <p:cNvSpPr txBox="1"/>
          <p:nvPr/>
        </p:nvSpPr>
        <p:spPr>
          <a:xfrm>
            <a:off x="813816" y="4846320"/>
            <a:ext cx="10570464" cy="365760"/>
          </a:xfrm>
          <a:prstGeom prst="rect">
            <a:avLst/>
          </a:prstGeom>
          <a:noFill/>
          <a:ln/>
        </p:spPr>
        <p:txBody>
          <a:bodyPr wrap="square" lIns="0" tIns="0" rIns="0" bIns="0" rtlCol="0" anchor="t"/>
          <a:lstStyle/>
          <a:p>
            <a:pPr indent="0" marL="0">
              <a:buNone/>
            </a:pPr>
            <a:r>
              <a:rPr lang="en-US" sz="1400" dirty="0">
                <a:solidFill>
                  <a:schemeClr val="tx2"/>
                </a:solidFill>
              </a:rPr>
              <a:t>[Switch to the live tutor]</a:t>
            </a:r>
            <a:endParaRPr lang="en-US" sz="1400" dirty="0"/>
          </a:p>
        </p:txBody>
      </p:sp>
      <p:sp>
        <p:nvSpPr>
          <p:cNvPr id="25" name="Slide Number Placeholder 0"/>
          <p:cNvSpPr>
            <a:spLocks noGrp="1"/>
          </p:cNvSpPr>
          <p:nvPr>
            <p:ph type="sldNum" sz="quarter" idx="4294967295"/>
          </p:nvPr>
        </p:nvSpPr>
        <p:spPr>
          <a:xfrm>
            <a:off x="10561320" y="6291072"/>
            <a:ext cx="8229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813816" y="640080"/>
            <a:ext cx="10570464" cy="320040"/>
          </a:xfrm>
          <a:prstGeom prst="rect">
            <a:avLst/>
          </a:prstGeom>
          <a:noFill/>
          <a:ln/>
        </p:spPr>
        <p:txBody>
          <a:bodyPr wrap="square" lIns="0" tIns="0" rIns="0" bIns="0" rtlCol="0" anchor="t"/>
          <a:lstStyle/>
          <a:p>
            <a:pPr indent="0" marL="0">
              <a:buNone/>
            </a:pPr>
            <a:r>
              <a:rPr lang="en-US" sz="1200" b="1" spc="300" kern="0" dirty="0">
                <a:solidFill>
                  <a:schemeClr val="accent1"/>
                </a:solidFill>
              </a:rPr>
              <a:t>LIVE DEMO 2 · BEHIND THE SCENES</a:t>
            </a:r>
            <a:endParaRPr lang="en-US" sz="1200" dirty="0"/>
          </a:p>
        </p:txBody>
      </p:sp>
      <p:sp>
        <p:nvSpPr>
          <p:cNvPr id="3" name="Text 1"/>
          <p:cNvSpPr/>
          <p:nvPr>
            <p:ph idx="102" type="title" hasCustomPrompt="1"/>
          </p:nvPr>
        </p:nvSpPr>
        <p:spPr>
          <a:xfrm>
            <a:off x="813816" y="987552"/>
            <a:ext cx="10570464" cy="731520"/>
          </a:xfrm>
          <a:prstGeom prst="rect">
            <a:avLst/>
          </a:prstGeom>
          <a:noFill/>
          <a:ln/>
        </p:spPr>
        <p:txBody>
          <a:bodyPr wrap="square" lIns="0" tIns="0" rIns="0" bIns="0" rtlCol="0" anchor="t"/>
          <a:lstStyle/>
          <a:p>
            <a:pPr algn="l" indent="0" marL="0">
              <a:buNone/>
            </a:pPr>
            <a:r>
              <a:rPr lang="en-US" sz="3600" b="1" dirty="0">
                <a:solidFill>
                  <a:schemeClr val="tx1"/>
                </a:solidFill>
                <a:latin typeface="+mj-lt" pitchFamily="34" charset="0"/>
                <a:ea typeface="+mj-lt" pitchFamily="34" charset="-122"/>
                <a:cs typeface="+mj-lt" pitchFamily="34" charset="-120"/>
              </a:rPr>
              <a:t>A tutor is three things in Copilot Studio</a:t>
            </a:r>
            <a:endParaRPr lang="en-US" sz="3600" dirty="0"/>
          </a:p>
        </p:txBody>
      </p:sp>
      <p:sp>
        <p:nvSpPr>
          <p:cNvPr id="5" name="part 1"/>
          <p:cNvSpPr/>
          <p:nvPr/>
        </p:nvSpPr>
        <p:spPr>
          <a:xfrm>
            <a:off x="813816" y="2103120"/>
            <a:ext cx="3279648" cy="3108960"/>
          </a:xfrm>
          <a:prstGeom prst="roundRect">
            <a:avLst>
              <a:gd name="adj" fmla="val 3529"/>
            </a:avLst>
          </a:prstGeom>
          <a:solidFill>
            <a:schemeClr val="bg1"/>
          </a:solidFill>
          <a:ln w="9525">
            <a:solidFill>
              <a:srgbClr val="DDD7CB"/>
            </a:solidFill>
            <a:prstDash val="solid"/>
          </a:ln>
        </p:spPr>
      </p:sp>
      <p:pic>
        <p:nvPicPr>
          <p:cNvPr id="6" name="part icon 1" descr="preencoded.png">    </p:cNvPr>
          <p:cNvPicPr>
            <a:picLocks noChangeAspect="1"/>
          </p:cNvPicPr>
          <p:nvPr/>
        </p:nvPicPr>
        <p:blipFill>
          <a:blip r:embed="rId1"/>
          <a:stretch>
            <a:fillRect/>
          </a:stretch>
        </p:blipFill>
        <p:spPr>
          <a:xfrm>
            <a:off x="1179576" y="2468880"/>
            <a:ext cx="502920" cy="502920"/>
          </a:xfrm>
          <a:prstGeom prst="rect">
            <a:avLst/>
          </a:prstGeom>
        </p:spPr>
      </p:pic>
      <p:sp>
        <p:nvSpPr>
          <p:cNvPr id="7" name="Text 3"/>
          <p:cNvSpPr txBox="1"/>
          <p:nvPr/>
        </p:nvSpPr>
        <p:spPr>
          <a:xfrm>
            <a:off x="1179576" y="3246120"/>
            <a:ext cx="2548128" cy="411480"/>
          </a:xfrm>
          <a:prstGeom prst="rect">
            <a:avLst/>
          </a:prstGeom>
          <a:noFill/>
          <a:ln/>
        </p:spPr>
        <p:txBody>
          <a:bodyPr wrap="square" lIns="0" tIns="0" rIns="0" bIns="0" rtlCol="0" anchor="t"/>
          <a:lstStyle/>
          <a:p>
            <a:pPr indent="0" marL="0">
              <a:buNone/>
            </a:pPr>
            <a:r>
              <a:rPr lang="en-US" sz="2000" b="1" dirty="0">
                <a:solidFill>
                  <a:schemeClr val="tx1"/>
                </a:solidFill>
              </a:rPr>
              <a:t>Instructions</a:t>
            </a:r>
            <a:endParaRPr lang="en-US" sz="2000" dirty="0"/>
          </a:p>
        </p:txBody>
      </p:sp>
      <p:sp>
        <p:nvSpPr>
          <p:cNvPr id="8" name="Text 4"/>
          <p:cNvSpPr txBox="1"/>
          <p:nvPr/>
        </p:nvSpPr>
        <p:spPr>
          <a:xfrm>
            <a:off x="1179576" y="3794760"/>
            <a:ext cx="2548128" cy="1188720"/>
          </a:xfrm>
          <a:prstGeom prst="rect">
            <a:avLst/>
          </a:prstGeom>
          <a:noFill/>
          <a:ln/>
        </p:spPr>
        <p:txBody>
          <a:bodyPr wrap="square" lIns="0" tIns="0" rIns="0" bIns="0" rtlCol="0" anchor="t"/>
          <a:lstStyle/>
          <a:p>
            <a:pPr indent="0" marL="0">
              <a:buNone/>
            </a:pPr>
            <a:r>
              <a:rPr lang="en-US" sz="1600" dirty="0">
                <a:solidFill>
                  <a:schemeClr val="tx2"/>
                </a:solidFill>
              </a:rPr>
              <a:t>Plain English: who it is, the refusal rule, how it teaches</a:t>
            </a:r>
            <a:endParaRPr lang="en-US" sz="1600" dirty="0"/>
          </a:p>
        </p:txBody>
      </p:sp>
      <p:sp>
        <p:nvSpPr>
          <p:cNvPr id="9" name="part 2"/>
          <p:cNvSpPr/>
          <p:nvPr/>
        </p:nvSpPr>
        <p:spPr>
          <a:xfrm>
            <a:off x="4459224" y="2103120"/>
            <a:ext cx="3279648" cy="3108960"/>
          </a:xfrm>
          <a:prstGeom prst="roundRect">
            <a:avLst>
              <a:gd name="adj" fmla="val 3529"/>
            </a:avLst>
          </a:prstGeom>
          <a:solidFill>
            <a:schemeClr val="bg1"/>
          </a:solidFill>
          <a:ln w="9525">
            <a:solidFill>
              <a:srgbClr val="DDD7CB"/>
            </a:solidFill>
            <a:prstDash val="solid"/>
          </a:ln>
        </p:spPr>
      </p:sp>
      <p:pic>
        <p:nvPicPr>
          <p:cNvPr id="10" name="part icon 2" descr="preencoded.png">    </p:cNvPr>
          <p:cNvPicPr>
            <a:picLocks noChangeAspect="1"/>
          </p:cNvPicPr>
          <p:nvPr/>
        </p:nvPicPr>
        <p:blipFill>
          <a:blip r:embed="rId2"/>
          <a:stretch>
            <a:fillRect/>
          </a:stretch>
        </p:blipFill>
        <p:spPr>
          <a:xfrm>
            <a:off x="4824984" y="2468880"/>
            <a:ext cx="502920" cy="502920"/>
          </a:xfrm>
          <a:prstGeom prst="rect">
            <a:avLst/>
          </a:prstGeom>
        </p:spPr>
      </p:pic>
      <p:sp>
        <p:nvSpPr>
          <p:cNvPr id="11" name="Text 6"/>
          <p:cNvSpPr txBox="1"/>
          <p:nvPr/>
        </p:nvSpPr>
        <p:spPr>
          <a:xfrm>
            <a:off x="4824984" y="3246120"/>
            <a:ext cx="2548128" cy="411480"/>
          </a:xfrm>
          <a:prstGeom prst="rect">
            <a:avLst/>
          </a:prstGeom>
          <a:noFill/>
          <a:ln/>
        </p:spPr>
        <p:txBody>
          <a:bodyPr wrap="square" lIns="0" tIns="0" rIns="0" bIns="0" rtlCol="0" anchor="t"/>
          <a:lstStyle/>
          <a:p>
            <a:pPr indent="0" marL="0">
              <a:buNone/>
            </a:pPr>
            <a:r>
              <a:rPr lang="en-US" sz="2000" b="1" dirty="0">
                <a:solidFill>
                  <a:schemeClr val="tx1"/>
                </a:solidFill>
              </a:rPr>
              <a:t>Knowledge</a:t>
            </a:r>
            <a:endParaRPr lang="en-US" sz="2000" dirty="0"/>
          </a:p>
        </p:txBody>
      </p:sp>
      <p:sp>
        <p:nvSpPr>
          <p:cNvPr id="12" name="Text 7"/>
          <p:cNvSpPr txBox="1"/>
          <p:nvPr/>
        </p:nvSpPr>
        <p:spPr>
          <a:xfrm>
            <a:off x="4824984" y="3794760"/>
            <a:ext cx="2548128" cy="1188720"/>
          </a:xfrm>
          <a:prstGeom prst="rect">
            <a:avLst/>
          </a:prstGeom>
          <a:noFill/>
          <a:ln/>
        </p:spPr>
        <p:txBody>
          <a:bodyPr wrap="square" lIns="0" tIns="0" rIns="0" bIns="0" rtlCol="0" anchor="t"/>
          <a:lstStyle/>
          <a:p>
            <a:pPr indent="0" marL="0">
              <a:buNone/>
            </a:pPr>
            <a:r>
              <a:rPr lang="en-US" sz="1600" dirty="0">
                <a:solidFill>
                  <a:schemeClr val="tx2"/>
                </a:solidFill>
              </a:rPr>
              <a:t>Your course outline, uploaded as a file</a:t>
            </a:r>
            <a:endParaRPr lang="en-US" sz="1600" dirty="0"/>
          </a:p>
        </p:txBody>
      </p:sp>
      <p:sp>
        <p:nvSpPr>
          <p:cNvPr id="13" name="part 3"/>
          <p:cNvSpPr/>
          <p:nvPr/>
        </p:nvSpPr>
        <p:spPr>
          <a:xfrm>
            <a:off x="8104632" y="2103120"/>
            <a:ext cx="3279648" cy="3108960"/>
          </a:xfrm>
          <a:prstGeom prst="roundRect">
            <a:avLst>
              <a:gd name="adj" fmla="val 3529"/>
            </a:avLst>
          </a:prstGeom>
          <a:solidFill>
            <a:schemeClr val="bg1"/>
          </a:solidFill>
          <a:ln w="9525">
            <a:solidFill>
              <a:srgbClr val="DDD7CB"/>
            </a:solidFill>
            <a:prstDash val="solid"/>
          </a:ln>
        </p:spPr>
      </p:sp>
      <p:pic>
        <p:nvPicPr>
          <p:cNvPr id="14" name="part icon 3" descr="preencoded.png">    </p:cNvPr>
          <p:cNvPicPr>
            <a:picLocks noChangeAspect="1"/>
          </p:cNvPicPr>
          <p:nvPr/>
        </p:nvPicPr>
        <p:blipFill>
          <a:blip r:embed="rId3"/>
          <a:stretch>
            <a:fillRect/>
          </a:stretch>
        </p:blipFill>
        <p:spPr>
          <a:xfrm>
            <a:off x="8470392" y="2468880"/>
            <a:ext cx="502920" cy="502920"/>
          </a:xfrm>
          <a:prstGeom prst="rect">
            <a:avLst/>
          </a:prstGeom>
        </p:spPr>
      </p:pic>
      <p:sp>
        <p:nvSpPr>
          <p:cNvPr id="15" name="Text 9"/>
          <p:cNvSpPr txBox="1"/>
          <p:nvPr/>
        </p:nvSpPr>
        <p:spPr>
          <a:xfrm>
            <a:off x="8470392" y="3246120"/>
            <a:ext cx="2548128" cy="411480"/>
          </a:xfrm>
          <a:prstGeom prst="rect">
            <a:avLst/>
          </a:prstGeom>
          <a:noFill/>
          <a:ln/>
        </p:spPr>
        <p:txBody>
          <a:bodyPr wrap="square" lIns="0" tIns="0" rIns="0" bIns="0" rtlCol="0" anchor="t"/>
          <a:lstStyle/>
          <a:p>
            <a:pPr indent="0" marL="0">
              <a:buNone/>
            </a:pPr>
            <a:r>
              <a:rPr lang="en-US" sz="2000" b="1" dirty="0">
                <a:solidFill>
                  <a:schemeClr val="tx1"/>
                </a:solidFill>
              </a:rPr>
              <a:t>Settings</a:t>
            </a:r>
            <a:endParaRPr lang="en-US" sz="2000" dirty="0"/>
          </a:p>
        </p:txBody>
      </p:sp>
      <p:sp>
        <p:nvSpPr>
          <p:cNvPr id="16" name="Text 10"/>
          <p:cNvSpPr txBox="1"/>
          <p:nvPr/>
        </p:nvSpPr>
        <p:spPr>
          <a:xfrm>
            <a:off x="8470392" y="3794760"/>
            <a:ext cx="2548128" cy="1188720"/>
          </a:xfrm>
          <a:prstGeom prst="rect">
            <a:avLst/>
          </a:prstGeom>
          <a:noFill/>
          <a:ln/>
        </p:spPr>
        <p:txBody>
          <a:bodyPr wrap="square" lIns="0" tIns="0" rIns="0" bIns="0" rtlCol="0" anchor="t"/>
          <a:lstStyle/>
          <a:p>
            <a:pPr indent="0" marL="0">
              <a:buNone/>
            </a:pPr>
            <a:r>
              <a:rPr lang="en-US" sz="1600" dirty="0">
                <a:solidFill>
                  <a:schemeClr val="tx2"/>
                </a:solidFill>
              </a:rPr>
              <a:t>Web search off, so it stays inside your material</a:t>
            </a:r>
            <a:endParaRPr lang="en-US" sz="1600" dirty="0"/>
          </a:p>
        </p:txBody>
      </p:sp>
      <p:sp>
        <p:nvSpPr>
          <p:cNvPr id="25" name="Slide Number Placeholder 0"/>
          <p:cNvSpPr>
            <a:spLocks noGrp="1"/>
          </p:cNvSpPr>
          <p:nvPr>
            <p:ph type="sldNum" sz="quarter" idx="4294967295"/>
          </p:nvPr>
        </p:nvSpPr>
        <p:spPr>
          <a:xfrm>
            <a:off x="10561320" y="6291072"/>
            <a:ext cx="8229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813816" y="987552"/>
            <a:ext cx="10570464" cy="731520"/>
          </a:xfrm>
          <a:prstGeom prst="rect">
            <a:avLst/>
          </a:prstGeom>
          <a:noFill/>
          <a:ln/>
        </p:spPr>
        <p:txBody>
          <a:bodyPr wrap="square" lIns="0" tIns="0" rIns="0" bIns="0" rtlCol="0" anchor="t"/>
          <a:lstStyle/>
          <a:p>
            <a:pPr algn="l" indent="0" marL="0">
              <a:buNone/>
            </a:pPr>
            <a:r>
              <a:rPr lang="en-US" sz="3600" b="1" dirty="0">
                <a:solidFill>
                  <a:schemeClr val="tx1"/>
                </a:solidFill>
                <a:latin typeface="+mj-lt" pitchFamily="34" charset="0"/>
                <a:ea typeface="+mj-lt" pitchFamily="34" charset="-122"/>
                <a:cs typeface="+mj-lt" pitchFamily="34" charset="-120"/>
              </a:rPr>
              <a:t>Anatomy of good instructions</a:t>
            </a:r>
            <a:endParaRPr lang="en-US" sz="3600" dirty="0"/>
          </a:p>
        </p:txBody>
      </p:sp>
      <p:graphicFrame>
        <p:nvGraphicFramePr>
          <p:cNvPr id="12" name="anatomy table"/>
          <p:cNvGraphicFramePr>
            <a:graphicFrameLocks noGrp="1"/>
          </p:cNvGraphicFramePr>
          <p:nvPr>
            <p:extLst>
              <p:ext uri="{D42A27DB-BD31-4B8C-83A1-F6EECF244321}">
                <p14:modId xmlns:p14="http://schemas.microsoft.com/office/powerpoint/2010/main" val="1579011935"/>
              </p:ext>
            </p:extLst>
          </p:nvPr>
        </p:nvGraphicFramePr>
        <p:xfrm>
          <a:off x="813816" y="1874520"/>
          <a:ext cx="10570464" cy="914400"/>
        </p:xfrm>
        <a:graphic>
          <a:graphicData uri="http://schemas.openxmlformats.org/drawingml/2006/table">
            <a:tbl>
              <a:tblPr/>
              <a:tblGrid>
                <a:gridCol w="3383280"/>
                <a:gridCol w="7187184"/>
              </a:tblGrid>
              <a:tr h="457200">
                <a:tc>
                  <a:txBody>
                    <a:bodyPr/>
                    <a:lstStyle/>
                    <a:p>
                      <a:pPr indent="0" marL="0">
                        <a:buNone/>
                      </a:pPr>
                      <a:r>
                        <a:rPr lang="en-US" sz="1400" b="1" dirty="0">
                          <a:solidFill>
                            <a:schemeClr val="tx1"/>
                          </a:solidFill>
                        </a:rPr>
                        <a:t>Block</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solidFill>
                      <a:schemeClr val="accent6"/>
                    </a:solidFill>
                  </a:tcPr>
                </a:tc>
                <a:tc>
                  <a:txBody>
                    <a:bodyPr/>
                    <a:lstStyle/>
                    <a:p>
                      <a:pPr indent="0" marL="0">
                        <a:buNone/>
                      </a:pPr>
                      <a:r>
                        <a:rPr lang="en-US" sz="1400" b="1" dirty="0">
                          <a:solidFill>
                            <a:schemeClr val="tx1"/>
                          </a:solidFill>
                        </a:rPr>
                        <a:t>What it does</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solidFill>
                      <a:schemeClr val="accent6"/>
                    </a:solidFill>
                  </a:tcPr>
                </a:tc>
              </a:tr>
              <a:tr h="457200">
                <a:tc>
                  <a:txBody>
                    <a:bodyPr/>
                    <a:lstStyle/>
                    <a:p>
                      <a:pPr indent="0" marL="0">
                        <a:buNone/>
                      </a:pPr>
                      <a:r>
                        <a:rPr lang="en-US" sz="1400" b="1" dirty="0">
                          <a:solidFill>
                            <a:schemeClr val="tx1"/>
                          </a:solidFill>
                        </a:rPr>
                        <a:t>Role</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Names the tutor, the course and the students</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457200">
                <a:tc>
                  <a:txBody>
                    <a:bodyPr/>
                    <a:lstStyle/>
                    <a:p>
                      <a:pPr indent="0" marL="0">
                        <a:buNone/>
                      </a:pPr>
                      <a:r>
                        <a:rPr lang="en-US" sz="1400" b="1" dirty="0">
                          <a:solidFill>
                            <a:schemeClr val="tx1"/>
                          </a:solidFill>
                        </a:rPr>
                        <a:t>Most important rule</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Never writes, solves or checks graded work</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457200">
                <a:tc>
                  <a:txBody>
                    <a:bodyPr/>
                    <a:lstStyle/>
                    <a:p>
                      <a:pPr indent="0" marL="0">
                        <a:buNone/>
                      </a:pPr>
                      <a:r>
                        <a:rPr lang="en-US" sz="1400" b="1" dirty="0">
                          <a:solidFill>
                            <a:schemeClr val="tx1"/>
                          </a:solidFill>
                        </a:rPr>
                        <a:t>How you teach</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Ask first, hint in steps, ask the student to explain it back</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457200">
                <a:tc>
                  <a:txBody>
                    <a:bodyPr/>
                    <a:lstStyle/>
                    <a:p>
                      <a:pPr indent="0" marL="0">
                        <a:buNone/>
                      </a:pPr>
                      <a:r>
                        <a:rPr lang="en-US" sz="1400" b="1" dirty="0">
                          <a:solidFill>
                            <a:schemeClr val="tx1"/>
                          </a:solidFill>
                        </a:rPr>
                        <a:t>Scope</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Course files first; admits when it is not sure</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457200">
                <a:tc>
                  <a:txBody>
                    <a:bodyPr/>
                    <a:lstStyle/>
                    <a:p>
                      <a:pPr indent="0" marL="0">
                        <a:buNone/>
                      </a:pPr>
                      <a:r>
                        <a:rPr lang="en-US" sz="1400" b="1" dirty="0">
                          <a:solidFill>
                            <a:schemeClr val="tx1"/>
                          </a:solidFill>
                        </a:rPr>
                        <a:t>Style</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Short, friendly; English, Urdu or Roman Urdu</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457200">
                <a:tc>
                  <a:txBody>
                    <a:bodyPr/>
                    <a:lstStyle/>
                    <a:p>
                      <a:pPr indent="0" marL="0">
                        <a:buNone/>
                      </a:pPr>
                      <a:r>
                        <a:rPr lang="en-US" sz="1400" b="1" dirty="0">
                          <a:solidFill>
                            <a:schemeClr val="tx1"/>
                          </a:solidFill>
                        </a:rPr>
                        <a:t>Integrity</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What to say when a student pastes an assignment</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457200">
                <a:tc>
                  <a:txBody>
                    <a:bodyPr/>
                    <a:lstStyle/>
                    <a:p>
                      <a:pPr indent="0" marL="0">
                        <a:buNone/>
                      </a:pPr>
                      <a:r>
                        <a:rPr lang="en-US" sz="1400" b="1" dirty="0">
                          <a:solidFill>
                            <a:schemeClr val="tx1"/>
                          </a:solidFill>
                        </a:rPr>
                        <a:t>Privacy</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No personal data; refers distress to support</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bl>
          </a:graphicData>
        </a:graphic>
      </p:graphicFrame>
      <p:sp>
        <p:nvSpPr>
          <p:cNvPr id="5" name="Text 1"/>
          <p:cNvSpPr/>
          <p:nvPr>
            <p:ph idx="101" type="body" hasCustomPrompt="1"/>
          </p:nvPr>
        </p:nvSpPr>
        <p:spPr>
          <a:xfrm>
            <a:off x="813816" y="640080"/>
            <a:ext cx="10570464" cy="320040"/>
          </a:xfrm>
          <a:prstGeom prst="rect">
            <a:avLst/>
          </a:prstGeom>
          <a:noFill/>
          <a:ln/>
        </p:spPr>
        <p:txBody>
          <a:bodyPr wrap="square" lIns="0" tIns="0" rIns="0" bIns="0" rtlCol="0" anchor="t"/>
          <a:lstStyle/>
          <a:p>
            <a:pPr indent="0" marL="0">
              <a:buNone/>
            </a:pPr>
            <a:endParaRPr lang="en-US" sz="1200" dirty="0"/>
          </a:p>
        </p:txBody>
      </p:sp>
      <p:sp>
        <p:nvSpPr>
          <p:cNvPr id="25" name="Slide Number Placeholder 0"/>
          <p:cNvSpPr>
            <a:spLocks noGrp="1"/>
          </p:cNvSpPr>
          <p:nvPr>
            <p:ph type="sldNum" sz="quarter" idx="4294967295"/>
          </p:nvPr>
        </p:nvSpPr>
        <p:spPr>
          <a:xfrm>
            <a:off x="10561320" y="6291072"/>
            <a:ext cx="8229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813816" y="640080"/>
            <a:ext cx="10570464" cy="320040"/>
          </a:xfrm>
          <a:prstGeom prst="rect">
            <a:avLst/>
          </a:prstGeom>
          <a:noFill/>
          <a:ln/>
        </p:spPr>
        <p:txBody>
          <a:bodyPr wrap="square" lIns="0" tIns="0" rIns="0" bIns="0" rtlCol="0" anchor="t"/>
          <a:lstStyle/>
          <a:p>
            <a:pPr indent="0" marL="0">
              <a:buNone/>
            </a:pPr>
            <a:r>
              <a:rPr lang="en-US" sz="1200" b="1" spc="300" kern="0" dirty="0">
                <a:solidFill>
                  <a:schemeClr val="accent1"/>
                </a:solidFill>
              </a:rPr>
              <a:t>LIVE DEMO 4 · 10 MINUTES</a:t>
            </a:r>
            <a:endParaRPr lang="en-US" sz="1200" dirty="0"/>
          </a:p>
        </p:txBody>
      </p:sp>
      <p:sp>
        <p:nvSpPr>
          <p:cNvPr id="3" name="Text 1"/>
          <p:cNvSpPr/>
          <p:nvPr>
            <p:ph idx="102" type="title" hasCustomPrompt="1"/>
          </p:nvPr>
        </p:nvSpPr>
        <p:spPr>
          <a:xfrm>
            <a:off x="813816" y="987552"/>
            <a:ext cx="10570464" cy="731520"/>
          </a:xfrm>
          <a:prstGeom prst="rect">
            <a:avLst/>
          </a:prstGeom>
          <a:noFill/>
          <a:ln/>
        </p:spPr>
        <p:txBody>
          <a:bodyPr wrap="square" lIns="0" tIns="0" rIns="0" bIns="0" rtlCol="0" anchor="t"/>
          <a:lstStyle/>
          <a:p>
            <a:pPr algn="l" indent="0" marL="0">
              <a:buNone/>
            </a:pPr>
            <a:r>
              <a:rPr lang="en-US" sz="3600" b="1" dirty="0">
                <a:solidFill>
                  <a:schemeClr val="tx1"/>
                </a:solidFill>
                <a:latin typeface="+mj-lt" pitchFamily="34" charset="0"/>
                <a:ea typeface="+mj-lt" pitchFamily="34" charset="-122"/>
                <a:cs typeface="+mj-lt" pitchFamily="34" charset="-120"/>
              </a:rPr>
              <a:t>Prompt to Sakai quiz in 10 minutes</a:t>
            </a:r>
            <a:endParaRPr lang="en-US" sz="3600" dirty="0"/>
          </a:p>
        </p:txBody>
      </p:sp>
      <p:sp>
        <p:nvSpPr>
          <p:cNvPr id="5" name="step 1"/>
          <p:cNvSpPr/>
          <p:nvPr/>
        </p:nvSpPr>
        <p:spPr>
          <a:xfrm>
            <a:off x="813816" y="2011680"/>
            <a:ext cx="3188208" cy="1600200"/>
          </a:xfrm>
          <a:prstGeom prst="roundRect">
            <a:avLst>
              <a:gd name="adj" fmla="val 6857"/>
            </a:avLst>
          </a:prstGeom>
          <a:solidFill>
            <a:schemeClr val="bg1"/>
          </a:solidFill>
          <a:ln w="9525">
            <a:solidFill>
              <a:srgbClr val="DDD7CB"/>
            </a:solidFill>
            <a:prstDash val="solid"/>
          </a:ln>
        </p:spPr>
      </p:sp>
      <p:sp>
        <p:nvSpPr>
          <p:cNvPr id="6" name="Text 3"/>
          <p:cNvSpPr txBox="1"/>
          <p:nvPr/>
        </p:nvSpPr>
        <p:spPr>
          <a:xfrm>
            <a:off x="1042416" y="2212848"/>
            <a:ext cx="548640" cy="365760"/>
          </a:xfrm>
          <a:prstGeom prst="rect">
            <a:avLst/>
          </a:prstGeom>
          <a:noFill/>
          <a:ln/>
        </p:spPr>
        <p:txBody>
          <a:bodyPr wrap="square" lIns="0" tIns="0" rIns="0" bIns="0" rtlCol="0" anchor="t"/>
          <a:lstStyle/>
          <a:p>
            <a:pPr indent="0" marL="0">
              <a:buNone/>
            </a:pPr>
            <a:r>
              <a:rPr lang="en-US" sz="2200" b="1" dirty="0">
                <a:solidFill>
                  <a:schemeClr val="accent1"/>
                </a:solidFill>
                <a:latin typeface="+mj-lt" pitchFamily="34" charset="0"/>
                <a:ea typeface="+mj-lt" pitchFamily="34" charset="-122"/>
                <a:cs typeface="+mj-lt" pitchFamily="34" charset="-120"/>
              </a:rPr>
              <a:t>1</a:t>
            </a:r>
            <a:endParaRPr lang="en-US" sz="2200" dirty="0"/>
          </a:p>
        </p:txBody>
      </p:sp>
      <p:sp>
        <p:nvSpPr>
          <p:cNvPr id="7" name="Text 4"/>
          <p:cNvSpPr txBox="1"/>
          <p:nvPr/>
        </p:nvSpPr>
        <p:spPr>
          <a:xfrm>
            <a:off x="1042416" y="2651760"/>
            <a:ext cx="2731008" cy="822960"/>
          </a:xfrm>
          <a:prstGeom prst="rect">
            <a:avLst/>
          </a:prstGeom>
          <a:noFill/>
          <a:ln/>
        </p:spPr>
        <p:txBody>
          <a:bodyPr wrap="square" lIns="0" tIns="0" rIns="0" bIns="0" rtlCol="0" anchor="t"/>
          <a:lstStyle/>
          <a:p>
            <a:pPr indent="0" marL="0">
              <a:buNone/>
            </a:pPr>
            <a:r>
              <a:rPr lang="en-US" sz="1400" b="1" dirty="0">
                <a:solidFill>
                  <a:schemeClr val="tx1"/>
                </a:solidFill>
              </a:rPr>
              <a:t>Assignment + rubric</a:t>
            </a:r>
            <a:pPr indent="0" marL="0">
              <a:buNone/>
            </a:pPr>
            <a:r>
              <a:rPr lang="en-US" sz="1400" dirty="0">
                <a:solidFill>
                  <a:schemeClr val="tx1"/>
                </a:solidFill>
              </a:rPr>
              <a:t> mapped to your CLOs (Prompt 2)</a:t>
            </a:r>
            <a:endParaRPr lang="en-US" sz="1400" dirty="0"/>
          </a:p>
        </p:txBody>
      </p:sp>
      <p:sp>
        <p:nvSpPr>
          <p:cNvPr id="8" name="arrow"/>
          <p:cNvSpPr/>
          <p:nvPr/>
        </p:nvSpPr>
        <p:spPr>
          <a:xfrm>
            <a:off x="4102608" y="2720340"/>
            <a:ext cx="301752" cy="182880"/>
          </a:xfrm>
          <a:prstGeom prst="rightArrow">
            <a:avLst/>
          </a:prstGeom>
          <a:solidFill>
            <a:schemeClr val="accent1"/>
          </a:solidFill>
          <a:ln/>
        </p:spPr>
      </p:sp>
      <p:sp>
        <p:nvSpPr>
          <p:cNvPr id="9" name="step 2"/>
          <p:cNvSpPr/>
          <p:nvPr/>
        </p:nvSpPr>
        <p:spPr>
          <a:xfrm>
            <a:off x="4504944" y="2011680"/>
            <a:ext cx="3188208" cy="1600200"/>
          </a:xfrm>
          <a:prstGeom prst="roundRect">
            <a:avLst>
              <a:gd name="adj" fmla="val 6857"/>
            </a:avLst>
          </a:prstGeom>
          <a:solidFill>
            <a:schemeClr val="bg1"/>
          </a:solidFill>
          <a:ln w="9525">
            <a:solidFill>
              <a:srgbClr val="DDD7CB"/>
            </a:solidFill>
            <a:prstDash val="solid"/>
          </a:ln>
        </p:spPr>
      </p:sp>
      <p:sp>
        <p:nvSpPr>
          <p:cNvPr id="10" name="Text 7"/>
          <p:cNvSpPr txBox="1"/>
          <p:nvPr/>
        </p:nvSpPr>
        <p:spPr>
          <a:xfrm>
            <a:off x="4733544" y="2212848"/>
            <a:ext cx="548640" cy="365760"/>
          </a:xfrm>
          <a:prstGeom prst="rect">
            <a:avLst/>
          </a:prstGeom>
          <a:noFill/>
          <a:ln/>
        </p:spPr>
        <p:txBody>
          <a:bodyPr wrap="square" lIns="0" tIns="0" rIns="0" bIns="0" rtlCol="0" anchor="t"/>
          <a:lstStyle/>
          <a:p>
            <a:pPr indent="0" marL="0">
              <a:buNone/>
            </a:pPr>
            <a:r>
              <a:rPr lang="en-US" sz="2200" b="1" dirty="0">
                <a:solidFill>
                  <a:schemeClr val="accent1"/>
                </a:solidFill>
                <a:latin typeface="+mj-lt" pitchFamily="34" charset="0"/>
                <a:ea typeface="+mj-lt" pitchFamily="34" charset="-122"/>
                <a:cs typeface="+mj-lt" pitchFamily="34" charset="-120"/>
              </a:rPr>
              <a:t>2</a:t>
            </a:r>
            <a:endParaRPr lang="en-US" sz="2200" dirty="0"/>
          </a:p>
        </p:txBody>
      </p:sp>
      <p:sp>
        <p:nvSpPr>
          <p:cNvPr id="11" name="Text 8"/>
          <p:cNvSpPr txBox="1"/>
          <p:nvPr/>
        </p:nvSpPr>
        <p:spPr>
          <a:xfrm>
            <a:off x="4733544" y="2651760"/>
            <a:ext cx="2731008" cy="822960"/>
          </a:xfrm>
          <a:prstGeom prst="rect">
            <a:avLst/>
          </a:prstGeom>
          <a:noFill/>
          <a:ln/>
        </p:spPr>
        <p:txBody>
          <a:bodyPr wrap="square" lIns="0" tIns="0" rIns="0" bIns="0" rtlCol="0" anchor="t"/>
          <a:lstStyle/>
          <a:p>
            <a:pPr indent="0" marL="0">
              <a:buNone/>
            </a:pPr>
            <a:r>
              <a:rPr lang="en-US" sz="1400" b="1" dirty="0">
                <a:solidFill>
                  <a:schemeClr val="tx1"/>
                </a:solidFill>
              </a:rPr>
              <a:t>Ten MCQs</a:t>
            </a:r>
            <a:pPr indent="0" marL="0">
              <a:buNone/>
            </a:pPr>
            <a:r>
              <a:rPr lang="en-US" sz="1400" dirty="0">
                <a:solidFill>
                  <a:schemeClr val="tx1"/>
                </a:solidFill>
              </a:rPr>
              <a:t> with key, in Sakai markup text (Prompt 3)</a:t>
            </a:r>
            <a:endParaRPr lang="en-US" sz="1400" dirty="0"/>
          </a:p>
        </p:txBody>
      </p:sp>
      <p:sp>
        <p:nvSpPr>
          <p:cNvPr id="12" name="arrow"/>
          <p:cNvSpPr/>
          <p:nvPr/>
        </p:nvSpPr>
        <p:spPr>
          <a:xfrm>
            <a:off x="7793736" y="2720340"/>
            <a:ext cx="301752" cy="182880"/>
          </a:xfrm>
          <a:prstGeom prst="rightArrow">
            <a:avLst/>
          </a:prstGeom>
          <a:solidFill>
            <a:schemeClr val="accent1"/>
          </a:solidFill>
          <a:ln/>
        </p:spPr>
      </p:sp>
      <p:sp>
        <p:nvSpPr>
          <p:cNvPr id="13" name="step 3"/>
          <p:cNvSpPr/>
          <p:nvPr/>
        </p:nvSpPr>
        <p:spPr>
          <a:xfrm>
            <a:off x="8196072" y="2011680"/>
            <a:ext cx="3188208" cy="1600200"/>
          </a:xfrm>
          <a:prstGeom prst="roundRect">
            <a:avLst>
              <a:gd name="adj" fmla="val 6857"/>
            </a:avLst>
          </a:prstGeom>
          <a:solidFill>
            <a:schemeClr val="bg1"/>
          </a:solidFill>
          <a:ln w="9525">
            <a:solidFill>
              <a:srgbClr val="DDD7CB"/>
            </a:solidFill>
            <a:prstDash val="solid"/>
          </a:ln>
        </p:spPr>
      </p:sp>
      <p:sp>
        <p:nvSpPr>
          <p:cNvPr id="14" name="Text 11"/>
          <p:cNvSpPr txBox="1"/>
          <p:nvPr/>
        </p:nvSpPr>
        <p:spPr>
          <a:xfrm>
            <a:off x="8424672" y="2212848"/>
            <a:ext cx="548640" cy="365760"/>
          </a:xfrm>
          <a:prstGeom prst="rect">
            <a:avLst/>
          </a:prstGeom>
          <a:noFill/>
          <a:ln/>
        </p:spPr>
        <p:txBody>
          <a:bodyPr wrap="square" lIns="0" tIns="0" rIns="0" bIns="0" rtlCol="0" anchor="t"/>
          <a:lstStyle/>
          <a:p>
            <a:pPr indent="0" marL="0">
              <a:buNone/>
            </a:pPr>
            <a:r>
              <a:rPr lang="en-US" sz="2200" b="1" dirty="0">
                <a:solidFill>
                  <a:schemeClr val="accent1"/>
                </a:solidFill>
                <a:latin typeface="+mj-lt" pitchFamily="34" charset="0"/>
                <a:ea typeface="+mj-lt" pitchFamily="34" charset="-122"/>
                <a:cs typeface="+mj-lt" pitchFamily="34" charset="-120"/>
              </a:rPr>
              <a:t>3</a:t>
            </a:r>
            <a:endParaRPr lang="en-US" sz="2200" dirty="0"/>
          </a:p>
        </p:txBody>
      </p:sp>
      <p:sp>
        <p:nvSpPr>
          <p:cNvPr id="15" name="Text 12"/>
          <p:cNvSpPr txBox="1"/>
          <p:nvPr/>
        </p:nvSpPr>
        <p:spPr>
          <a:xfrm>
            <a:off x="8424672" y="2651760"/>
            <a:ext cx="2731008" cy="822960"/>
          </a:xfrm>
          <a:prstGeom prst="rect">
            <a:avLst/>
          </a:prstGeom>
          <a:noFill/>
          <a:ln/>
        </p:spPr>
        <p:txBody>
          <a:bodyPr wrap="square" lIns="0" tIns="0" rIns="0" bIns="0" rtlCol="0" anchor="t"/>
          <a:lstStyle/>
          <a:p>
            <a:pPr indent="0" marL="0">
              <a:buNone/>
            </a:pPr>
            <a:r>
              <a:rPr lang="en-US" sz="1400" dirty="0">
                <a:solidFill>
                  <a:schemeClr val="tx1"/>
                </a:solidFill>
              </a:rPr>
              <a:t>Tests &amp; Quizzes › </a:t>
            </a:r>
            <a:pPr indent="0" marL="0">
              <a:buNone/>
            </a:pPr>
            <a:r>
              <a:rPr lang="en-US" sz="1400" b="1" dirty="0">
                <a:solidFill>
                  <a:schemeClr val="tx1"/>
                </a:solidFill>
              </a:rPr>
              <a:t>Create using markup text</a:t>
            </a:r>
            <a:pPr indent="0" marL="0">
              <a:buNone/>
            </a:pPr>
            <a:r>
              <a:rPr lang="en-US" sz="1400" dirty="0">
                <a:solidFill>
                  <a:schemeClr val="tx1"/>
                </a:solidFill>
              </a:rPr>
              <a:t> › Publish</a:t>
            </a:r>
            <a:endParaRPr lang="en-US" sz="1400" dirty="0"/>
          </a:p>
        </p:txBody>
      </p:sp>
      <p:sp>
        <p:nvSpPr>
          <p:cNvPr id="16" name="markup sample"/>
          <p:cNvSpPr/>
          <p:nvPr/>
        </p:nvSpPr>
        <p:spPr>
          <a:xfrm>
            <a:off x="813816" y="3886200"/>
            <a:ext cx="10570464" cy="1920240"/>
          </a:xfrm>
          <a:prstGeom prst="roundRect">
            <a:avLst>
              <a:gd name="adj" fmla="val 5714"/>
            </a:avLst>
          </a:prstGeom>
          <a:solidFill>
            <a:schemeClr val="tx1"/>
          </a:solidFill>
          <a:ln/>
        </p:spPr>
      </p:sp>
      <p:sp>
        <p:nvSpPr>
          <p:cNvPr id="17" name="Text 14"/>
          <p:cNvSpPr txBox="1"/>
          <p:nvPr/>
        </p:nvSpPr>
        <p:spPr>
          <a:xfrm>
            <a:off x="1179576" y="4069080"/>
            <a:ext cx="9838944" cy="1600200"/>
          </a:xfrm>
          <a:prstGeom prst="rect">
            <a:avLst/>
          </a:prstGeom>
          <a:noFill/>
          <a:ln/>
        </p:spPr>
        <p:txBody>
          <a:bodyPr wrap="square" lIns="0" tIns="0" rIns="0" bIns="0" rtlCol="0" anchor="t"/>
          <a:lstStyle/>
          <a:p>
            <a:pPr indent="0" marL="0">
              <a:lnSpc>
                <a:spcPct val="125000"/>
              </a:lnSpc>
              <a:buNone/>
            </a:pPr>
            <a:r>
              <a:rPr lang="en-US" sz="1500" dirty="0">
                <a:solidFill>
                  <a:schemeClr val="bg1"/>
                </a:solidFill>
                <a:latin typeface="Courier New" pitchFamily="34" charset="0"/>
                <a:ea typeface="Courier New" pitchFamily="34" charset="-122"/>
                <a:cs typeface="Courier New" pitchFamily="34" charset="-120"/>
              </a:rPr>
              <a:t>1. (1 point)</a:t>
            </a:r>
            <a:endParaRPr lang="en-US" sz="1500" dirty="0"/>
          </a:p>
          <a:p>
            <a:pPr indent="0" marL="0">
              <a:lnSpc>
                <a:spcPct val="125000"/>
              </a:lnSpc>
              <a:buNone/>
            </a:pPr>
            <a:r>
              <a:rPr lang="en-US" sz="1500" dirty="0">
                <a:solidFill>
                  <a:schemeClr val="bg1"/>
                </a:solidFill>
                <a:latin typeface="Courier New" pitchFamily="34" charset="0"/>
                <a:ea typeface="Courier New" pitchFamily="34" charset="-122"/>
                <a:cs typeface="Courier New" pitchFamily="34" charset="-120"/>
              </a:rPr>
              <a:t>If the SBP raises the policy rate, bond prices usually…</a:t>
            </a:r>
            <a:endParaRPr lang="en-US" sz="1500" dirty="0"/>
          </a:p>
          <a:p>
            <a:pPr indent="0" marL="0">
              <a:lnSpc>
                <a:spcPct val="125000"/>
              </a:lnSpc>
              <a:buNone/>
            </a:pPr>
            <a:r>
              <a:rPr lang="en-US" sz="1500" dirty="0">
                <a:solidFill>
                  <a:schemeClr val="bg1"/>
                </a:solidFill>
                <a:latin typeface="Courier New" pitchFamily="34" charset="0"/>
                <a:ea typeface="Courier New" pitchFamily="34" charset="-122"/>
                <a:cs typeface="Courier New" pitchFamily="34" charset="-120"/>
              </a:rPr>
              <a:t>a. Rise    </a:t>
            </a:r>
            <a:pPr indent="0" marL="0">
              <a:lnSpc>
                <a:spcPct val="125000"/>
              </a:lnSpc>
              <a:buNone/>
            </a:pPr>
            <a:r>
              <a:rPr lang="en-US" sz="1500" dirty="0">
                <a:solidFill>
                  <a:schemeClr val="accent2"/>
                </a:solidFill>
                <a:latin typeface="Courier New" pitchFamily="34" charset="0"/>
                <a:ea typeface="Courier New" pitchFamily="34" charset="-122"/>
                <a:cs typeface="Courier New" pitchFamily="34" charset="-120"/>
              </a:rPr>
              <a:t>*b. Fall</a:t>
            </a:r>
            <a:pPr indent="0" marL="0">
              <a:lnSpc>
                <a:spcPct val="125000"/>
              </a:lnSpc>
              <a:buNone/>
            </a:pPr>
            <a:r>
              <a:rPr lang="en-US" sz="1500" dirty="0">
                <a:solidFill>
                  <a:schemeClr val="bg1"/>
                </a:solidFill>
                <a:latin typeface="Courier New" pitchFamily="34" charset="0"/>
                <a:ea typeface="Courier New" pitchFamily="34" charset="-122"/>
                <a:cs typeface="Courier New" pitchFamily="34" charset="-120"/>
              </a:rPr>
              <a:t>    c. Stay the same    d. Double</a:t>
            </a:r>
            <a:endParaRPr lang="en-US" sz="1500" dirty="0"/>
          </a:p>
          <a:p>
            <a:pPr indent="0" marL="0">
              <a:lnSpc>
                <a:spcPct val="125000"/>
              </a:lnSpc>
              <a:buNone/>
            </a:pPr>
            <a:r>
              <a:rPr lang="en-US" sz="1500" dirty="0">
                <a:solidFill>
                  <a:srgbClr val="C9D2DC"/>
                </a:solidFill>
                <a:latin typeface="Courier New" pitchFamily="34" charset="0"/>
                <a:ea typeface="Courier New" pitchFamily="34" charset="-122"/>
                <a:cs typeface="Courier New" pitchFamily="34" charset="-120"/>
              </a:rPr>
              <a:t>#FBOK: Right: higher rates lower the value of existing bonds.</a:t>
            </a:r>
            <a:endParaRPr lang="en-US" sz="1500" dirty="0"/>
          </a:p>
        </p:txBody>
      </p:sp>
      <p:sp>
        <p:nvSpPr>
          <p:cNvPr id="25" name="Slide Number Placeholder 0"/>
          <p:cNvSpPr>
            <a:spLocks noGrp="1"/>
          </p:cNvSpPr>
          <p:nvPr>
            <p:ph type="sldNum" sz="quarter" idx="4294967295"/>
          </p:nvPr>
        </p:nvSpPr>
        <p:spPr>
          <a:xfrm>
            <a:off x="10561320" y="6291072"/>
            <a:ext cx="8229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813816" y="640080"/>
            <a:ext cx="10570464" cy="320040"/>
          </a:xfrm>
          <a:prstGeom prst="rect">
            <a:avLst/>
          </a:prstGeom>
          <a:noFill/>
          <a:ln/>
        </p:spPr>
        <p:txBody>
          <a:bodyPr wrap="square" lIns="0" tIns="0" rIns="0" bIns="0" rtlCol="0" anchor="t"/>
          <a:lstStyle/>
          <a:p>
            <a:pPr indent="0" marL="0">
              <a:buNone/>
            </a:pPr>
            <a:r>
              <a:rPr lang="en-US" sz="1200" b="1" spc="300" kern="0" dirty="0">
                <a:solidFill>
                  <a:schemeClr val="accent1"/>
                </a:solidFill>
              </a:rPr>
              <a:t>ACTIVITY 1 · 65 MINUTES · HANDS-ON</a:t>
            </a:r>
            <a:endParaRPr lang="en-US" sz="1200" dirty="0"/>
          </a:p>
        </p:txBody>
      </p:sp>
      <p:sp>
        <p:nvSpPr>
          <p:cNvPr id="3" name="Text 1"/>
          <p:cNvSpPr/>
          <p:nvPr>
            <p:ph idx="102" type="title" hasCustomPrompt="1"/>
          </p:nvPr>
        </p:nvSpPr>
        <p:spPr>
          <a:xfrm>
            <a:off x="813816" y="987552"/>
            <a:ext cx="10570464" cy="731520"/>
          </a:xfrm>
          <a:prstGeom prst="rect">
            <a:avLst/>
          </a:prstGeom>
          <a:noFill/>
          <a:ln/>
        </p:spPr>
        <p:txBody>
          <a:bodyPr wrap="square" lIns="0" tIns="0" rIns="0" bIns="0" rtlCol="0" anchor="t"/>
          <a:lstStyle/>
          <a:p>
            <a:pPr algn="l" indent="0" marL="0">
              <a:buNone/>
            </a:pPr>
            <a:r>
              <a:rPr lang="en-US" sz="3600" b="1" dirty="0">
                <a:solidFill>
                  <a:schemeClr val="tx1"/>
                </a:solidFill>
                <a:latin typeface="+mj-lt" pitchFamily="34" charset="0"/>
                <a:ea typeface="+mj-lt" pitchFamily="34" charset="-122"/>
                <a:cs typeface="+mj-lt" pitchFamily="34" charset="-120"/>
              </a:rPr>
              <a:t>Build your course AI Tutor</a:t>
            </a:r>
            <a:endParaRPr lang="en-US" sz="3600" dirty="0"/>
          </a:p>
        </p:txBody>
      </p:sp>
      <p:graphicFrame>
        <p:nvGraphicFramePr>
          <p:cNvPr id="14" name="build steps table"/>
          <p:cNvGraphicFramePr>
            <a:graphicFrameLocks noGrp="1"/>
          </p:cNvGraphicFramePr>
          <p:nvPr>
            <p:extLst>
              <p:ext uri="{D42A27DB-BD31-4B8C-83A1-F6EECF244321}">
                <p14:modId xmlns:p14="http://schemas.microsoft.com/office/powerpoint/2010/main" val="1579011935"/>
              </p:ext>
            </p:extLst>
          </p:nvPr>
        </p:nvGraphicFramePr>
        <p:xfrm>
          <a:off x="813816" y="1874520"/>
          <a:ext cx="10570464" cy="914400"/>
        </p:xfrm>
        <a:graphic>
          <a:graphicData uri="http://schemas.openxmlformats.org/drawingml/2006/table">
            <a:tbl>
              <a:tblPr/>
              <a:tblGrid>
                <a:gridCol w="1188720"/>
                <a:gridCol w="6272784"/>
                <a:gridCol w="3108960"/>
              </a:tblGrid>
              <a:tr h="457200">
                <a:tc>
                  <a:txBody>
                    <a:bodyPr/>
                    <a:lstStyle/>
                    <a:p>
                      <a:pPr indent="0" marL="0">
                        <a:buNone/>
                      </a:pPr>
                      <a:r>
                        <a:rPr lang="en-US" sz="1400" b="1" dirty="0">
                          <a:solidFill>
                            <a:schemeClr val="tx1"/>
                          </a:solidFill>
                        </a:rPr>
                        <a:t>From</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solidFill>
                      <a:schemeClr val="accent6"/>
                    </a:solidFill>
                  </a:tcPr>
                </a:tc>
                <a:tc>
                  <a:txBody>
                    <a:bodyPr/>
                    <a:lstStyle/>
                    <a:p>
                      <a:pPr indent="0" marL="0">
                        <a:buNone/>
                      </a:pPr>
                      <a:r>
                        <a:rPr lang="en-US" sz="1400" b="1" dirty="0">
                          <a:solidFill>
                            <a:schemeClr val="tx1"/>
                          </a:solidFill>
                        </a:rPr>
                        <a:t>Step</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solidFill>
                      <a:schemeClr val="accent6"/>
                    </a:solidFill>
                  </a:tcPr>
                </a:tc>
                <a:tc>
                  <a:txBody>
                    <a:bodyPr/>
                    <a:lstStyle/>
                    <a:p>
                      <a:pPr indent="0" marL="0">
                        <a:buNone/>
                      </a:pPr>
                      <a:r>
                        <a:rPr lang="en-US" sz="1400" b="1" dirty="0">
                          <a:solidFill>
                            <a:schemeClr val="tx1"/>
                          </a:solidFill>
                        </a:rPr>
                        <a:t>Checkpoint</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solidFill>
                      <a:schemeClr val="accent6"/>
                    </a:solidFill>
                  </a:tcPr>
                </a:tc>
              </a:tr>
              <a:tr h="457200">
                <a:tc>
                  <a:txBody>
                    <a:bodyPr/>
                    <a:lstStyle/>
                    <a:p>
                      <a:pPr indent="0" marL="0">
                        <a:buNone/>
                      </a:pPr>
                      <a:r>
                        <a:rPr lang="en-US" sz="1400" dirty="0">
                          <a:solidFill>
                            <a:schemeClr val="tx1"/>
                          </a:solidFill>
                        </a:rPr>
                        <a:t>1:10</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Sign in, Create › New agent, Configure tab, name it</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Editor is open</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457200">
                <a:tc>
                  <a:txBody>
                    <a:bodyPr/>
                    <a:lstStyle/>
                    <a:p>
                      <a:pPr indent="0" marL="0">
                        <a:buNone/>
                      </a:pPr>
                      <a:r>
                        <a:rPr lang="en-US" sz="1400" dirty="0">
                          <a:solidFill>
                            <a:schemeClr val="tx1"/>
                          </a:solidFill>
                        </a:rPr>
                        <a:t>1:17</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Paste Template 1 + your module; fill every [bracket]</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No brackets left</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457200">
                <a:tc>
                  <a:txBody>
                    <a:bodyPr/>
                    <a:lstStyle/>
                    <a:p>
                      <a:pPr indent="0" marL="0">
                        <a:buNone/>
                      </a:pPr>
                      <a:r>
                        <a:rPr lang="en-US" sz="1400" dirty="0">
                          <a:solidFill>
                            <a:schemeClr val="tx1"/>
                          </a:solidFill>
                        </a:rPr>
                        <a:t>1:32</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Upload your outline; turn web search off</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Knowledge shows Ready</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457200">
                <a:tc>
                  <a:txBody>
                    <a:bodyPr/>
                    <a:lstStyle/>
                    <a:p>
                      <a:pPr indent="0" marL="0">
                        <a:buNone/>
                      </a:pPr>
                      <a:r>
                        <a:rPr lang="en-US" sz="1400" dirty="0">
                          <a:solidFill>
                            <a:schemeClr val="tx1"/>
                          </a:solidFill>
                        </a:rPr>
                        <a:t>1:40</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Add 3–4 conversation starters</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Starters show</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457200">
                <a:tc>
                  <a:txBody>
                    <a:bodyPr/>
                    <a:lstStyle/>
                    <a:p>
                      <a:pPr indent="0" marL="0">
                        <a:buNone/>
                      </a:pPr>
                      <a:r>
                        <a:rPr lang="en-US" sz="1400" dirty="0">
                          <a:solidFill>
                            <a:schemeClr val="tx1"/>
                          </a:solidFill>
                        </a:rPr>
                        <a:t>1:43</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Run the five tests</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Failures noted</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457200">
                <a:tc>
                  <a:txBody>
                    <a:bodyPr/>
                    <a:lstStyle/>
                    <a:p>
                      <a:pPr indent="0" marL="0">
                        <a:buNone/>
                      </a:pPr>
                      <a:r>
                        <a:rPr lang="en-US" sz="1400" dirty="0">
                          <a:solidFill>
                            <a:schemeClr val="tx1"/>
                          </a:solidFill>
                        </a:rPr>
                        <a:t>1:58</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Fix the instructions; test again</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All five pass</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457200">
                <a:tc>
                  <a:txBody>
                    <a:bodyPr/>
                    <a:lstStyle/>
                    <a:p>
                      <a:pPr indent="0" marL="0">
                        <a:buNone/>
                      </a:pPr>
                      <a:r>
                        <a:rPr lang="en-US" sz="1400" dirty="0">
                          <a:solidFill>
                            <a:schemeClr val="tx1"/>
                          </a:solidFill>
                        </a:rPr>
                        <a:t>2:08</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No authentication, Publish, open demo link</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Link opens</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561320" y="6291072"/>
            <a:ext cx="8229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813816" y="987552"/>
            <a:ext cx="10570464" cy="731520"/>
          </a:xfrm>
          <a:prstGeom prst="rect">
            <a:avLst/>
          </a:prstGeom>
          <a:noFill/>
          <a:ln/>
        </p:spPr>
        <p:txBody>
          <a:bodyPr wrap="square" lIns="0" tIns="0" rIns="0" bIns="0" rtlCol="0" anchor="t"/>
          <a:lstStyle/>
          <a:p>
            <a:pPr algn="l" indent="0" marL="0">
              <a:buNone/>
            </a:pPr>
            <a:r>
              <a:rPr lang="en-US" sz="3600" b="1" dirty="0">
                <a:solidFill>
                  <a:schemeClr val="tx1"/>
                </a:solidFill>
                <a:latin typeface="+mj-lt" pitchFamily="34" charset="0"/>
                <a:ea typeface="+mj-lt" pitchFamily="34" charset="-122"/>
                <a:cs typeface="+mj-lt" pitchFamily="34" charset="-120"/>
              </a:rPr>
              <a:t>Five tests your tutor must pass</a:t>
            </a:r>
            <a:endParaRPr lang="en-US" sz="3600" dirty="0"/>
          </a:p>
        </p:txBody>
      </p:sp>
      <p:graphicFrame>
        <p:nvGraphicFramePr>
          <p:cNvPr id="15" name="tests table"/>
          <p:cNvGraphicFramePr>
            <a:graphicFrameLocks noGrp="1"/>
          </p:cNvGraphicFramePr>
          <p:nvPr>
            <p:extLst>
              <p:ext uri="{D42A27DB-BD31-4B8C-83A1-F6EECF244321}">
                <p14:modId xmlns:p14="http://schemas.microsoft.com/office/powerpoint/2010/main" val="1579011935"/>
              </p:ext>
            </p:extLst>
          </p:nvPr>
        </p:nvGraphicFramePr>
        <p:xfrm>
          <a:off x="813816" y="1874520"/>
          <a:ext cx="10570464" cy="914400"/>
        </p:xfrm>
        <a:graphic>
          <a:graphicData uri="http://schemas.openxmlformats.org/drawingml/2006/table">
            <a:tbl>
              <a:tblPr/>
              <a:tblGrid>
                <a:gridCol w="2377440"/>
                <a:gridCol w="4572000"/>
                <a:gridCol w="3621024"/>
              </a:tblGrid>
              <a:tr h="640080">
                <a:tc>
                  <a:txBody>
                    <a:bodyPr/>
                    <a:lstStyle/>
                    <a:p>
                      <a:pPr indent="0" marL="0">
                        <a:buNone/>
                      </a:pPr>
                      <a:r>
                        <a:rPr lang="en-US" sz="1400" b="1" dirty="0">
                          <a:solidFill>
                            <a:schemeClr val="tx1"/>
                          </a:solidFill>
                        </a:rPr>
                        <a:t>Test</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solidFill>
                      <a:schemeClr val="accent6"/>
                    </a:solidFill>
                  </a:tcPr>
                </a:tc>
                <a:tc>
                  <a:txBody>
                    <a:bodyPr/>
                    <a:lstStyle/>
                    <a:p>
                      <a:pPr indent="0" marL="0">
                        <a:buNone/>
                      </a:pPr>
                      <a:r>
                        <a:rPr lang="en-US" sz="1400" b="1" dirty="0">
                          <a:solidFill>
                            <a:schemeClr val="tx1"/>
                          </a:solidFill>
                        </a:rPr>
                        <a:t>Type this</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solidFill>
                      <a:schemeClr val="accent6"/>
                    </a:solidFill>
                  </a:tcPr>
                </a:tc>
                <a:tc>
                  <a:txBody>
                    <a:bodyPr/>
                    <a:lstStyle/>
                    <a:p>
                      <a:pPr indent="0" marL="0">
                        <a:buNone/>
                      </a:pPr>
                      <a:r>
                        <a:rPr lang="en-US" sz="1400" b="1" dirty="0">
                          <a:solidFill>
                            <a:schemeClr val="tx1"/>
                          </a:solidFill>
                        </a:rPr>
                        <a:t>A good tutor…</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solidFill>
                      <a:schemeClr val="accent6"/>
                    </a:solidFill>
                  </a:tcPr>
                </a:tc>
              </a:tr>
              <a:tr h="640080">
                <a:tc>
                  <a:txBody>
                    <a:bodyPr/>
                    <a:lstStyle/>
                    <a:p>
                      <a:pPr indent="0" marL="0">
                        <a:buNone/>
                      </a:pPr>
                      <a:r>
                        <a:rPr lang="en-US" sz="1400" b="1" dirty="0">
                          <a:solidFill>
                            <a:schemeClr val="tx1"/>
                          </a:solidFill>
                        </a:rPr>
                        <a:t>Answer grab</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“Just give me the answer to question 2 of the assignment.”</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Declines, asks what you tried</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640080">
                <a:tc>
                  <a:txBody>
                    <a:bodyPr/>
                    <a:lstStyle/>
                    <a:p>
                      <a:pPr indent="0" marL="0">
                        <a:buNone/>
                      </a:pPr>
                      <a:r>
                        <a:rPr lang="en-US" sz="1400" b="1" dirty="0">
                          <a:solidFill>
                            <a:schemeClr val="tx1"/>
                          </a:solidFill>
                        </a:rPr>
                        <a:t>Confusion</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“I don’t understand [core concept].”</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Asks a guiding question first</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640080">
                <a:tc>
                  <a:txBody>
                    <a:bodyPr/>
                    <a:lstStyle/>
                    <a:p>
                      <a:pPr indent="0" marL="0">
                        <a:buNone/>
                      </a:pPr>
                      <a:r>
                        <a:rPr lang="en-US" sz="1400" b="1" dirty="0">
                          <a:solidFill>
                            <a:schemeClr val="tx1"/>
                          </a:solidFill>
                        </a:rPr>
                        <a:t>Wrong idea</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State a common misconception as fact</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Questions it without saying “wrong”</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640080">
                <a:tc>
                  <a:txBody>
                    <a:bodyPr/>
                    <a:lstStyle/>
                    <a:p>
                      <a:pPr indent="0" marL="0">
                        <a:buNone/>
                      </a:pPr>
                      <a:r>
                        <a:rPr lang="en-US" sz="1400" b="1" dirty="0">
                          <a:solidFill>
                            <a:schemeClr val="tx1"/>
                          </a:solidFill>
                        </a:rPr>
                        <a:t>Off-topic</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“Write me a cover letter.”</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Steers back to the course</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640080">
                <a:tc>
                  <a:txBody>
                    <a:bodyPr/>
                    <a:lstStyle/>
                    <a:p>
                      <a:pPr indent="0" marL="0">
                        <a:buNone/>
                      </a:pPr>
                      <a:r>
                        <a:rPr lang="en-US" sz="1400" b="1" dirty="0">
                          <a:solidFill>
                            <a:schemeClr val="tx1"/>
                          </a:solidFill>
                        </a:rPr>
                        <a:t>Outside its knowledge</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Ask about a topic not in your outline</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Says it isn’t sure; refers you to the instructor</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bl>
          </a:graphicData>
        </a:graphic>
      </p:graphicFrame>
      <p:sp>
        <p:nvSpPr>
          <p:cNvPr id="5" name="Text 1"/>
          <p:cNvSpPr/>
          <p:nvPr>
            <p:ph idx="101" type="body" hasCustomPrompt="1"/>
          </p:nvPr>
        </p:nvSpPr>
        <p:spPr>
          <a:xfrm>
            <a:off x="813816" y="640080"/>
            <a:ext cx="10570464" cy="320040"/>
          </a:xfrm>
          <a:prstGeom prst="rect">
            <a:avLst/>
          </a:prstGeom>
          <a:noFill/>
          <a:ln/>
        </p:spPr>
        <p:txBody>
          <a:bodyPr wrap="square" lIns="0" tIns="0" rIns="0" bIns="0" rtlCol="0" anchor="t"/>
          <a:lstStyle/>
          <a:p>
            <a:pPr indent="0" marL="0">
              <a:buNone/>
            </a:pPr>
            <a:endParaRPr lang="en-US" sz="1200" dirty="0"/>
          </a:p>
        </p:txBody>
      </p:sp>
      <p:sp>
        <p:nvSpPr>
          <p:cNvPr id="25" name="Slide Number Placeholder 0"/>
          <p:cNvSpPr>
            <a:spLocks noGrp="1"/>
          </p:cNvSpPr>
          <p:nvPr>
            <p:ph type="sldNum" sz="quarter" idx="4294967295"/>
          </p:nvPr>
        </p:nvSpPr>
        <p:spPr>
          <a:xfrm>
            <a:off x="10561320" y="6291072"/>
            <a:ext cx="8229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txBox="1"/>
          <p:nvPr/>
        </p:nvSpPr>
        <p:spPr>
          <a:xfrm>
            <a:off x="813816" y="1463040"/>
            <a:ext cx="10570464" cy="365760"/>
          </a:xfrm>
          <a:prstGeom prst="rect">
            <a:avLst/>
          </a:prstGeom>
          <a:noFill/>
          <a:ln/>
        </p:spPr>
        <p:txBody>
          <a:bodyPr wrap="square" lIns="0" tIns="0" rIns="0" bIns="0" rtlCol="0" anchor="t"/>
          <a:lstStyle/>
          <a:p>
            <a:pPr indent="0" marL="0">
              <a:buNone/>
            </a:pPr>
            <a:r>
              <a:rPr lang="en-US" sz="1400" b="1" spc="400" kern="0" dirty="0">
                <a:solidFill>
                  <a:schemeClr val="accent2"/>
                </a:solidFill>
              </a:rPr>
              <a:t>CHECKPOINT</a:t>
            </a:r>
            <a:endParaRPr lang="en-US" sz="1400" dirty="0"/>
          </a:p>
        </p:txBody>
      </p:sp>
      <p:sp>
        <p:nvSpPr>
          <p:cNvPr id="4" name="Text 1"/>
          <p:cNvSpPr txBox="1"/>
          <p:nvPr/>
        </p:nvSpPr>
        <p:spPr>
          <a:xfrm>
            <a:off x="813816" y="1920240"/>
            <a:ext cx="10570464" cy="914400"/>
          </a:xfrm>
          <a:prstGeom prst="rect">
            <a:avLst/>
          </a:prstGeom>
          <a:noFill/>
          <a:ln/>
        </p:spPr>
        <p:txBody>
          <a:bodyPr wrap="square" lIns="0" tIns="0" rIns="0" bIns="0" rtlCol="0" anchor="t"/>
          <a:lstStyle/>
          <a:p>
            <a:pPr indent="0" marL="0">
              <a:buNone/>
            </a:pPr>
            <a:r>
              <a:rPr lang="en-US" sz="4800" b="1" dirty="0">
                <a:solidFill>
                  <a:schemeClr val="bg1"/>
                </a:solidFill>
                <a:latin typeface="+mj-lt" pitchFamily="34" charset="0"/>
                <a:ea typeface="+mj-lt" pitchFamily="34" charset="-122"/>
                <a:cs typeface="+mj-lt" pitchFamily="34" charset="-120"/>
              </a:rPr>
              <a:t>Next checkpoint: [__:__]</a:t>
            </a:r>
            <a:endParaRPr lang="en-US" sz="4800" dirty="0"/>
          </a:p>
        </p:txBody>
      </p:sp>
      <p:sp>
        <p:nvSpPr>
          <p:cNvPr id="5" name="Green card = done"/>
          <p:cNvSpPr/>
          <p:nvPr/>
        </p:nvSpPr>
        <p:spPr>
          <a:xfrm>
            <a:off x="813816" y="3246120"/>
            <a:ext cx="5102352" cy="1371600"/>
          </a:xfrm>
          <a:prstGeom prst="roundRect">
            <a:avLst>
              <a:gd name="adj" fmla="val 10667"/>
            </a:avLst>
          </a:prstGeom>
          <a:solidFill>
            <a:schemeClr val="accent3"/>
          </a:solidFill>
          <a:ln/>
        </p:spPr>
      </p:sp>
      <p:pic>
        <p:nvPicPr>
          <p:cNvPr id="6" name="Green card = done icon" descr="preencoded.png">    </p:cNvPr>
          <p:cNvPicPr>
            <a:picLocks noChangeAspect="1"/>
          </p:cNvPicPr>
          <p:nvPr/>
        </p:nvPicPr>
        <p:blipFill>
          <a:blip r:embed="rId1"/>
          <a:stretch>
            <a:fillRect/>
          </a:stretch>
        </p:blipFill>
        <p:spPr>
          <a:xfrm>
            <a:off x="1225296" y="3657600"/>
            <a:ext cx="548640" cy="548640"/>
          </a:xfrm>
          <a:prstGeom prst="rect">
            <a:avLst/>
          </a:prstGeom>
        </p:spPr>
      </p:pic>
      <p:sp>
        <p:nvSpPr>
          <p:cNvPr id="7" name="Text 3"/>
          <p:cNvSpPr txBox="1"/>
          <p:nvPr/>
        </p:nvSpPr>
        <p:spPr>
          <a:xfrm>
            <a:off x="2093976" y="3246120"/>
            <a:ext cx="3639312" cy="1371600"/>
          </a:xfrm>
          <a:prstGeom prst="rect">
            <a:avLst/>
          </a:prstGeom>
          <a:noFill/>
          <a:ln/>
        </p:spPr>
        <p:txBody>
          <a:bodyPr wrap="square" lIns="0" tIns="0" rIns="0" bIns="0" rtlCol="0" anchor="ctr"/>
          <a:lstStyle/>
          <a:p>
            <a:pPr indent="0" marL="0">
              <a:buNone/>
            </a:pPr>
            <a:r>
              <a:rPr lang="en-US" sz="2600" b="1" dirty="0">
                <a:solidFill>
                  <a:schemeClr val="bg1"/>
                </a:solidFill>
              </a:rPr>
              <a:t>Green card = done</a:t>
            </a:r>
            <a:endParaRPr lang="en-US" sz="2600" dirty="0"/>
          </a:p>
        </p:txBody>
      </p:sp>
      <p:sp>
        <p:nvSpPr>
          <p:cNvPr id="8" name="Red card = stuck"/>
          <p:cNvSpPr/>
          <p:nvPr/>
        </p:nvSpPr>
        <p:spPr>
          <a:xfrm>
            <a:off x="6281928" y="3246120"/>
            <a:ext cx="5102352" cy="1371600"/>
          </a:xfrm>
          <a:prstGeom prst="roundRect">
            <a:avLst>
              <a:gd name="adj" fmla="val 10667"/>
            </a:avLst>
          </a:prstGeom>
          <a:solidFill>
            <a:schemeClr val="accent4"/>
          </a:solidFill>
          <a:ln/>
        </p:spPr>
      </p:sp>
      <p:pic>
        <p:nvPicPr>
          <p:cNvPr id="9" name="Red card = stuck icon" descr="preencoded.png">    </p:cNvPr>
          <p:cNvPicPr>
            <a:picLocks noChangeAspect="1"/>
          </p:cNvPicPr>
          <p:nvPr/>
        </p:nvPicPr>
        <p:blipFill>
          <a:blip r:embed="rId2"/>
          <a:stretch>
            <a:fillRect/>
          </a:stretch>
        </p:blipFill>
        <p:spPr>
          <a:xfrm>
            <a:off x="6693408" y="3657600"/>
            <a:ext cx="548640" cy="548640"/>
          </a:xfrm>
          <a:prstGeom prst="rect">
            <a:avLst/>
          </a:prstGeom>
        </p:spPr>
      </p:pic>
      <p:sp>
        <p:nvSpPr>
          <p:cNvPr id="10" name="Text 5"/>
          <p:cNvSpPr txBox="1"/>
          <p:nvPr/>
        </p:nvSpPr>
        <p:spPr>
          <a:xfrm>
            <a:off x="7562088" y="3246120"/>
            <a:ext cx="3639312" cy="1371600"/>
          </a:xfrm>
          <a:prstGeom prst="rect">
            <a:avLst/>
          </a:prstGeom>
          <a:noFill/>
          <a:ln/>
        </p:spPr>
        <p:txBody>
          <a:bodyPr wrap="square" lIns="0" tIns="0" rIns="0" bIns="0" rtlCol="0" anchor="ctr"/>
          <a:lstStyle/>
          <a:p>
            <a:pPr indent="0" marL="0">
              <a:buNone/>
            </a:pPr>
            <a:r>
              <a:rPr lang="en-US" sz="2600" b="1" dirty="0">
                <a:solidFill>
                  <a:schemeClr val="bg1"/>
                </a:solidFill>
              </a:rPr>
              <a:t>Red card = stuck</a:t>
            </a:r>
            <a:endParaRPr lang="en-US" sz="2600" dirty="0"/>
          </a:p>
        </p:txBody>
      </p:sp>
      <p:sp>
        <p:nvSpPr>
          <p:cNvPr id="11" name="Text 6"/>
          <p:cNvSpPr txBox="1"/>
          <p:nvPr/>
        </p:nvSpPr>
        <p:spPr>
          <a:xfrm>
            <a:off x="813816" y="4983480"/>
            <a:ext cx="10570464" cy="457200"/>
          </a:xfrm>
          <a:prstGeom prst="rect">
            <a:avLst/>
          </a:prstGeom>
          <a:noFill/>
          <a:ln/>
        </p:spPr>
        <p:txBody>
          <a:bodyPr wrap="square" lIns="0" tIns="0" rIns="0" bIns="0" rtlCol="0" anchor="t"/>
          <a:lstStyle/>
          <a:p>
            <a:pPr indent="0" marL="0">
              <a:buNone/>
            </a:pPr>
            <a:r>
              <a:rPr lang="en-US" sz="1800" dirty="0">
                <a:solidFill>
                  <a:srgbClr val="C9D2DC"/>
                </a:solidFill>
              </a:rPr>
              <a:t>Helpers go to red cards first.</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813816" y="640080"/>
            <a:ext cx="10570464" cy="320040"/>
          </a:xfrm>
          <a:prstGeom prst="rect">
            <a:avLst/>
          </a:prstGeom>
          <a:noFill/>
          <a:ln/>
        </p:spPr>
        <p:txBody>
          <a:bodyPr wrap="square" lIns="0" tIns="0" rIns="0" bIns="0" rtlCol="0" anchor="t"/>
          <a:lstStyle/>
          <a:p>
            <a:pPr indent="0" marL="0">
              <a:buNone/>
            </a:pPr>
            <a:r>
              <a:rPr lang="en-US" sz="1200" b="1" spc="300" kern="0" dirty="0">
                <a:solidFill>
                  <a:schemeClr val="accent1"/>
                </a:solidFill>
              </a:rPr>
              <a:t>SHARING · 3–4 VOLUNTEERS · 3 MINUTES EACH</a:t>
            </a:r>
            <a:endParaRPr lang="en-US" sz="1200" dirty="0"/>
          </a:p>
        </p:txBody>
      </p:sp>
      <p:sp>
        <p:nvSpPr>
          <p:cNvPr id="3" name="Text 1"/>
          <p:cNvSpPr/>
          <p:nvPr>
            <p:ph idx="102" type="title" hasCustomPrompt="1"/>
          </p:nvPr>
        </p:nvSpPr>
        <p:spPr>
          <a:xfrm>
            <a:off x="813816" y="987552"/>
            <a:ext cx="10570464" cy="731520"/>
          </a:xfrm>
          <a:prstGeom prst="rect">
            <a:avLst/>
          </a:prstGeom>
          <a:noFill/>
          <a:ln/>
        </p:spPr>
        <p:txBody>
          <a:bodyPr wrap="square" lIns="0" tIns="0" rIns="0" bIns="0" rtlCol="0" anchor="t"/>
          <a:lstStyle/>
          <a:p>
            <a:pPr algn="l" indent="0" marL="0">
              <a:buNone/>
            </a:pPr>
            <a:r>
              <a:rPr lang="en-US" sz="3600" b="1" dirty="0">
                <a:solidFill>
                  <a:schemeClr val="tx1"/>
                </a:solidFill>
                <a:latin typeface="+mj-lt" pitchFamily="34" charset="0"/>
                <a:ea typeface="+mj-lt" pitchFamily="34" charset="-122"/>
                <a:cs typeface="+mj-lt" pitchFamily="34" charset="-120"/>
              </a:rPr>
              <a:t>Show us your tutor</a:t>
            </a:r>
            <a:endParaRPr lang="en-US" sz="3600" dirty="0"/>
          </a:p>
        </p:txBody>
      </p:sp>
      <p:sp>
        <p:nvSpPr>
          <p:cNvPr id="5" name="question 1"/>
          <p:cNvSpPr/>
          <p:nvPr/>
        </p:nvSpPr>
        <p:spPr>
          <a:xfrm>
            <a:off x="813816" y="2194560"/>
            <a:ext cx="5102352" cy="2377440"/>
          </a:xfrm>
          <a:prstGeom prst="roundRect">
            <a:avLst>
              <a:gd name="adj" fmla="val 4615"/>
            </a:avLst>
          </a:prstGeom>
          <a:solidFill>
            <a:schemeClr val="bg1"/>
          </a:solidFill>
          <a:ln w="9525">
            <a:solidFill>
              <a:srgbClr val="DDD7CB"/>
            </a:solidFill>
            <a:prstDash val="solid"/>
          </a:ln>
        </p:spPr>
      </p:sp>
      <p:sp>
        <p:nvSpPr>
          <p:cNvPr id="6" name="Text 3"/>
          <p:cNvSpPr txBox="1"/>
          <p:nvPr/>
        </p:nvSpPr>
        <p:spPr>
          <a:xfrm>
            <a:off x="1225296" y="2194560"/>
            <a:ext cx="4279392" cy="2377440"/>
          </a:xfrm>
          <a:prstGeom prst="rect">
            <a:avLst/>
          </a:prstGeom>
          <a:noFill/>
          <a:ln/>
        </p:spPr>
        <p:txBody>
          <a:bodyPr wrap="square" lIns="0" tIns="0" rIns="0" bIns="0" rtlCol="0" anchor="ctr"/>
          <a:lstStyle/>
          <a:p>
            <a:pPr indent="0" marL="0">
              <a:buNone/>
            </a:pPr>
            <a:r>
              <a:rPr lang="en-US" sz="2400" dirty="0">
                <a:solidFill>
                  <a:schemeClr val="tx1"/>
                </a:solidFill>
                <a:latin typeface="+mj-lt" pitchFamily="34" charset="0"/>
                <a:ea typeface="+mj-lt" pitchFamily="34" charset="-122"/>
                <a:cs typeface="+mj-lt" pitchFamily="34" charset="-120"/>
              </a:rPr>
              <a:t>What did your tutor get wrong first, and what line fixed it?</a:t>
            </a:r>
            <a:endParaRPr lang="en-US" sz="2400" dirty="0"/>
          </a:p>
        </p:txBody>
      </p:sp>
      <p:sp>
        <p:nvSpPr>
          <p:cNvPr id="7" name="question 2"/>
          <p:cNvSpPr/>
          <p:nvPr/>
        </p:nvSpPr>
        <p:spPr>
          <a:xfrm>
            <a:off x="6281928" y="2194560"/>
            <a:ext cx="5102352" cy="2377440"/>
          </a:xfrm>
          <a:prstGeom prst="roundRect">
            <a:avLst>
              <a:gd name="adj" fmla="val 4615"/>
            </a:avLst>
          </a:prstGeom>
          <a:solidFill>
            <a:schemeClr val="bg1"/>
          </a:solidFill>
          <a:ln w="9525">
            <a:solidFill>
              <a:srgbClr val="DDD7CB"/>
            </a:solidFill>
            <a:prstDash val="solid"/>
          </a:ln>
        </p:spPr>
      </p:sp>
      <p:sp>
        <p:nvSpPr>
          <p:cNvPr id="8" name="Text 5"/>
          <p:cNvSpPr txBox="1"/>
          <p:nvPr/>
        </p:nvSpPr>
        <p:spPr>
          <a:xfrm>
            <a:off x="6693408" y="2194560"/>
            <a:ext cx="4279392" cy="2377440"/>
          </a:xfrm>
          <a:prstGeom prst="rect">
            <a:avLst/>
          </a:prstGeom>
          <a:noFill/>
          <a:ln/>
        </p:spPr>
        <p:txBody>
          <a:bodyPr wrap="square" lIns="0" tIns="0" rIns="0" bIns="0" rtlCol="0" anchor="ctr"/>
          <a:lstStyle/>
          <a:p>
            <a:pPr indent="0" marL="0">
              <a:buNone/>
            </a:pPr>
            <a:r>
              <a:rPr lang="en-US" sz="2400" dirty="0">
                <a:solidFill>
                  <a:schemeClr val="tx1"/>
                </a:solidFill>
                <a:latin typeface="+mj-lt" pitchFamily="34" charset="0"/>
                <a:ea typeface="+mj-lt" pitchFamily="34" charset="-122"/>
                <a:cs typeface="+mj-lt" pitchFamily="34" charset="-120"/>
              </a:rPr>
              <a:t>Which student in your class will use this most?</a:t>
            </a:r>
            <a:endParaRPr lang="en-US" sz="2400" dirty="0"/>
          </a:p>
        </p:txBody>
      </p:sp>
      <p:sp>
        <p:nvSpPr>
          <p:cNvPr id="25" name="Slide Number Placeholder 0"/>
          <p:cNvSpPr>
            <a:spLocks noGrp="1"/>
          </p:cNvSpPr>
          <p:nvPr>
            <p:ph type="sldNum" sz="quarter" idx="4294967295"/>
          </p:nvPr>
        </p:nvSpPr>
        <p:spPr>
          <a:xfrm>
            <a:off x="10561320" y="6291072"/>
            <a:ext cx="8229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813816" y="640080"/>
            <a:ext cx="10570464" cy="320040"/>
          </a:xfrm>
          <a:prstGeom prst="rect">
            <a:avLst/>
          </a:prstGeom>
          <a:noFill/>
          <a:ln/>
        </p:spPr>
        <p:txBody>
          <a:bodyPr wrap="square" lIns="0" tIns="0" rIns="0" bIns="0" rtlCol="0" anchor="t"/>
          <a:lstStyle/>
          <a:p>
            <a:pPr indent="0" marL="0">
              <a:buNone/>
            </a:pPr>
            <a:r>
              <a:rPr lang="en-US" sz="1200" b="1" spc="300" kern="0" dirty="0">
                <a:solidFill>
                  <a:schemeClr val="accent1"/>
                </a:solidFill>
              </a:rPr>
              <a:t>ACTIVITY 2 · 50 MINUTES · PICK 2–3</a:t>
            </a:r>
            <a:endParaRPr lang="en-US" sz="1200" dirty="0"/>
          </a:p>
        </p:txBody>
      </p:sp>
      <p:sp>
        <p:nvSpPr>
          <p:cNvPr id="3" name="Text 1"/>
          <p:cNvSpPr/>
          <p:nvPr>
            <p:ph idx="102" type="title" hasCustomPrompt="1"/>
          </p:nvPr>
        </p:nvSpPr>
        <p:spPr>
          <a:xfrm>
            <a:off x="813816" y="987552"/>
            <a:ext cx="10570464" cy="731520"/>
          </a:xfrm>
          <a:prstGeom prst="rect">
            <a:avLst/>
          </a:prstGeom>
          <a:noFill/>
          <a:ln/>
        </p:spPr>
        <p:txBody>
          <a:bodyPr wrap="square" lIns="0" tIns="0" rIns="0" bIns="0" rtlCol="0" anchor="t"/>
          <a:lstStyle/>
          <a:p>
            <a:pPr algn="l" indent="0" marL="0">
              <a:buNone/>
            </a:pPr>
            <a:r>
              <a:rPr lang="en-US" sz="3600" b="1" dirty="0">
                <a:solidFill>
                  <a:schemeClr val="tx1"/>
                </a:solidFill>
                <a:latin typeface="+mj-lt" pitchFamily="34" charset="0"/>
                <a:ea typeface="+mj-lt" pitchFamily="34" charset="-122"/>
                <a:cs typeface="+mj-lt" pitchFamily="34" charset="-120"/>
              </a:rPr>
              <a:t>Create teaching materials with AI</a:t>
            </a:r>
            <a:endParaRPr lang="en-US" sz="3600" dirty="0"/>
          </a:p>
        </p:txBody>
      </p:sp>
      <p:graphicFrame>
        <p:nvGraphicFramePr>
          <p:cNvPr id="18" name="task menu table"/>
          <p:cNvGraphicFramePr>
            <a:graphicFrameLocks noGrp="1"/>
          </p:cNvGraphicFramePr>
          <p:nvPr>
            <p:extLst>
              <p:ext uri="{D42A27DB-BD31-4B8C-83A1-F6EECF244321}">
                <p14:modId xmlns:p14="http://schemas.microsoft.com/office/powerpoint/2010/main" val="1579011935"/>
              </p:ext>
            </p:extLst>
          </p:nvPr>
        </p:nvGraphicFramePr>
        <p:xfrm>
          <a:off x="813816" y="1874520"/>
          <a:ext cx="10570464" cy="914400"/>
        </p:xfrm>
        <a:graphic>
          <a:graphicData uri="http://schemas.openxmlformats.org/drawingml/2006/table">
            <a:tbl>
              <a:tblPr/>
              <a:tblGrid>
                <a:gridCol w="640080"/>
                <a:gridCol w="3200400"/>
                <a:gridCol w="4261104"/>
                <a:gridCol w="2468880"/>
              </a:tblGrid>
              <a:tr h="429768">
                <a:tc>
                  <a:txBody>
                    <a:bodyPr/>
                    <a:lstStyle/>
                    <a:p>
                      <a:pPr indent="0" marL="0">
                        <a:buNone/>
                      </a:pPr>
                      <a:r>
                        <a:rPr lang="en-US" sz="1400" b="1" dirty="0">
                          <a:solidFill>
                            <a:schemeClr val="tx1"/>
                          </a:solidFill>
                        </a:rPr>
                        <a:t>#</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solidFill>
                      <a:schemeClr val="accent6"/>
                    </a:solidFill>
                  </a:tcPr>
                </a:tc>
                <a:tc>
                  <a:txBody>
                    <a:bodyPr/>
                    <a:lstStyle/>
                    <a:p>
                      <a:pPr indent="0" marL="0">
                        <a:buNone/>
                      </a:pPr>
                      <a:r>
                        <a:rPr lang="en-US" sz="1400" b="1" dirty="0">
                          <a:solidFill>
                            <a:schemeClr val="tx1"/>
                          </a:solidFill>
                        </a:rPr>
                        <a:t>Task</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solidFill>
                      <a:schemeClr val="accent6"/>
                    </a:solidFill>
                  </a:tcPr>
                </a:tc>
                <a:tc>
                  <a:txBody>
                    <a:bodyPr/>
                    <a:lstStyle/>
                    <a:p>
                      <a:pPr indent="0" marL="0">
                        <a:buNone/>
                      </a:pPr>
                      <a:r>
                        <a:rPr lang="en-US" sz="1400" b="1" dirty="0">
                          <a:solidFill>
                            <a:schemeClr val="tx1"/>
                          </a:solidFill>
                        </a:rPr>
                        <a:t>You get</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solidFill>
                      <a:schemeClr val="accent6"/>
                    </a:solidFill>
                  </a:tcPr>
                </a:tc>
                <a:tc>
                  <a:txBody>
                    <a:bodyPr/>
                    <a:lstStyle/>
                    <a:p>
                      <a:pPr indent="0" marL="0">
                        <a:buNone/>
                      </a:pPr>
                      <a:r>
                        <a:rPr lang="en-US" sz="1400" b="1" dirty="0">
                          <a:solidFill>
                            <a:schemeClr val="tx1"/>
                          </a:solidFill>
                        </a:rPr>
                        <a:t>Tool</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solidFill>
                      <a:schemeClr val="accent6"/>
                    </a:solidFill>
                  </a:tcPr>
                </a:tc>
              </a:tr>
              <a:tr h="429768">
                <a:tc>
                  <a:txBody>
                    <a:bodyPr/>
                    <a:lstStyle/>
                    <a:p>
                      <a:pPr indent="0" marL="0">
                        <a:buNone/>
                      </a:pPr>
                      <a:r>
                        <a:rPr lang="en-US" sz="1400" b="1" dirty="0">
                          <a:solidFill>
                            <a:schemeClr val="accent1"/>
                          </a:solidFill>
                        </a:rPr>
                        <a:t>1</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b="1" dirty="0">
                          <a:solidFill>
                            <a:schemeClr val="tx1"/>
                          </a:solidFill>
                        </a:rPr>
                        <a:t>Course AI Tutor</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A second tutor or section</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Copilot Studio</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429768">
                <a:tc>
                  <a:txBody>
                    <a:bodyPr/>
                    <a:lstStyle/>
                    <a:p>
                      <a:pPr indent="0" marL="0">
                        <a:buNone/>
                      </a:pPr>
                      <a:r>
                        <a:rPr lang="en-US" sz="1400" b="1" dirty="0">
                          <a:solidFill>
                            <a:schemeClr val="accent1"/>
                          </a:solidFill>
                        </a:rPr>
                        <a:t>2</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b="1" dirty="0">
                          <a:solidFill>
                            <a:schemeClr val="tx1"/>
                          </a:solidFill>
                        </a:rPr>
                        <a:t>Assignment + rubric</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Brief + rubric mapped to CLOs</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Any chat tool</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429768">
                <a:tc>
                  <a:txBody>
                    <a:bodyPr/>
                    <a:lstStyle/>
                    <a:p>
                      <a:pPr indent="0" marL="0">
                        <a:buNone/>
                      </a:pPr>
                      <a:r>
                        <a:rPr lang="en-US" sz="1400" b="1" dirty="0">
                          <a:solidFill>
                            <a:schemeClr val="accent1"/>
                          </a:solidFill>
                        </a:rPr>
                        <a:t>3</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b="1" dirty="0">
                          <a:solidFill>
                            <a:schemeClr val="tx1"/>
                          </a:solidFill>
                        </a:rPr>
                        <a:t>Quiz / MCQs</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10 MCQs, key, Sakai import</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Any chat tool</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429768">
                <a:tc>
                  <a:txBody>
                    <a:bodyPr/>
                    <a:lstStyle/>
                    <a:p>
                      <a:pPr indent="0" marL="0">
                        <a:buNone/>
                      </a:pPr>
                      <a:r>
                        <a:rPr lang="en-US" sz="1400" b="1" dirty="0">
                          <a:solidFill>
                            <a:schemeClr val="accent1"/>
                          </a:solidFill>
                        </a:rPr>
                        <a:t>4</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b="1" dirty="0">
                          <a:solidFill>
                            <a:schemeClr val="tx1"/>
                          </a:solidFill>
                        </a:rPr>
                        <a:t>Lecture slides</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Outline, slide text, notes</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Any chat tool</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429768">
                <a:tc>
                  <a:txBody>
                    <a:bodyPr/>
                    <a:lstStyle/>
                    <a:p>
                      <a:pPr indent="0" marL="0">
                        <a:buNone/>
                      </a:pPr>
                      <a:r>
                        <a:rPr lang="en-US" sz="1400" b="1" dirty="0">
                          <a:solidFill>
                            <a:schemeClr val="accent1"/>
                          </a:solidFill>
                        </a:rPr>
                        <a:t>5</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b="1" dirty="0">
                          <a:solidFill>
                            <a:schemeClr val="tx1"/>
                          </a:solidFill>
                        </a:rPr>
                        <a:t>Case study</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Local case + teaching note</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Any chat tool</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429768">
                <a:tc>
                  <a:txBody>
                    <a:bodyPr/>
                    <a:lstStyle/>
                    <a:p>
                      <a:pPr indent="0" marL="0">
                        <a:buNone/>
                      </a:pPr>
                      <a:r>
                        <a:rPr lang="en-US" sz="1400" b="1" dirty="0">
                          <a:solidFill>
                            <a:schemeClr val="accent1"/>
                          </a:solidFill>
                        </a:rPr>
                        <a:t>6</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b="1" dirty="0">
                          <a:solidFill>
                            <a:schemeClr val="tx1"/>
                          </a:solidFill>
                        </a:rPr>
                        <a:t>Role-play agent</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A client, manager or witness</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Copilot Studio</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429768">
                <a:tc>
                  <a:txBody>
                    <a:bodyPr/>
                    <a:lstStyle/>
                    <a:p>
                      <a:pPr indent="0" marL="0">
                        <a:buNone/>
                      </a:pPr>
                      <a:r>
                        <a:rPr lang="en-US" sz="1400" b="1" dirty="0">
                          <a:solidFill>
                            <a:schemeClr val="accent1"/>
                          </a:solidFill>
                        </a:rPr>
                        <a:t>7</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b="1" dirty="0">
                          <a:solidFill>
                            <a:schemeClr val="tx1"/>
                          </a:solidFill>
                        </a:rPr>
                        <a:t>Survey or poll</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Mid-term survey + class polls</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Any chat tool</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429768">
                <a:tc>
                  <a:txBody>
                    <a:bodyPr/>
                    <a:lstStyle/>
                    <a:p>
                      <a:pPr indent="0" marL="0">
                        <a:buNone/>
                      </a:pPr>
                      <a:r>
                        <a:rPr lang="en-US" sz="1400" b="1" dirty="0">
                          <a:solidFill>
                            <a:schemeClr val="accent1"/>
                          </a:solidFill>
                        </a:rPr>
                        <a:t>8</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b="1" dirty="0">
                          <a:solidFill>
                            <a:schemeClr val="tx1"/>
                          </a:solidFill>
                        </a:rPr>
                        <a:t>Office hours / FAQ</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Answers logistics from your outline</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Copilot Studio</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561320" y="6291072"/>
            <a:ext cx="8229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0"/>
          <p:cNvSpPr txBox="1"/>
          <p:nvPr/>
        </p:nvSpPr>
        <p:spPr>
          <a:xfrm>
            <a:off x="813816" y="1371600"/>
            <a:ext cx="10570464" cy="1097280"/>
          </a:xfrm>
          <a:prstGeom prst="rect">
            <a:avLst/>
          </a:prstGeom>
          <a:noFill/>
          <a:ln/>
        </p:spPr>
        <p:txBody>
          <a:bodyPr wrap="square" lIns="0" tIns="0" rIns="0" bIns="0" rtlCol="0" anchor="t"/>
          <a:lstStyle/>
          <a:p>
            <a:pPr indent="0" marL="0">
              <a:buNone/>
            </a:pPr>
            <a:r>
              <a:rPr lang="en-US" sz="5400" b="1" dirty="0">
                <a:solidFill>
                  <a:schemeClr val="bg1"/>
                </a:solidFill>
                <a:latin typeface="+mj-lt" pitchFamily="34" charset="0"/>
                <a:ea typeface="+mj-lt" pitchFamily="34" charset="-122"/>
                <a:cs typeface="+mj-lt" pitchFamily="34" charset="-120"/>
              </a:rPr>
              <a:t>Every output is a draft</a:t>
            </a:r>
            <a:endParaRPr lang="en-US" sz="5400" dirty="0"/>
          </a:p>
        </p:txBody>
      </p:sp>
      <p:pic>
        <p:nvPicPr>
          <p:cNvPr id="4" name="check icon 1" descr="preencoded.png">    </p:cNvPr>
          <p:cNvPicPr>
            <a:picLocks noChangeAspect="1"/>
          </p:cNvPicPr>
          <p:nvPr/>
        </p:nvPicPr>
        <p:blipFill>
          <a:blip r:embed="rId1"/>
          <a:stretch>
            <a:fillRect/>
          </a:stretch>
        </p:blipFill>
        <p:spPr>
          <a:xfrm>
            <a:off x="813816" y="3200400"/>
            <a:ext cx="457200" cy="457200"/>
          </a:xfrm>
          <a:prstGeom prst="rect">
            <a:avLst/>
          </a:prstGeom>
        </p:spPr>
      </p:pic>
      <p:sp>
        <p:nvSpPr>
          <p:cNvPr id="5" name="Text 1"/>
          <p:cNvSpPr txBox="1"/>
          <p:nvPr/>
        </p:nvSpPr>
        <p:spPr>
          <a:xfrm>
            <a:off x="1545336" y="3108960"/>
            <a:ext cx="4279392" cy="640080"/>
          </a:xfrm>
          <a:prstGeom prst="rect">
            <a:avLst/>
          </a:prstGeom>
          <a:noFill/>
          <a:ln/>
        </p:spPr>
        <p:txBody>
          <a:bodyPr wrap="square" lIns="0" tIns="0" rIns="0" bIns="0" rtlCol="0" anchor="ctr"/>
          <a:lstStyle/>
          <a:p>
            <a:pPr indent="0" marL="0">
              <a:buNone/>
            </a:pPr>
            <a:r>
              <a:rPr lang="en-US" sz="2200" b="1" dirty="0">
                <a:solidFill>
                  <a:schemeClr val="bg1"/>
                </a:solidFill>
              </a:rPr>
              <a:t>Facts</a:t>
            </a:r>
            <a:pPr indent="0" marL="0">
              <a:buNone/>
            </a:pPr>
            <a:r>
              <a:rPr lang="en-US" sz="2200" dirty="0">
                <a:solidFill>
                  <a:schemeClr val="bg1"/>
                </a:solidFill>
              </a:rPr>
              <a:t> and figures are correct</a:t>
            </a:r>
            <a:endParaRPr lang="en-US" sz="2200" dirty="0"/>
          </a:p>
        </p:txBody>
      </p:sp>
      <p:pic>
        <p:nvPicPr>
          <p:cNvPr id="6" name="check icon 2" descr="preencoded.png">    </p:cNvPr>
          <p:cNvPicPr>
            <a:picLocks noChangeAspect="1"/>
          </p:cNvPicPr>
          <p:nvPr/>
        </p:nvPicPr>
        <p:blipFill>
          <a:blip r:embed="rId2"/>
          <a:stretch>
            <a:fillRect/>
          </a:stretch>
        </p:blipFill>
        <p:spPr>
          <a:xfrm>
            <a:off x="6281928" y="3200400"/>
            <a:ext cx="457200" cy="457200"/>
          </a:xfrm>
          <a:prstGeom prst="rect">
            <a:avLst/>
          </a:prstGeom>
        </p:spPr>
      </p:pic>
      <p:sp>
        <p:nvSpPr>
          <p:cNvPr id="7" name="Text 2"/>
          <p:cNvSpPr txBox="1"/>
          <p:nvPr/>
        </p:nvSpPr>
        <p:spPr>
          <a:xfrm>
            <a:off x="7013448" y="3108960"/>
            <a:ext cx="4279392" cy="640080"/>
          </a:xfrm>
          <a:prstGeom prst="rect">
            <a:avLst/>
          </a:prstGeom>
          <a:noFill/>
          <a:ln/>
        </p:spPr>
        <p:txBody>
          <a:bodyPr wrap="square" lIns="0" tIns="0" rIns="0" bIns="0" rtlCol="0" anchor="ctr"/>
          <a:lstStyle/>
          <a:p>
            <a:pPr indent="0" marL="0">
              <a:buNone/>
            </a:pPr>
            <a:r>
              <a:rPr lang="en-US" sz="2200" b="1" dirty="0">
                <a:solidFill>
                  <a:schemeClr val="bg1"/>
                </a:solidFill>
              </a:rPr>
              <a:t>Local context</a:t>
            </a:r>
            <a:pPr indent="0" marL="0">
              <a:buNone/>
            </a:pPr>
            <a:r>
              <a:rPr lang="en-US" sz="2200" dirty="0">
                <a:solidFill>
                  <a:schemeClr val="bg1"/>
                </a:solidFill>
              </a:rPr>
              <a:t>: PKR, SECP, SBP</a:t>
            </a:r>
            <a:endParaRPr lang="en-US" sz="2200" dirty="0"/>
          </a:p>
        </p:txBody>
      </p:sp>
      <p:pic>
        <p:nvPicPr>
          <p:cNvPr id="8" name="check icon 3" descr="preencoded.png">    </p:cNvPr>
          <p:cNvPicPr>
            <a:picLocks noChangeAspect="1"/>
          </p:cNvPicPr>
          <p:nvPr/>
        </p:nvPicPr>
        <p:blipFill>
          <a:blip r:embed="rId3"/>
          <a:stretch>
            <a:fillRect/>
          </a:stretch>
        </p:blipFill>
        <p:spPr>
          <a:xfrm>
            <a:off x="813816" y="4297680"/>
            <a:ext cx="457200" cy="457200"/>
          </a:xfrm>
          <a:prstGeom prst="rect">
            <a:avLst/>
          </a:prstGeom>
        </p:spPr>
      </p:pic>
      <p:sp>
        <p:nvSpPr>
          <p:cNvPr id="9" name="Text 3"/>
          <p:cNvSpPr txBox="1"/>
          <p:nvPr/>
        </p:nvSpPr>
        <p:spPr>
          <a:xfrm>
            <a:off x="1545336" y="4206240"/>
            <a:ext cx="4279392" cy="640080"/>
          </a:xfrm>
          <a:prstGeom prst="rect">
            <a:avLst/>
          </a:prstGeom>
          <a:noFill/>
          <a:ln/>
        </p:spPr>
        <p:txBody>
          <a:bodyPr wrap="square" lIns="0" tIns="0" rIns="0" bIns="0" rtlCol="0" anchor="ctr"/>
          <a:lstStyle/>
          <a:p>
            <a:pPr indent="0" marL="0">
              <a:buNone/>
            </a:pPr>
            <a:r>
              <a:rPr lang="en-US" sz="2200" b="1" dirty="0">
                <a:solidFill>
                  <a:schemeClr val="bg1"/>
                </a:solidFill>
              </a:rPr>
              <a:t>Aligned</a:t>
            </a:r>
            <a:pPr indent="0" marL="0">
              <a:buNone/>
            </a:pPr>
            <a:r>
              <a:rPr lang="en-US" sz="2200" dirty="0">
                <a:solidFill>
                  <a:schemeClr val="bg1"/>
                </a:solidFill>
              </a:rPr>
              <a:t> with your learning outcomes</a:t>
            </a:r>
            <a:endParaRPr lang="en-US" sz="2200" dirty="0"/>
          </a:p>
        </p:txBody>
      </p:sp>
      <p:pic>
        <p:nvPicPr>
          <p:cNvPr id="10" name="check icon 4" descr="preencoded.png">    </p:cNvPr>
          <p:cNvPicPr>
            <a:picLocks noChangeAspect="1"/>
          </p:cNvPicPr>
          <p:nvPr/>
        </p:nvPicPr>
        <p:blipFill>
          <a:blip r:embed="rId4"/>
          <a:stretch>
            <a:fillRect/>
          </a:stretch>
        </p:blipFill>
        <p:spPr>
          <a:xfrm>
            <a:off x="6281928" y="4297680"/>
            <a:ext cx="457200" cy="457200"/>
          </a:xfrm>
          <a:prstGeom prst="rect">
            <a:avLst/>
          </a:prstGeom>
        </p:spPr>
      </p:pic>
      <p:sp>
        <p:nvSpPr>
          <p:cNvPr id="11" name="Text 4"/>
          <p:cNvSpPr txBox="1"/>
          <p:nvPr/>
        </p:nvSpPr>
        <p:spPr>
          <a:xfrm>
            <a:off x="7013448" y="4206240"/>
            <a:ext cx="4279392" cy="640080"/>
          </a:xfrm>
          <a:prstGeom prst="rect">
            <a:avLst/>
          </a:prstGeom>
          <a:noFill/>
          <a:ln/>
        </p:spPr>
        <p:txBody>
          <a:bodyPr wrap="square" lIns="0" tIns="0" rIns="0" bIns="0" rtlCol="0" anchor="ctr"/>
          <a:lstStyle/>
          <a:p>
            <a:pPr indent="0" marL="0">
              <a:buNone/>
            </a:pPr>
            <a:r>
              <a:rPr lang="en-US" sz="2200" b="1" dirty="0">
                <a:solidFill>
                  <a:schemeClr val="bg1"/>
                </a:solidFill>
              </a:rPr>
              <a:t>Balanced</a:t>
            </a:r>
            <a:pPr indent="0" marL="0">
              <a:buNone/>
            </a:pPr>
            <a:r>
              <a:rPr lang="en-US" sz="2200" dirty="0">
                <a:solidFill>
                  <a:schemeClr val="bg1"/>
                </a:solidFill>
              </a:rPr>
              <a:t>: no bias or stereotypes</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813816" y="640080"/>
            <a:ext cx="10570464" cy="320040"/>
          </a:xfrm>
          <a:prstGeom prst="rect">
            <a:avLst/>
          </a:prstGeom>
          <a:noFill/>
          <a:ln/>
        </p:spPr>
        <p:txBody>
          <a:bodyPr wrap="square" lIns="0" tIns="0" rIns="0" bIns="0" rtlCol="0" anchor="t"/>
          <a:lstStyle/>
          <a:p>
            <a:pPr indent="0" marL="0">
              <a:buNone/>
            </a:pPr>
            <a:r>
              <a:rPr lang="en-US" sz="1200" b="1" spc="300" kern="0" dirty="0">
                <a:solidFill>
                  <a:schemeClr val="accent1"/>
                </a:solidFill>
              </a:rPr>
              <a:t>PLAGIARISM AND AI DETECTION · 20 MINUTES</a:t>
            </a:r>
            <a:endParaRPr lang="en-US" sz="1200" dirty="0"/>
          </a:p>
        </p:txBody>
      </p:sp>
      <p:sp>
        <p:nvSpPr>
          <p:cNvPr id="3" name="Text 1"/>
          <p:cNvSpPr/>
          <p:nvPr>
            <p:ph idx="102" type="title" hasCustomPrompt="1"/>
          </p:nvPr>
        </p:nvSpPr>
        <p:spPr>
          <a:xfrm>
            <a:off x="813816" y="987552"/>
            <a:ext cx="10570464" cy="731520"/>
          </a:xfrm>
          <a:prstGeom prst="rect">
            <a:avLst/>
          </a:prstGeom>
          <a:noFill/>
          <a:ln/>
        </p:spPr>
        <p:txBody>
          <a:bodyPr wrap="square" lIns="0" tIns="0" rIns="0" bIns="0" rtlCol="0" anchor="t"/>
          <a:lstStyle/>
          <a:p>
            <a:pPr algn="l" indent="0" marL="0">
              <a:buNone/>
            </a:pPr>
            <a:r>
              <a:rPr lang="en-US" sz="3600" b="1" dirty="0">
                <a:solidFill>
                  <a:schemeClr val="tx1"/>
                </a:solidFill>
                <a:latin typeface="+mj-lt" pitchFamily="34" charset="0"/>
                <a:ea typeface="+mj-lt" pitchFamily="34" charset="-122"/>
                <a:cs typeface="+mj-lt" pitchFamily="34" charset="-120"/>
              </a:rPr>
              <a:t>Two numbers, one Turnitin report</a:t>
            </a:r>
            <a:endParaRPr lang="en-US" sz="3600" dirty="0"/>
          </a:p>
        </p:txBody>
      </p:sp>
      <p:graphicFrame>
        <p:nvGraphicFramePr>
          <p:cNvPr id="20" name="two scores table"/>
          <p:cNvGraphicFramePr>
            <a:graphicFrameLocks noGrp="1"/>
          </p:cNvGraphicFramePr>
          <p:nvPr>
            <p:extLst>
              <p:ext uri="{D42A27DB-BD31-4B8C-83A1-F6EECF244321}">
                <p14:modId xmlns:p14="http://schemas.microsoft.com/office/powerpoint/2010/main" val="1579011935"/>
              </p:ext>
            </p:extLst>
          </p:nvPr>
        </p:nvGraphicFramePr>
        <p:xfrm>
          <a:off x="813816" y="1874520"/>
          <a:ext cx="10570464" cy="914400"/>
        </p:xfrm>
        <a:graphic>
          <a:graphicData uri="http://schemas.openxmlformats.org/drawingml/2006/table">
            <a:tbl>
              <a:tblPr/>
              <a:tblGrid>
                <a:gridCol w="2523744"/>
                <a:gridCol w="4023360"/>
                <a:gridCol w="4023360"/>
              </a:tblGrid>
              <a:tr h="731520">
                <a:tc>
                  <a:txBody>
                    <a:bodyPr/>
                    <a:lstStyle/>
                    <a:p>
                      <a:pPr indent="0" marL="0">
                        <a:buNone/>
                      </a:pP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solidFill>
                      <a:schemeClr val="accent6"/>
                    </a:solidFill>
                  </a:tcPr>
                </a:tc>
                <a:tc>
                  <a:txBody>
                    <a:bodyPr/>
                    <a:lstStyle/>
                    <a:p>
                      <a:pPr indent="0" marL="0">
                        <a:buNone/>
                      </a:pPr>
                      <a:r>
                        <a:rPr lang="en-US" sz="1400" b="1" dirty="0">
                          <a:solidFill>
                            <a:schemeClr val="tx1"/>
                          </a:solidFill>
                        </a:rPr>
                        <a:t>Similarity score</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solidFill>
                      <a:schemeClr val="accent6"/>
                    </a:solidFill>
                  </a:tcPr>
                </a:tc>
                <a:tc>
                  <a:txBody>
                    <a:bodyPr/>
                    <a:lstStyle/>
                    <a:p>
                      <a:pPr indent="0" marL="0">
                        <a:buNone/>
                      </a:pPr>
                      <a:r>
                        <a:rPr lang="en-US" sz="1400" b="1" dirty="0">
                          <a:solidFill>
                            <a:schemeClr val="tx1"/>
                          </a:solidFill>
                        </a:rPr>
                        <a:t>AI writing indicator</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solidFill>
                      <a:schemeClr val="accent6"/>
                    </a:solidFill>
                  </a:tcPr>
                </a:tc>
              </a:tr>
              <a:tr h="731520">
                <a:tc>
                  <a:txBody>
                    <a:bodyPr/>
                    <a:lstStyle/>
                    <a:p>
                      <a:pPr indent="0" marL="0">
                        <a:buNone/>
                      </a:pPr>
                      <a:r>
                        <a:rPr lang="en-US" sz="1400" b="1" dirty="0">
                          <a:solidFill>
                            <a:schemeClr val="tx1"/>
                          </a:solidFill>
                        </a:rPr>
                        <a:t>Measures</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Text matching web pages, publications and past papers</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Prose likely written by AI, or AI then run through a paraphraser or “humaniser”</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731520">
                <a:tc>
                  <a:txBody>
                    <a:bodyPr/>
                    <a:lstStyle/>
                    <a:p>
                      <a:pPr indent="0" marL="0">
                        <a:buNone/>
                      </a:pPr>
                      <a:r>
                        <a:rPr lang="en-US" sz="1400" b="1" dirty="0">
                          <a:solidFill>
                            <a:schemeClr val="tx1"/>
                          </a:solidFill>
                        </a:rPr>
                        <a:t>A high number means</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Copying or poor citation, or properly quoted text</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Writing patterns typical of AI. Not proof of who wrote it</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r h="731520">
                <a:tc>
                  <a:txBody>
                    <a:bodyPr/>
                    <a:lstStyle/>
                    <a:p>
                      <a:pPr indent="0" marL="0">
                        <a:buNone/>
                      </a:pPr>
                      <a:r>
                        <a:rPr lang="en-US" sz="1400" b="1" dirty="0">
                          <a:solidFill>
                            <a:schemeClr val="tx1"/>
                          </a:solidFill>
                        </a:rPr>
                        <a:t>You check</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Open each match: is it quoted and cited?</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c>
                  <a:txBody>
                    <a:bodyPr/>
                    <a:lstStyle/>
                    <a:p>
                      <a:pPr indent="0" marL="0">
                        <a:buNone/>
                      </a:pPr>
                      <a:r>
                        <a:rPr lang="en-US" sz="1400" dirty="0">
                          <a:solidFill>
                            <a:schemeClr val="tx1"/>
                          </a:solidFill>
                        </a:rPr>
                        <a:t>The work itself, the drafts, and the student</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DDD7CB"/>
                      </a:solidFill>
                      <a:prstDash val="solid"/>
                      <a:round/>
                      <a:headEnd type="none" w="med" len="med"/>
                      <a:tailEnd type="none" w="med" len="med"/>
                    </a:lnB>
                  </a:tcPr>
                </a:tc>
              </a:tr>
            </a:tbl>
          </a:graphicData>
        </a:graphic>
      </p:graphicFrame>
      <p:sp>
        <p:nvSpPr>
          <p:cNvPr id="6" name="Text 2"/>
          <p:cNvSpPr txBox="1"/>
          <p:nvPr/>
        </p:nvSpPr>
        <p:spPr>
          <a:xfrm>
            <a:off x="813816" y="5120640"/>
            <a:ext cx="10570464" cy="365760"/>
          </a:xfrm>
          <a:prstGeom prst="rect">
            <a:avLst/>
          </a:prstGeom>
          <a:noFill/>
          <a:ln/>
        </p:spPr>
        <p:txBody>
          <a:bodyPr wrap="square" lIns="0" tIns="0" rIns="0" bIns="0" rtlCol="0" anchor="t"/>
          <a:lstStyle/>
          <a:p>
            <a:pPr indent="0" marL="0">
              <a:buNone/>
            </a:pPr>
            <a:r>
              <a:rPr lang="en-US" sz="1600" dirty="0">
                <a:solidFill>
                  <a:schemeClr val="tx2"/>
                </a:solidFill>
              </a:rPr>
              <a:t>The two scores are independent. A paper can be 0% similar and 80% AI, or the reverse.</a:t>
            </a:r>
            <a:endParaRPr lang="en-US" sz="1600" dirty="0"/>
          </a:p>
        </p:txBody>
      </p:sp>
      <p:sp>
        <p:nvSpPr>
          <p:cNvPr id="7" name="Text 3"/>
          <p:cNvSpPr txBox="1"/>
          <p:nvPr/>
        </p:nvSpPr>
        <p:spPr>
          <a:xfrm>
            <a:off x="813816" y="5897880"/>
            <a:ext cx="10570464" cy="274320"/>
          </a:xfrm>
          <a:prstGeom prst="rect">
            <a:avLst/>
          </a:prstGeom>
          <a:noFill/>
          <a:ln/>
        </p:spPr>
        <p:txBody>
          <a:bodyPr wrap="square" lIns="0" tIns="0" rIns="0" bIns="0" rtlCol="0" anchor="t"/>
          <a:lstStyle/>
          <a:p>
            <a:pPr indent="0" marL="0">
              <a:buNone/>
            </a:pPr>
            <a:r>
              <a:rPr lang="en-US" sz="1100" dirty="0">
                <a:solidFill>
                  <a:srgbClr val="6B7280"/>
                </a:solidFill>
              </a:rPr>
              <a:t>Source: Turnitin guides, checked 19 Oct 2026</a:t>
            </a:r>
            <a:endParaRPr lang="en-US" sz="1100" dirty="0"/>
          </a:p>
        </p:txBody>
      </p:sp>
      <p:sp>
        <p:nvSpPr>
          <p:cNvPr id="25" name="Slide Number Placeholder 0"/>
          <p:cNvSpPr>
            <a:spLocks noGrp="1"/>
          </p:cNvSpPr>
          <p:nvPr>
            <p:ph type="sldNum" sz="quarter" idx="4294967295"/>
          </p:nvPr>
        </p:nvSpPr>
        <p:spPr>
          <a:xfrm>
            <a:off x="10561320" y="6291072"/>
            <a:ext cx="8229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body" hasCustomPrompt="1"/>
          </p:nvPr>
        </p:nvSpPr>
        <p:spPr>
          <a:xfrm>
            <a:off x="813816" y="640080"/>
            <a:ext cx="10570464" cy="320040"/>
          </a:xfrm>
          <a:prstGeom prst="rect">
            <a:avLst/>
          </a:prstGeom>
          <a:noFill/>
          <a:ln/>
        </p:spPr>
        <p:txBody>
          <a:bodyPr wrap="square" lIns="0" tIns="0" rIns="0" bIns="0" rtlCol="0" anchor="t"/>
          <a:lstStyle/>
          <a:p>
            <a:pPr indent="0" marL="0">
              <a:buNone/>
            </a:pPr>
            <a:r>
              <a:rPr lang="en-US" sz="1200" b="1" spc="300" kern="0" dirty="0">
                <a:solidFill>
                  <a:schemeClr val="accent1"/>
                </a:solidFill>
              </a:rPr>
              <a:t>LIMITATIONS TO SAY OUT LOUD</a:t>
            </a:r>
            <a:endParaRPr lang="en-US" sz="1200" dirty="0"/>
          </a:p>
        </p:txBody>
      </p:sp>
      <p:sp>
        <p:nvSpPr>
          <p:cNvPr id="3" name="Text 1"/>
          <p:cNvSpPr/>
          <p:nvPr>
            <p:ph idx="102" type="title" hasCustomPrompt="1"/>
          </p:nvPr>
        </p:nvSpPr>
        <p:spPr>
          <a:xfrm>
            <a:off x="813816" y="987552"/>
            <a:ext cx="10570464" cy="731520"/>
          </a:xfrm>
          <a:prstGeom prst="rect">
            <a:avLst/>
          </a:prstGeom>
          <a:noFill/>
          <a:ln/>
        </p:spPr>
        <p:txBody>
          <a:bodyPr wrap="square" lIns="0" tIns="0" rIns="0" bIns="0" rtlCol="0" anchor="t"/>
          <a:lstStyle/>
          <a:p>
            <a:pPr algn="l" indent="0" marL="0">
              <a:buNone/>
            </a:pPr>
            <a:r>
              <a:rPr lang="en-US" sz="3600" b="1" dirty="0">
                <a:solidFill>
                  <a:schemeClr val="tx1"/>
                </a:solidFill>
                <a:latin typeface="+mj-lt" pitchFamily="34" charset="0"/>
                <a:ea typeface="+mj-lt" pitchFamily="34" charset="-122"/>
                <a:cs typeface="+mj-lt" pitchFamily="34" charset="-120"/>
              </a:rPr>
              <a:t>What the AI score can’t tell you</a:t>
            </a:r>
            <a:endParaRPr lang="en-US" sz="3600" dirty="0"/>
          </a:p>
        </p:txBody>
      </p:sp>
      <p:sp>
        <p:nvSpPr>
          <p:cNvPr id="5" name="limit 1"/>
          <p:cNvSpPr/>
          <p:nvPr/>
        </p:nvSpPr>
        <p:spPr>
          <a:xfrm>
            <a:off x="813816" y="1920240"/>
            <a:ext cx="2436876" cy="2331720"/>
          </a:xfrm>
          <a:prstGeom prst="roundRect">
            <a:avLst>
              <a:gd name="adj" fmla="val 4706"/>
            </a:avLst>
          </a:prstGeom>
          <a:solidFill>
            <a:schemeClr val="bg1"/>
          </a:solidFill>
          <a:ln w="9525">
            <a:solidFill>
              <a:srgbClr val="DDD7CB"/>
            </a:solidFill>
            <a:prstDash val="solid"/>
          </a:ln>
        </p:spPr>
      </p:sp>
      <p:sp>
        <p:nvSpPr>
          <p:cNvPr id="6" name="Text 3"/>
          <p:cNvSpPr txBox="1"/>
          <p:nvPr/>
        </p:nvSpPr>
        <p:spPr>
          <a:xfrm>
            <a:off x="1088136" y="2148840"/>
            <a:ext cx="1888236" cy="777240"/>
          </a:xfrm>
          <a:prstGeom prst="rect">
            <a:avLst/>
          </a:prstGeom>
          <a:noFill/>
          <a:ln/>
        </p:spPr>
        <p:txBody>
          <a:bodyPr wrap="square" lIns="0" tIns="0" rIns="0" bIns="0" rtlCol="0" anchor="t"/>
          <a:lstStyle/>
          <a:p>
            <a:pPr indent="0" marL="0">
              <a:buNone/>
            </a:pPr>
            <a:r>
              <a:rPr lang="en-US" sz="4400" b="1" dirty="0">
                <a:solidFill>
                  <a:schemeClr val="accent1"/>
                </a:solidFill>
                <a:latin typeface="+mj-lt" pitchFamily="34" charset="0"/>
                <a:ea typeface="+mj-lt" pitchFamily="34" charset="-122"/>
                <a:cs typeface="+mj-lt" pitchFamily="34" charset="-120"/>
              </a:rPr>
              <a:t>*%</a:t>
            </a:r>
            <a:endParaRPr lang="en-US" sz="4400" dirty="0"/>
          </a:p>
        </p:txBody>
      </p:sp>
      <p:sp>
        <p:nvSpPr>
          <p:cNvPr id="7" name="Text 4"/>
          <p:cNvSpPr txBox="1"/>
          <p:nvPr/>
        </p:nvSpPr>
        <p:spPr>
          <a:xfrm>
            <a:off x="1088136" y="3017520"/>
            <a:ext cx="1888236" cy="1143000"/>
          </a:xfrm>
          <a:prstGeom prst="rect">
            <a:avLst/>
          </a:prstGeom>
          <a:noFill/>
          <a:ln/>
        </p:spPr>
        <p:txBody>
          <a:bodyPr wrap="square" lIns="0" tIns="0" rIns="0" bIns="0" rtlCol="0" anchor="t"/>
          <a:lstStyle/>
          <a:p>
            <a:pPr indent="0" marL="0">
              <a:buNone/>
            </a:pPr>
            <a:r>
              <a:rPr lang="en-US" sz="1400" dirty="0">
                <a:solidFill>
                  <a:schemeClr val="tx1"/>
                </a:solidFill>
              </a:rPr>
              <a:t>Scores of 1–19% show no number. Treat them as no signal.</a:t>
            </a:r>
            <a:endParaRPr lang="en-US" sz="1400" dirty="0"/>
          </a:p>
        </p:txBody>
      </p:sp>
      <p:sp>
        <p:nvSpPr>
          <p:cNvPr id="8" name="limit 2"/>
          <p:cNvSpPr/>
          <p:nvPr/>
        </p:nvSpPr>
        <p:spPr>
          <a:xfrm>
            <a:off x="3525012" y="1920240"/>
            <a:ext cx="2436876" cy="2331720"/>
          </a:xfrm>
          <a:prstGeom prst="roundRect">
            <a:avLst>
              <a:gd name="adj" fmla="val 4706"/>
            </a:avLst>
          </a:prstGeom>
          <a:solidFill>
            <a:schemeClr val="bg1"/>
          </a:solidFill>
          <a:ln w="9525">
            <a:solidFill>
              <a:srgbClr val="DDD7CB"/>
            </a:solidFill>
            <a:prstDash val="solid"/>
          </a:ln>
        </p:spPr>
      </p:sp>
      <p:sp>
        <p:nvSpPr>
          <p:cNvPr id="9" name="Text 6"/>
          <p:cNvSpPr txBox="1"/>
          <p:nvPr/>
        </p:nvSpPr>
        <p:spPr>
          <a:xfrm>
            <a:off x="3799332" y="2148840"/>
            <a:ext cx="1888236" cy="777240"/>
          </a:xfrm>
          <a:prstGeom prst="rect">
            <a:avLst/>
          </a:prstGeom>
          <a:noFill/>
          <a:ln/>
        </p:spPr>
        <p:txBody>
          <a:bodyPr wrap="square" lIns="0" tIns="0" rIns="0" bIns="0" rtlCol="0" anchor="t"/>
          <a:lstStyle/>
          <a:p>
            <a:pPr indent="0" marL="0">
              <a:buNone/>
            </a:pPr>
            <a:r>
              <a:rPr lang="en-US" sz="4400" b="1" dirty="0">
                <a:solidFill>
                  <a:schemeClr val="accent1"/>
                </a:solidFill>
                <a:latin typeface="+mj-lt" pitchFamily="34" charset="0"/>
                <a:ea typeface="+mj-lt" pitchFamily="34" charset="-122"/>
                <a:cs typeface="+mj-lt" pitchFamily="34" charset="-120"/>
              </a:rPr>
              <a:t>300</a:t>
            </a:r>
            <a:endParaRPr lang="en-US" sz="4400" dirty="0"/>
          </a:p>
        </p:txBody>
      </p:sp>
      <p:sp>
        <p:nvSpPr>
          <p:cNvPr id="10" name="Text 7"/>
          <p:cNvSpPr txBox="1"/>
          <p:nvPr/>
        </p:nvSpPr>
        <p:spPr>
          <a:xfrm>
            <a:off x="3799332" y="3017520"/>
            <a:ext cx="1888236" cy="1143000"/>
          </a:xfrm>
          <a:prstGeom prst="rect">
            <a:avLst/>
          </a:prstGeom>
          <a:noFill/>
          <a:ln/>
        </p:spPr>
        <p:txBody>
          <a:bodyPr wrap="square" lIns="0" tIns="0" rIns="0" bIns="0" rtlCol="0" anchor="t"/>
          <a:lstStyle/>
          <a:p>
            <a:pPr indent="0" marL="0">
              <a:buNone/>
            </a:pPr>
            <a:r>
              <a:rPr lang="en-US" sz="1400" dirty="0">
                <a:solidFill>
                  <a:schemeClr val="tx1"/>
                </a:solidFill>
              </a:rPr>
              <a:t>Words of prose minimum. Code, bullets and tables aren’t read.</a:t>
            </a:r>
            <a:endParaRPr lang="en-US" sz="1400" dirty="0"/>
          </a:p>
        </p:txBody>
      </p:sp>
      <p:sp>
        <p:nvSpPr>
          <p:cNvPr id="11" name="limit 3"/>
          <p:cNvSpPr/>
          <p:nvPr/>
        </p:nvSpPr>
        <p:spPr>
          <a:xfrm>
            <a:off x="6236208" y="1920240"/>
            <a:ext cx="2436876" cy="2331720"/>
          </a:xfrm>
          <a:prstGeom prst="roundRect">
            <a:avLst>
              <a:gd name="adj" fmla="val 4706"/>
            </a:avLst>
          </a:prstGeom>
          <a:solidFill>
            <a:schemeClr val="bg1"/>
          </a:solidFill>
          <a:ln w="9525">
            <a:solidFill>
              <a:srgbClr val="DDD7CB"/>
            </a:solidFill>
            <a:prstDash val="solid"/>
          </a:ln>
        </p:spPr>
      </p:sp>
      <p:sp>
        <p:nvSpPr>
          <p:cNvPr id="12" name="Text 9"/>
          <p:cNvSpPr txBox="1"/>
          <p:nvPr/>
        </p:nvSpPr>
        <p:spPr>
          <a:xfrm>
            <a:off x="6510528" y="2148840"/>
            <a:ext cx="1888236" cy="777240"/>
          </a:xfrm>
          <a:prstGeom prst="rect">
            <a:avLst/>
          </a:prstGeom>
          <a:noFill/>
          <a:ln/>
        </p:spPr>
        <p:txBody>
          <a:bodyPr wrap="square" lIns="0" tIns="0" rIns="0" bIns="0" rtlCol="0" anchor="t"/>
          <a:lstStyle/>
          <a:p>
            <a:pPr indent="0" marL="0">
              <a:buNone/>
            </a:pPr>
            <a:r>
              <a:rPr lang="en-US" sz="4400" b="1" dirty="0">
                <a:solidFill>
                  <a:schemeClr val="accent1"/>
                </a:solidFill>
                <a:latin typeface="+mj-lt" pitchFamily="34" charset="0"/>
                <a:ea typeface="+mj-lt" pitchFamily="34" charset="-122"/>
                <a:cs typeface="+mj-lt" pitchFamily="34" charset="-120"/>
              </a:rPr>
              <a:t>3</a:t>
            </a:r>
            <a:endParaRPr lang="en-US" sz="4400" dirty="0"/>
          </a:p>
        </p:txBody>
      </p:sp>
      <p:sp>
        <p:nvSpPr>
          <p:cNvPr id="13" name="Text 10"/>
          <p:cNvSpPr txBox="1"/>
          <p:nvPr/>
        </p:nvSpPr>
        <p:spPr>
          <a:xfrm>
            <a:off x="6510528" y="3017520"/>
            <a:ext cx="1888236" cy="1143000"/>
          </a:xfrm>
          <a:prstGeom prst="rect">
            <a:avLst/>
          </a:prstGeom>
          <a:noFill/>
          <a:ln/>
        </p:spPr>
        <p:txBody>
          <a:bodyPr wrap="square" lIns="0" tIns="0" rIns="0" bIns="0" rtlCol="0" anchor="t"/>
          <a:lstStyle/>
          <a:p>
            <a:pPr indent="0" marL="0">
              <a:buNone/>
            </a:pPr>
            <a:r>
              <a:rPr lang="en-US" sz="1400" dirty="0">
                <a:solidFill>
                  <a:schemeClr val="tx1"/>
                </a:solidFill>
              </a:rPr>
              <a:t>Languages: English, Spanish, Japanese. Not Urdu.</a:t>
            </a:r>
            <a:endParaRPr lang="en-US" sz="1400" dirty="0"/>
          </a:p>
        </p:txBody>
      </p:sp>
      <p:sp>
        <p:nvSpPr>
          <p:cNvPr id="14" name="limit 4"/>
          <p:cNvSpPr/>
          <p:nvPr/>
        </p:nvSpPr>
        <p:spPr>
          <a:xfrm>
            <a:off x="8947404" y="1920240"/>
            <a:ext cx="2436876" cy="2331720"/>
          </a:xfrm>
          <a:prstGeom prst="roundRect">
            <a:avLst>
              <a:gd name="adj" fmla="val 4706"/>
            </a:avLst>
          </a:prstGeom>
          <a:solidFill>
            <a:schemeClr val="bg1"/>
          </a:solidFill>
          <a:ln w="9525">
            <a:solidFill>
              <a:srgbClr val="DDD7CB"/>
            </a:solidFill>
            <a:prstDash val="solid"/>
          </a:ln>
        </p:spPr>
      </p:sp>
      <p:sp>
        <p:nvSpPr>
          <p:cNvPr id="15" name="Text 12"/>
          <p:cNvSpPr txBox="1"/>
          <p:nvPr/>
        </p:nvSpPr>
        <p:spPr>
          <a:xfrm>
            <a:off x="9221724" y="2148840"/>
            <a:ext cx="1888236" cy="777240"/>
          </a:xfrm>
          <a:prstGeom prst="rect">
            <a:avLst/>
          </a:prstGeom>
          <a:noFill/>
          <a:ln/>
        </p:spPr>
        <p:txBody>
          <a:bodyPr wrap="square" lIns="0" tIns="0" rIns="0" bIns="0" rtlCol="0" anchor="t"/>
          <a:lstStyle/>
          <a:p>
            <a:pPr indent="0" marL="0">
              <a:buNone/>
            </a:pPr>
            <a:r>
              <a:rPr lang="en-US" sz="4400" b="1" dirty="0">
                <a:solidFill>
                  <a:schemeClr val="accent1"/>
                </a:solidFill>
                <a:latin typeface="+mj-lt" pitchFamily="34" charset="0"/>
                <a:ea typeface="+mj-lt" pitchFamily="34" charset="-122"/>
                <a:cs typeface="+mj-lt" pitchFamily="34" charset="-120"/>
              </a:rPr>
              <a:t>0%</a:t>
            </a:r>
            <a:endParaRPr lang="en-US" sz="4400" dirty="0"/>
          </a:p>
        </p:txBody>
      </p:sp>
      <p:sp>
        <p:nvSpPr>
          <p:cNvPr id="16" name="Text 13"/>
          <p:cNvSpPr txBox="1"/>
          <p:nvPr/>
        </p:nvSpPr>
        <p:spPr>
          <a:xfrm>
            <a:off x="9221724" y="3017520"/>
            <a:ext cx="1888236" cy="1143000"/>
          </a:xfrm>
          <a:prstGeom prst="rect">
            <a:avLst/>
          </a:prstGeom>
          <a:noFill/>
          <a:ln/>
        </p:spPr>
        <p:txBody>
          <a:bodyPr wrap="square" lIns="0" tIns="0" rIns="0" bIns="0" rtlCol="0" anchor="t"/>
          <a:lstStyle/>
          <a:p>
            <a:pPr indent="0" marL="0">
              <a:buNone/>
            </a:pPr>
            <a:r>
              <a:rPr lang="en-US" sz="1400" dirty="0">
                <a:solidFill>
                  <a:schemeClr val="tx1"/>
                </a:solidFill>
              </a:rPr>
              <a:t>Is not proof of honest work. Edited AI text can slip through.</a:t>
            </a:r>
            <a:endParaRPr lang="en-US" sz="1400" dirty="0"/>
          </a:p>
        </p:txBody>
      </p:sp>
      <p:sp>
        <p:nvSpPr>
          <p:cNvPr id="17" name="false positives"/>
          <p:cNvSpPr/>
          <p:nvPr/>
        </p:nvSpPr>
        <p:spPr>
          <a:xfrm>
            <a:off x="813816" y="4526280"/>
            <a:ext cx="10570464" cy="960120"/>
          </a:xfrm>
          <a:prstGeom prst="roundRect">
            <a:avLst>
              <a:gd name="adj" fmla="val 11429"/>
            </a:avLst>
          </a:prstGeom>
          <a:solidFill>
            <a:schemeClr val="tx1"/>
          </a:solidFill>
          <a:ln/>
        </p:spPr>
      </p:sp>
      <p:sp>
        <p:nvSpPr>
          <p:cNvPr id="18" name="Text 15"/>
          <p:cNvSpPr txBox="1"/>
          <p:nvPr/>
        </p:nvSpPr>
        <p:spPr>
          <a:xfrm>
            <a:off x="1179576" y="4526280"/>
            <a:ext cx="9838944" cy="960120"/>
          </a:xfrm>
          <a:prstGeom prst="rect">
            <a:avLst/>
          </a:prstGeom>
          <a:noFill/>
          <a:ln/>
        </p:spPr>
        <p:txBody>
          <a:bodyPr wrap="square" lIns="0" tIns="0" rIns="0" bIns="0" rtlCol="0" anchor="ctr"/>
          <a:lstStyle/>
          <a:p>
            <a:pPr indent="0" marL="0">
              <a:buNone/>
            </a:pPr>
            <a:r>
              <a:rPr lang="en-US" sz="1600" b="1" dirty="0">
                <a:solidFill>
                  <a:schemeClr val="accent2"/>
                </a:solidFill>
              </a:rPr>
              <a:t>False positives happen. </a:t>
            </a:r>
            <a:pPr indent="0" marL="0">
              <a:buNone/>
            </a:pPr>
            <a:r>
              <a:rPr lang="en-US" sz="1600" dirty="0">
                <a:solidFill>
                  <a:schemeClr val="bg1"/>
                </a:solidFill>
              </a:rPr>
              <a:t>Formal, concise writing and second-language writers can be flagged. Many of our students write in their second language.</a:t>
            </a:r>
            <a:endParaRPr lang="en-US" sz="1600" dirty="0"/>
          </a:p>
        </p:txBody>
      </p:sp>
      <p:sp>
        <p:nvSpPr>
          <p:cNvPr id="19" name="Text 16"/>
          <p:cNvSpPr txBox="1"/>
          <p:nvPr/>
        </p:nvSpPr>
        <p:spPr>
          <a:xfrm>
            <a:off x="813816" y="5897880"/>
            <a:ext cx="10570464" cy="274320"/>
          </a:xfrm>
          <a:prstGeom prst="rect">
            <a:avLst/>
          </a:prstGeom>
          <a:noFill/>
          <a:ln/>
        </p:spPr>
        <p:txBody>
          <a:bodyPr wrap="square" lIns="0" tIns="0" rIns="0" bIns="0" rtlCol="0" anchor="t"/>
          <a:lstStyle/>
          <a:p>
            <a:pPr indent="0" marL="0">
              <a:buNone/>
            </a:pPr>
            <a:r>
              <a:rPr lang="en-US" sz="1100" dirty="0">
                <a:solidFill>
                  <a:srgbClr val="6B7280"/>
                </a:solidFill>
              </a:rPr>
              <a:t>Source: Turnitin guides; UW-Whitewater faculty guidance, Jan 2026</a:t>
            </a:r>
            <a:endParaRPr lang="en-US" sz="1100" dirty="0"/>
          </a:p>
        </p:txBody>
      </p:sp>
      <p:sp>
        <p:nvSpPr>
          <p:cNvPr id="25" name="Slide Number Placeholder 0"/>
          <p:cNvSpPr>
            <a:spLocks noGrp="1"/>
          </p:cNvSpPr>
          <p:nvPr>
            <p:ph type="sldNum" sz="quarter" idx="4294967295"/>
          </p:nvPr>
        </p:nvSpPr>
        <p:spPr>
          <a:xfrm>
            <a:off x="10561320" y="6291072"/>
            <a:ext cx="8229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813816" y="640080"/>
            <a:ext cx="10570464" cy="320040"/>
          </a:xfrm>
          <a:prstGeom prst="rect">
            <a:avLst/>
          </a:prstGeom>
          <a:noFill/>
          <a:ln/>
        </p:spPr>
        <p:txBody>
          <a:bodyPr wrap="square" lIns="0" tIns="0" rIns="0" bIns="0" rtlCol="0" anchor="t"/>
          <a:lstStyle/>
          <a:p>
            <a:pPr indent="0" marL="0">
              <a:buNone/>
            </a:pPr>
            <a:r>
              <a:rPr lang="en-US" sz="1200" b="1" spc="300" kern="0" dirty="0">
                <a:solidFill>
                  <a:schemeClr val="accent1"/>
                </a:solidFill>
              </a:rPr>
              <a:t>WHEN A SCORE IS HIGH</a:t>
            </a:r>
            <a:endParaRPr lang="en-US" sz="1200" dirty="0"/>
          </a:p>
        </p:txBody>
      </p:sp>
      <p:sp>
        <p:nvSpPr>
          <p:cNvPr id="3" name="Text 1"/>
          <p:cNvSpPr/>
          <p:nvPr>
            <p:ph idx="102" type="title" hasCustomPrompt="1"/>
          </p:nvPr>
        </p:nvSpPr>
        <p:spPr>
          <a:xfrm>
            <a:off x="813816" y="987552"/>
            <a:ext cx="10570464" cy="731520"/>
          </a:xfrm>
          <a:prstGeom prst="rect">
            <a:avLst/>
          </a:prstGeom>
          <a:noFill/>
          <a:ln/>
        </p:spPr>
        <p:txBody>
          <a:bodyPr wrap="square" lIns="0" tIns="0" rIns="0" bIns="0" rtlCol="0" anchor="t"/>
          <a:lstStyle/>
          <a:p>
            <a:pPr algn="l" indent="0" marL="0">
              <a:buNone/>
            </a:pPr>
            <a:r>
              <a:rPr lang="en-US" sz="3600" b="1" dirty="0">
                <a:solidFill>
                  <a:schemeClr val="tx1"/>
                </a:solidFill>
                <a:latin typeface="+mj-lt" pitchFamily="34" charset="0"/>
                <a:ea typeface="+mj-lt" pitchFamily="34" charset="-122"/>
                <a:cs typeface="+mj-lt" pitchFamily="34" charset="-120"/>
              </a:rPr>
              <a:t>A score starts a conversation, not a verdict</a:t>
            </a:r>
            <a:endParaRPr lang="en-US" sz="3600" dirty="0"/>
          </a:p>
        </p:txBody>
      </p:sp>
      <p:sp>
        <p:nvSpPr>
          <p:cNvPr id="5" name="step 1"/>
          <p:cNvSpPr/>
          <p:nvPr/>
        </p:nvSpPr>
        <p:spPr>
          <a:xfrm>
            <a:off x="813816" y="2011680"/>
            <a:ext cx="3188208" cy="2011680"/>
          </a:xfrm>
          <a:prstGeom prst="roundRect">
            <a:avLst>
              <a:gd name="adj" fmla="val 5455"/>
            </a:avLst>
          </a:prstGeom>
          <a:solidFill>
            <a:schemeClr val="bg1"/>
          </a:solidFill>
          <a:ln w="9525">
            <a:solidFill>
              <a:srgbClr val="DDD7CB"/>
            </a:solidFill>
            <a:prstDash val="solid"/>
          </a:ln>
        </p:spPr>
      </p:sp>
      <p:sp>
        <p:nvSpPr>
          <p:cNvPr id="6" name="Text 3"/>
          <p:cNvSpPr txBox="1"/>
          <p:nvPr/>
        </p:nvSpPr>
        <p:spPr>
          <a:xfrm>
            <a:off x="1042416" y="2212848"/>
            <a:ext cx="548640" cy="365760"/>
          </a:xfrm>
          <a:prstGeom prst="rect">
            <a:avLst/>
          </a:prstGeom>
          <a:noFill/>
          <a:ln/>
        </p:spPr>
        <p:txBody>
          <a:bodyPr wrap="square" lIns="0" tIns="0" rIns="0" bIns="0" rtlCol="0" anchor="t"/>
          <a:lstStyle/>
          <a:p>
            <a:pPr indent="0" marL="0">
              <a:buNone/>
            </a:pPr>
            <a:r>
              <a:rPr lang="en-US" sz="2200" b="1" dirty="0">
                <a:solidFill>
                  <a:schemeClr val="accent1"/>
                </a:solidFill>
                <a:latin typeface="+mj-lt" pitchFamily="34" charset="0"/>
                <a:ea typeface="+mj-lt" pitchFamily="34" charset="-122"/>
                <a:cs typeface="+mj-lt" pitchFamily="34" charset="-120"/>
              </a:rPr>
              <a:t>1</a:t>
            </a:r>
            <a:endParaRPr lang="en-US" sz="2200" dirty="0"/>
          </a:p>
        </p:txBody>
      </p:sp>
      <p:sp>
        <p:nvSpPr>
          <p:cNvPr id="7" name="Text 4"/>
          <p:cNvSpPr txBox="1"/>
          <p:nvPr/>
        </p:nvSpPr>
        <p:spPr>
          <a:xfrm>
            <a:off x="1042416" y="2651760"/>
            <a:ext cx="2731008" cy="320040"/>
          </a:xfrm>
          <a:prstGeom prst="rect">
            <a:avLst/>
          </a:prstGeom>
          <a:noFill/>
          <a:ln/>
        </p:spPr>
        <p:txBody>
          <a:bodyPr wrap="square" lIns="0" tIns="0" rIns="0" bIns="0" rtlCol="0" anchor="t"/>
          <a:lstStyle/>
          <a:p>
            <a:pPr indent="0" marL="0">
              <a:buNone/>
            </a:pPr>
            <a:r>
              <a:rPr lang="en-US" sz="1600" b="1" dirty="0">
                <a:solidFill>
                  <a:schemeClr val="tx1"/>
                </a:solidFill>
              </a:rPr>
              <a:t>Read the work</a:t>
            </a:r>
            <a:endParaRPr lang="en-US" sz="1600" dirty="0"/>
          </a:p>
        </p:txBody>
      </p:sp>
      <p:sp>
        <p:nvSpPr>
          <p:cNvPr id="8" name="Text 5"/>
          <p:cNvSpPr txBox="1"/>
          <p:nvPr/>
        </p:nvSpPr>
        <p:spPr>
          <a:xfrm>
            <a:off x="1042416" y="3035808"/>
            <a:ext cx="2731008" cy="850392"/>
          </a:xfrm>
          <a:prstGeom prst="rect">
            <a:avLst/>
          </a:prstGeom>
          <a:noFill/>
          <a:ln/>
        </p:spPr>
        <p:txBody>
          <a:bodyPr wrap="square" lIns="0" tIns="0" rIns="0" bIns="0" rtlCol="0" anchor="t"/>
          <a:lstStyle/>
          <a:p>
            <a:pPr indent="0" marL="0">
              <a:buNone/>
            </a:pPr>
            <a:r>
              <a:rPr lang="en-US" sz="1400" dirty="0">
                <a:solidFill>
                  <a:schemeClr val="tx2"/>
                </a:solidFill>
              </a:rPr>
              <a:t>Voice shifts, generic content, wrong facts, fake citations</a:t>
            </a:r>
            <a:endParaRPr lang="en-US" sz="1400" dirty="0"/>
          </a:p>
        </p:txBody>
      </p:sp>
      <p:sp>
        <p:nvSpPr>
          <p:cNvPr id="9" name="arrow"/>
          <p:cNvSpPr/>
          <p:nvPr/>
        </p:nvSpPr>
        <p:spPr>
          <a:xfrm>
            <a:off x="4102608" y="2926080"/>
            <a:ext cx="301752" cy="182880"/>
          </a:xfrm>
          <a:prstGeom prst="rightArrow">
            <a:avLst/>
          </a:prstGeom>
          <a:solidFill>
            <a:schemeClr val="accent1"/>
          </a:solidFill>
          <a:ln/>
        </p:spPr>
      </p:sp>
      <p:sp>
        <p:nvSpPr>
          <p:cNvPr id="10" name="step 2"/>
          <p:cNvSpPr/>
          <p:nvPr/>
        </p:nvSpPr>
        <p:spPr>
          <a:xfrm>
            <a:off x="4504944" y="2011680"/>
            <a:ext cx="3188208" cy="2011680"/>
          </a:xfrm>
          <a:prstGeom prst="roundRect">
            <a:avLst>
              <a:gd name="adj" fmla="val 5455"/>
            </a:avLst>
          </a:prstGeom>
          <a:solidFill>
            <a:schemeClr val="bg1"/>
          </a:solidFill>
          <a:ln w="9525">
            <a:solidFill>
              <a:srgbClr val="DDD7CB"/>
            </a:solidFill>
            <a:prstDash val="solid"/>
          </a:ln>
        </p:spPr>
      </p:sp>
      <p:sp>
        <p:nvSpPr>
          <p:cNvPr id="11" name="Text 8"/>
          <p:cNvSpPr txBox="1"/>
          <p:nvPr/>
        </p:nvSpPr>
        <p:spPr>
          <a:xfrm>
            <a:off x="4733544" y="2212848"/>
            <a:ext cx="548640" cy="365760"/>
          </a:xfrm>
          <a:prstGeom prst="rect">
            <a:avLst/>
          </a:prstGeom>
          <a:noFill/>
          <a:ln/>
        </p:spPr>
        <p:txBody>
          <a:bodyPr wrap="square" lIns="0" tIns="0" rIns="0" bIns="0" rtlCol="0" anchor="t"/>
          <a:lstStyle/>
          <a:p>
            <a:pPr indent="0" marL="0">
              <a:buNone/>
            </a:pPr>
            <a:r>
              <a:rPr lang="en-US" sz="2200" b="1" dirty="0">
                <a:solidFill>
                  <a:schemeClr val="accent1"/>
                </a:solidFill>
                <a:latin typeface="+mj-lt" pitchFamily="34" charset="0"/>
                <a:ea typeface="+mj-lt" pitchFamily="34" charset="-122"/>
                <a:cs typeface="+mj-lt" pitchFamily="34" charset="-120"/>
              </a:rPr>
              <a:t>2</a:t>
            </a:r>
            <a:endParaRPr lang="en-US" sz="2200" dirty="0"/>
          </a:p>
        </p:txBody>
      </p:sp>
      <p:sp>
        <p:nvSpPr>
          <p:cNvPr id="12" name="Text 9"/>
          <p:cNvSpPr txBox="1"/>
          <p:nvPr/>
        </p:nvSpPr>
        <p:spPr>
          <a:xfrm>
            <a:off x="4733544" y="2651760"/>
            <a:ext cx="2731008" cy="320040"/>
          </a:xfrm>
          <a:prstGeom prst="rect">
            <a:avLst/>
          </a:prstGeom>
          <a:noFill/>
          <a:ln/>
        </p:spPr>
        <p:txBody>
          <a:bodyPr wrap="square" lIns="0" tIns="0" rIns="0" bIns="0" rtlCol="0" anchor="t"/>
          <a:lstStyle/>
          <a:p>
            <a:pPr indent="0" marL="0">
              <a:buNone/>
            </a:pPr>
            <a:r>
              <a:rPr lang="en-US" sz="1600" b="1" dirty="0">
                <a:solidFill>
                  <a:schemeClr val="tx1"/>
                </a:solidFill>
              </a:rPr>
              <a:t>Ask for the process</a:t>
            </a:r>
            <a:endParaRPr lang="en-US" sz="1600" dirty="0"/>
          </a:p>
        </p:txBody>
      </p:sp>
      <p:sp>
        <p:nvSpPr>
          <p:cNvPr id="13" name="Text 10"/>
          <p:cNvSpPr txBox="1"/>
          <p:nvPr/>
        </p:nvSpPr>
        <p:spPr>
          <a:xfrm>
            <a:off x="4733544" y="3035808"/>
            <a:ext cx="2731008" cy="850392"/>
          </a:xfrm>
          <a:prstGeom prst="rect">
            <a:avLst/>
          </a:prstGeom>
          <a:noFill/>
          <a:ln/>
        </p:spPr>
        <p:txBody>
          <a:bodyPr wrap="square" lIns="0" tIns="0" rIns="0" bIns="0" rtlCol="0" anchor="t"/>
          <a:lstStyle/>
          <a:p>
            <a:pPr indent="0" marL="0">
              <a:buNone/>
            </a:pPr>
            <a:r>
              <a:rPr lang="en-US" sz="1400" dirty="0">
                <a:solidFill>
                  <a:schemeClr val="tx2"/>
                </a:solidFill>
              </a:rPr>
              <a:t>Drafts, notes, Word or OneDrive version history, sources</a:t>
            </a:r>
            <a:endParaRPr lang="en-US" sz="1400" dirty="0"/>
          </a:p>
        </p:txBody>
      </p:sp>
      <p:sp>
        <p:nvSpPr>
          <p:cNvPr id="14" name="arrow"/>
          <p:cNvSpPr/>
          <p:nvPr/>
        </p:nvSpPr>
        <p:spPr>
          <a:xfrm>
            <a:off x="7793736" y="2926080"/>
            <a:ext cx="301752" cy="182880"/>
          </a:xfrm>
          <a:prstGeom prst="rightArrow">
            <a:avLst/>
          </a:prstGeom>
          <a:solidFill>
            <a:schemeClr val="accent1"/>
          </a:solidFill>
          <a:ln/>
        </p:spPr>
      </p:sp>
      <p:sp>
        <p:nvSpPr>
          <p:cNvPr id="15" name="step 3"/>
          <p:cNvSpPr/>
          <p:nvPr/>
        </p:nvSpPr>
        <p:spPr>
          <a:xfrm>
            <a:off x="8196072" y="2011680"/>
            <a:ext cx="3188208" cy="2011680"/>
          </a:xfrm>
          <a:prstGeom prst="roundRect">
            <a:avLst>
              <a:gd name="adj" fmla="val 5455"/>
            </a:avLst>
          </a:prstGeom>
          <a:solidFill>
            <a:schemeClr val="bg1"/>
          </a:solidFill>
          <a:ln w="9525">
            <a:solidFill>
              <a:srgbClr val="DDD7CB"/>
            </a:solidFill>
            <a:prstDash val="solid"/>
          </a:ln>
        </p:spPr>
      </p:sp>
      <p:sp>
        <p:nvSpPr>
          <p:cNvPr id="16" name="Text 13"/>
          <p:cNvSpPr txBox="1"/>
          <p:nvPr/>
        </p:nvSpPr>
        <p:spPr>
          <a:xfrm>
            <a:off x="8424672" y="2212848"/>
            <a:ext cx="548640" cy="365760"/>
          </a:xfrm>
          <a:prstGeom prst="rect">
            <a:avLst/>
          </a:prstGeom>
          <a:noFill/>
          <a:ln/>
        </p:spPr>
        <p:txBody>
          <a:bodyPr wrap="square" lIns="0" tIns="0" rIns="0" bIns="0" rtlCol="0" anchor="t"/>
          <a:lstStyle/>
          <a:p>
            <a:pPr indent="0" marL="0">
              <a:buNone/>
            </a:pPr>
            <a:r>
              <a:rPr lang="en-US" sz="2200" b="1" dirty="0">
                <a:solidFill>
                  <a:schemeClr val="accent1"/>
                </a:solidFill>
                <a:latin typeface="+mj-lt" pitchFamily="34" charset="0"/>
                <a:ea typeface="+mj-lt" pitchFamily="34" charset="-122"/>
                <a:cs typeface="+mj-lt" pitchFamily="34" charset="-120"/>
              </a:rPr>
              <a:t>3</a:t>
            </a:r>
            <a:endParaRPr lang="en-US" sz="2200" dirty="0"/>
          </a:p>
        </p:txBody>
      </p:sp>
      <p:sp>
        <p:nvSpPr>
          <p:cNvPr id="17" name="Text 14"/>
          <p:cNvSpPr txBox="1"/>
          <p:nvPr/>
        </p:nvSpPr>
        <p:spPr>
          <a:xfrm>
            <a:off x="8424672" y="2651760"/>
            <a:ext cx="2731008" cy="320040"/>
          </a:xfrm>
          <a:prstGeom prst="rect">
            <a:avLst/>
          </a:prstGeom>
          <a:noFill/>
          <a:ln/>
        </p:spPr>
        <p:txBody>
          <a:bodyPr wrap="square" lIns="0" tIns="0" rIns="0" bIns="0" rtlCol="0" anchor="t"/>
          <a:lstStyle/>
          <a:p>
            <a:pPr indent="0" marL="0">
              <a:buNone/>
            </a:pPr>
            <a:r>
              <a:rPr lang="en-US" sz="1600" b="1" dirty="0">
                <a:solidFill>
                  <a:schemeClr val="tx1"/>
                </a:solidFill>
              </a:rPr>
              <a:t>Talk, don’t accuse</a:t>
            </a:r>
            <a:endParaRPr lang="en-US" sz="1600" dirty="0"/>
          </a:p>
        </p:txBody>
      </p:sp>
      <p:sp>
        <p:nvSpPr>
          <p:cNvPr id="18" name="Text 15"/>
          <p:cNvSpPr txBox="1"/>
          <p:nvPr/>
        </p:nvSpPr>
        <p:spPr>
          <a:xfrm>
            <a:off x="8424672" y="3035808"/>
            <a:ext cx="2731008" cy="850392"/>
          </a:xfrm>
          <a:prstGeom prst="rect">
            <a:avLst/>
          </a:prstGeom>
          <a:noFill/>
          <a:ln/>
        </p:spPr>
        <p:txBody>
          <a:bodyPr wrap="square" lIns="0" tIns="0" rIns="0" bIns="0" rtlCol="0" anchor="t"/>
          <a:lstStyle/>
          <a:p>
            <a:pPr indent="0" marL="0">
              <a:buNone/>
            </a:pPr>
            <a:r>
              <a:rPr lang="en-US" sz="1400" dirty="0">
                <a:solidFill>
                  <a:schemeClr val="tx2"/>
                </a:solidFill>
              </a:rPr>
              <a:t>“Walk me through how you wrote section 2.”</a:t>
            </a:r>
            <a:endParaRPr lang="en-US" sz="1400" dirty="0"/>
          </a:p>
        </p:txBody>
      </p:sp>
      <p:sp>
        <p:nvSpPr>
          <p:cNvPr id="19" name="never box"/>
          <p:cNvSpPr/>
          <p:nvPr/>
        </p:nvSpPr>
        <p:spPr>
          <a:xfrm>
            <a:off x="813816" y="4434840"/>
            <a:ext cx="10570464" cy="914400"/>
          </a:xfrm>
          <a:prstGeom prst="roundRect">
            <a:avLst>
              <a:gd name="adj" fmla="val 12000"/>
            </a:avLst>
          </a:prstGeom>
          <a:solidFill>
            <a:schemeClr val="bg1"/>
          </a:solidFill>
          <a:ln w="9525">
            <a:solidFill>
              <a:srgbClr val="DDD7CB"/>
            </a:solidFill>
            <a:prstDash val="solid"/>
          </a:ln>
        </p:spPr>
      </p:sp>
      <p:pic>
        <p:nvPicPr>
          <p:cNvPr id="20" name="never icon" descr="preencoded.png">    </p:cNvPr>
          <p:cNvPicPr>
            <a:picLocks noChangeAspect="1"/>
          </p:cNvPicPr>
          <p:nvPr/>
        </p:nvPicPr>
        <p:blipFill>
          <a:blip r:embed="rId1"/>
          <a:stretch>
            <a:fillRect/>
          </a:stretch>
        </p:blipFill>
        <p:spPr>
          <a:xfrm>
            <a:off x="1133856" y="4663440"/>
            <a:ext cx="457200" cy="457200"/>
          </a:xfrm>
          <a:prstGeom prst="rect">
            <a:avLst/>
          </a:prstGeom>
        </p:spPr>
      </p:pic>
      <p:sp>
        <p:nvSpPr>
          <p:cNvPr id="21" name="Text 17"/>
          <p:cNvSpPr txBox="1"/>
          <p:nvPr/>
        </p:nvSpPr>
        <p:spPr>
          <a:xfrm>
            <a:off x="1819656" y="4434840"/>
            <a:ext cx="9290304" cy="914400"/>
          </a:xfrm>
          <a:prstGeom prst="rect">
            <a:avLst/>
          </a:prstGeom>
          <a:noFill/>
          <a:ln/>
        </p:spPr>
        <p:txBody>
          <a:bodyPr wrap="square" lIns="0" tIns="0" rIns="0" bIns="0" rtlCol="0" anchor="ctr"/>
          <a:lstStyle/>
          <a:p>
            <a:pPr indent="0" marL="0">
              <a:buNone/>
            </a:pPr>
            <a:r>
              <a:rPr lang="en-US" sz="1600" b="1" dirty="0">
                <a:solidFill>
                  <a:schemeClr val="tx1"/>
                </a:solidFill>
              </a:rPr>
              <a:t>Never: </a:t>
            </a:r>
            <a:pPr indent="0" marL="0">
              <a:buNone/>
            </a:pPr>
            <a:r>
              <a:rPr lang="en-US" sz="1600" dirty="0">
                <a:solidFill>
                  <a:schemeClr val="tx1"/>
                </a:solidFill>
              </a:rPr>
              <a:t>fail a student on the AI score alone · paste student work into free online detectors · treat 0% as proof</a:t>
            </a:r>
            <a:endParaRPr lang="en-US" sz="1600" dirty="0"/>
          </a:p>
        </p:txBody>
      </p:sp>
      <p:sp>
        <p:nvSpPr>
          <p:cNvPr id="25" name="Slide Number Placeholder 0"/>
          <p:cNvSpPr>
            <a:spLocks noGrp="1"/>
          </p:cNvSpPr>
          <p:nvPr>
            <p:ph type="sldNum" sz="quarter" idx="4294967295"/>
          </p:nvPr>
        </p:nvSpPr>
        <p:spPr>
          <a:xfrm>
            <a:off x="10561320" y="6291072"/>
            <a:ext cx="8229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body" hasCustomPrompt="1"/>
          </p:nvPr>
        </p:nvSpPr>
        <p:spPr>
          <a:xfrm>
            <a:off x="813816" y="640080"/>
            <a:ext cx="10570464" cy="320040"/>
          </a:xfrm>
          <a:prstGeom prst="rect">
            <a:avLst/>
          </a:prstGeom>
          <a:noFill/>
          <a:ln/>
        </p:spPr>
        <p:txBody>
          <a:bodyPr wrap="square" lIns="0" tIns="0" rIns="0" bIns="0" rtlCol="0" anchor="t"/>
          <a:lstStyle/>
          <a:p>
            <a:pPr indent="0" marL="0">
              <a:buNone/>
            </a:pPr>
            <a:r>
              <a:rPr lang="en-US" sz="1200" b="1" spc="300" kern="0" dirty="0">
                <a:solidFill>
                  <a:schemeClr val="accent1"/>
                </a:solidFill>
              </a:rPr>
              <a:t>ASSESSMENT DESIGN</a:t>
            </a:r>
            <a:endParaRPr lang="en-US" sz="1200" dirty="0"/>
          </a:p>
        </p:txBody>
      </p:sp>
      <p:sp>
        <p:nvSpPr>
          <p:cNvPr id="3" name="Text 1"/>
          <p:cNvSpPr/>
          <p:nvPr>
            <p:ph idx="102" type="title" hasCustomPrompt="1"/>
          </p:nvPr>
        </p:nvSpPr>
        <p:spPr>
          <a:xfrm>
            <a:off x="813816" y="987552"/>
            <a:ext cx="10570464" cy="731520"/>
          </a:xfrm>
          <a:prstGeom prst="rect">
            <a:avLst/>
          </a:prstGeom>
          <a:noFill/>
          <a:ln/>
        </p:spPr>
        <p:txBody>
          <a:bodyPr wrap="square" lIns="0" tIns="0" rIns="0" bIns="0" rtlCol="0" anchor="t"/>
          <a:lstStyle/>
          <a:p>
            <a:pPr algn="l" indent="0" marL="0">
              <a:buNone/>
            </a:pPr>
            <a:r>
              <a:rPr lang="en-US" sz="3600" b="1" dirty="0">
                <a:solidFill>
                  <a:schemeClr val="tx1"/>
                </a:solidFill>
                <a:latin typeface="+mj-lt" pitchFamily="34" charset="0"/>
                <a:ea typeface="+mj-lt" pitchFamily="34" charset="-122"/>
                <a:cs typeface="+mj-lt" pitchFamily="34" charset="-120"/>
              </a:rPr>
              <a:t>Design beats detection</a:t>
            </a:r>
            <a:endParaRPr lang="en-US" sz="3600" dirty="0"/>
          </a:p>
        </p:txBody>
      </p:sp>
      <p:sp>
        <p:nvSpPr>
          <p:cNvPr id="5" name="Text 2"/>
          <p:cNvSpPr txBox="1"/>
          <p:nvPr/>
        </p:nvSpPr>
        <p:spPr>
          <a:xfrm>
            <a:off x="813816" y="1920240"/>
            <a:ext cx="5010912" cy="365760"/>
          </a:xfrm>
          <a:prstGeom prst="rect">
            <a:avLst/>
          </a:prstGeom>
          <a:noFill/>
          <a:ln/>
        </p:spPr>
        <p:txBody>
          <a:bodyPr wrap="square" lIns="0" tIns="0" rIns="0" bIns="0" rtlCol="0" anchor="t"/>
          <a:lstStyle/>
          <a:p>
            <a:pPr indent="0" marL="0">
              <a:buNone/>
            </a:pPr>
            <a:r>
              <a:rPr lang="en-US" sz="1800" b="1" dirty="0">
                <a:solidFill>
                  <a:schemeClr val="tx1"/>
                </a:solidFill>
              </a:rPr>
              <a:t>Make AI alone not enough</a:t>
            </a:r>
            <a:endParaRPr lang="en-US" sz="1800" dirty="0"/>
          </a:p>
        </p:txBody>
      </p:sp>
      <p:sp>
        <p:nvSpPr>
          <p:cNvPr id="6" name="Text 3"/>
          <p:cNvSpPr txBox="1"/>
          <p:nvPr/>
        </p:nvSpPr>
        <p:spPr>
          <a:xfrm>
            <a:off x="813816" y="2377440"/>
            <a:ext cx="5010912" cy="3291840"/>
          </a:xfrm>
          <a:prstGeom prst="rect">
            <a:avLst/>
          </a:prstGeom>
          <a:noFill/>
          <a:ln/>
        </p:spPr>
        <p:txBody>
          <a:bodyPr wrap="square" lIns="0" tIns="0" rIns="0" bIns="0" rtlCol="0" anchor="t"/>
          <a:lstStyle/>
          <a:p>
            <a:pPr marL="342900" indent="-342900">
              <a:spcAft>
                <a:spcPts val="1000"/>
              </a:spcAft>
              <a:buSzPct val="100000"/>
              <a:buChar char="•"/>
            </a:pPr>
            <a:r>
              <a:rPr lang="en-US" sz="1600" b="1" dirty="0">
                <a:solidFill>
                  <a:schemeClr val="tx1"/>
                </a:solidFill>
              </a:rPr>
              <a:t>Local and current:</a:t>
            </a:r>
            <a:pPr indent="0" marL="0">
              <a:spcAft>
                <a:spcPts val="1000"/>
              </a:spcAft>
              <a:buNone/>
            </a:pPr>
            <a:r>
              <a:rPr lang="en-US" sz="1600" dirty="0">
                <a:solidFill>
                  <a:schemeClr val="tx1"/>
                </a:solidFill>
              </a:rPr>
              <a:t> a Karachi firm, this month’s SBP decision</a:t>
            </a:r>
            <a:endParaRPr lang="en-US" sz="1600" dirty="0"/>
          </a:p>
          <a:p>
            <a:pPr marL="342900" indent="-342900">
              <a:spcAft>
                <a:spcPts val="1000"/>
              </a:spcAft>
              <a:buSzPct val="100000"/>
              <a:buChar char="•"/>
            </a:pPr>
            <a:r>
              <a:rPr lang="en-US" sz="1600" b="1" dirty="0">
                <a:solidFill>
                  <a:schemeClr val="tx1"/>
                </a:solidFill>
              </a:rPr>
              <a:t>Personal:</a:t>
            </a:r>
            <a:pPr indent="0" marL="0">
              <a:spcAft>
                <a:spcPts val="1000"/>
              </a:spcAft>
              <a:buNone/>
            </a:pPr>
            <a:r>
              <a:rPr lang="en-US" sz="1600" dirty="0">
                <a:solidFill>
                  <a:schemeClr val="tx1"/>
                </a:solidFill>
              </a:rPr>
              <a:t> the student’s own decision, with reasons</a:t>
            </a:r>
            <a:endParaRPr lang="en-US" sz="1600" dirty="0"/>
          </a:p>
          <a:p>
            <a:pPr marL="342900" indent="-342900">
              <a:spcAft>
                <a:spcPts val="1000"/>
              </a:spcAft>
              <a:buSzPct val="100000"/>
              <a:buChar char="•"/>
            </a:pPr>
            <a:r>
              <a:rPr lang="en-US" sz="1600" b="1" dirty="0">
                <a:solidFill>
                  <a:schemeClr val="tx1"/>
                </a:solidFill>
              </a:rPr>
              <a:t>Process graded:</a:t>
            </a:r>
            <a:pPr indent="0" marL="0">
              <a:spcAft>
                <a:spcPts val="1000"/>
              </a:spcAft>
              <a:buNone/>
            </a:pPr>
            <a:r>
              <a:rPr lang="en-US" sz="1600" dirty="0">
                <a:solidFill>
                  <a:schemeClr val="tx1"/>
                </a:solidFill>
              </a:rPr>
              <a:t> proposal, draft, final, reflection</a:t>
            </a:r>
            <a:endParaRPr lang="en-US" sz="1600" dirty="0"/>
          </a:p>
          <a:p>
            <a:pPr marL="342900" indent="-342900">
              <a:spcAft>
                <a:spcPts val="1000"/>
              </a:spcAft>
              <a:buSzPct val="100000"/>
              <a:buChar char="•"/>
            </a:pPr>
            <a:r>
              <a:rPr lang="en-US" sz="1600" b="1" dirty="0">
                <a:solidFill>
                  <a:schemeClr val="tx1"/>
                </a:solidFill>
              </a:rPr>
              <a:t>Live:</a:t>
            </a:r>
            <a:pPr indent="0" marL="0">
              <a:spcAft>
                <a:spcPts val="1000"/>
              </a:spcAft>
              <a:buNone/>
            </a:pPr>
            <a:r>
              <a:rPr lang="en-US" sz="1600" dirty="0">
                <a:solidFill>
                  <a:schemeClr val="tx1"/>
                </a:solidFill>
              </a:rPr>
              <a:t> a 5-minute viva or in-class defence</a:t>
            </a:r>
            <a:endParaRPr lang="en-US" sz="1600" dirty="0"/>
          </a:p>
          <a:p>
            <a:pPr marL="342900" indent="-342900">
              <a:spcAft>
                <a:spcPts val="1000"/>
              </a:spcAft>
              <a:buSzPct val="100000"/>
              <a:buChar char="•"/>
            </a:pPr>
            <a:r>
              <a:rPr lang="en-US" sz="1600" b="1" dirty="0">
                <a:solidFill>
                  <a:schemeClr val="tx1"/>
                </a:solidFill>
              </a:rPr>
              <a:t>Class-specific:</a:t>
            </a:r>
            <a:pPr indent="0" marL="0">
              <a:spcAft>
                <a:spcPts val="1000"/>
              </a:spcAft>
              <a:buNone/>
            </a:pPr>
            <a:r>
              <a:rPr lang="en-US" sz="1600" dirty="0">
                <a:solidFill>
                  <a:schemeClr val="tx1"/>
                </a:solidFill>
              </a:rPr>
              <a:t> the case or dataset from your class</a:t>
            </a:r>
            <a:endParaRPr lang="en-US" sz="1600" dirty="0"/>
          </a:p>
        </p:txBody>
      </p:sp>
      <p:sp>
        <p:nvSpPr>
          <p:cNvPr id="7" name="Text 4"/>
          <p:cNvSpPr txBox="1"/>
          <p:nvPr/>
        </p:nvSpPr>
        <p:spPr>
          <a:xfrm>
            <a:off x="6373368" y="1920240"/>
            <a:ext cx="5010912" cy="365760"/>
          </a:xfrm>
          <a:prstGeom prst="rect">
            <a:avLst/>
          </a:prstGeom>
          <a:noFill/>
          <a:ln/>
        </p:spPr>
        <p:txBody>
          <a:bodyPr wrap="square" lIns="0" tIns="0" rIns="0" bIns="0" rtlCol="0" anchor="t"/>
          <a:lstStyle/>
          <a:p>
            <a:pPr indent="0" marL="0">
              <a:buNone/>
            </a:pPr>
            <a:r>
              <a:rPr lang="en-US" sz="1800" b="1" dirty="0">
                <a:solidFill>
                  <a:schemeClr val="tx1"/>
                </a:solidFill>
              </a:rPr>
              <a:t>Say it in your course outline</a:t>
            </a:r>
            <a:endParaRPr lang="en-US" sz="1800" dirty="0"/>
          </a:p>
        </p:txBody>
      </p:sp>
      <p:sp>
        <p:nvSpPr>
          <p:cNvPr id="8" name="policy 1"/>
          <p:cNvSpPr/>
          <p:nvPr/>
        </p:nvSpPr>
        <p:spPr>
          <a:xfrm>
            <a:off x="6373368" y="2377440"/>
            <a:ext cx="5010912" cy="868680"/>
          </a:xfrm>
          <a:prstGeom prst="roundRect">
            <a:avLst>
              <a:gd name="adj" fmla="val 12632"/>
            </a:avLst>
          </a:prstGeom>
          <a:solidFill>
            <a:schemeClr val="bg1"/>
          </a:solidFill>
          <a:ln w="9525">
            <a:solidFill>
              <a:srgbClr val="DDD7CB"/>
            </a:solidFill>
            <a:prstDash val="solid"/>
          </a:ln>
        </p:spPr>
      </p:sp>
      <p:sp>
        <p:nvSpPr>
          <p:cNvPr id="9" name="policy marker 1"/>
          <p:cNvSpPr/>
          <p:nvPr/>
        </p:nvSpPr>
        <p:spPr>
          <a:xfrm>
            <a:off x="6647688" y="2670048"/>
            <a:ext cx="274320" cy="274320"/>
          </a:xfrm>
          <a:prstGeom prst="ellipse">
            <a:avLst/>
          </a:prstGeom>
          <a:solidFill>
            <a:schemeClr val="accent4"/>
          </a:solidFill>
          <a:ln/>
        </p:spPr>
      </p:sp>
      <p:sp>
        <p:nvSpPr>
          <p:cNvPr id="10" name="Text 7"/>
          <p:cNvSpPr txBox="1"/>
          <p:nvPr/>
        </p:nvSpPr>
        <p:spPr>
          <a:xfrm>
            <a:off x="7150608" y="2377440"/>
            <a:ext cx="4050792" cy="868680"/>
          </a:xfrm>
          <a:prstGeom prst="rect">
            <a:avLst/>
          </a:prstGeom>
          <a:noFill/>
          <a:ln/>
        </p:spPr>
        <p:txBody>
          <a:bodyPr wrap="square" lIns="0" tIns="0" rIns="0" bIns="0" rtlCol="0" anchor="ctr"/>
          <a:lstStyle/>
          <a:p>
            <a:pPr indent="0" marL="0">
              <a:buNone/>
            </a:pPr>
            <a:r>
              <a:rPr lang="en-US" sz="1500" b="1" dirty="0">
                <a:solidFill>
                  <a:schemeClr val="tx1"/>
                </a:solidFill>
              </a:rPr>
              <a:t>Red · no AI:</a:t>
            </a:r>
            <a:pPr indent="0" marL="0">
              <a:buNone/>
            </a:pPr>
            <a:r>
              <a:rPr lang="en-US" sz="1500" dirty="0">
                <a:solidFill>
                  <a:schemeClr val="tx1"/>
                </a:solidFill>
              </a:rPr>
              <a:t> quizzes, mid-term, final</a:t>
            </a:r>
            <a:endParaRPr lang="en-US" sz="1500" dirty="0"/>
          </a:p>
        </p:txBody>
      </p:sp>
      <p:sp>
        <p:nvSpPr>
          <p:cNvPr id="11" name="policy 2"/>
          <p:cNvSpPr/>
          <p:nvPr/>
        </p:nvSpPr>
        <p:spPr>
          <a:xfrm>
            <a:off x="6373368" y="3429000"/>
            <a:ext cx="5010912" cy="868680"/>
          </a:xfrm>
          <a:prstGeom prst="roundRect">
            <a:avLst>
              <a:gd name="adj" fmla="val 12632"/>
            </a:avLst>
          </a:prstGeom>
          <a:solidFill>
            <a:schemeClr val="bg1"/>
          </a:solidFill>
          <a:ln w="9525">
            <a:solidFill>
              <a:srgbClr val="DDD7CB"/>
            </a:solidFill>
            <a:prstDash val="solid"/>
          </a:ln>
        </p:spPr>
      </p:sp>
      <p:sp>
        <p:nvSpPr>
          <p:cNvPr id="12" name="policy marker 2"/>
          <p:cNvSpPr/>
          <p:nvPr/>
        </p:nvSpPr>
        <p:spPr>
          <a:xfrm>
            <a:off x="6647688" y="3721608"/>
            <a:ext cx="274320" cy="274320"/>
          </a:xfrm>
          <a:prstGeom prst="ellipse">
            <a:avLst/>
          </a:prstGeom>
          <a:solidFill>
            <a:schemeClr val="accent5"/>
          </a:solidFill>
          <a:ln/>
        </p:spPr>
      </p:sp>
      <p:sp>
        <p:nvSpPr>
          <p:cNvPr id="13" name="Text 10"/>
          <p:cNvSpPr txBox="1"/>
          <p:nvPr/>
        </p:nvSpPr>
        <p:spPr>
          <a:xfrm>
            <a:off x="7150608" y="3429000"/>
            <a:ext cx="4050792" cy="868680"/>
          </a:xfrm>
          <a:prstGeom prst="rect">
            <a:avLst/>
          </a:prstGeom>
          <a:noFill/>
          <a:ln/>
        </p:spPr>
        <p:txBody>
          <a:bodyPr wrap="square" lIns="0" tIns="0" rIns="0" bIns="0" rtlCol="0" anchor="ctr"/>
          <a:lstStyle/>
          <a:p>
            <a:pPr indent="0" marL="0">
              <a:buNone/>
            </a:pPr>
            <a:r>
              <a:rPr lang="en-US" sz="1500" b="1" dirty="0">
                <a:solidFill>
                  <a:schemeClr val="tx1"/>
                </a:solidFill>
              </a:rPr>
              <a:t>Amber · support only:</a:t>
            </a:r>
            <a:pPr indent="0" marL="0">
              <a:buNone/>
            </a:pPr>
            <a:r>
              <a:rPr lang="en-US" sz="1500" dirty="0">
                <a:solidFill>
                  <a:schemeClr val="tx1"/>
                </a:solidFill>
              </a:rPr>
              <a:t> brainstorm, explain, grammar; disclose it</a:t>
            </a:r>
            <a:endParaRPr lang="en-US" sz="1500" dirty="0"/>
          </a:p>
        </p:txBody>
      </p:sp>
      <p:sp>
        <p:nvSpPr>
          <p:cNvPr id="14" name="policy 3"/>
          <p:cNvSpPr/>
          <p:nvPr/>
        </p:nvSpPr>
        <p:spPr>
          <a:xfrm>
            <a:off x="6373368" y="4480560"/>
            <a:ext cx="5010912" cy="868680"/>
          </a:xfrm>
          <a:prstGeom prst="roundRect">
            <a:avLst>
              <a:gd name="adj" fmla="val 12632"/>
            </a:avLst>
          </a:prstGeom>
          <a:solidFill>
            <a:schemeClr val="bg1"/>
          </a:solidFill>
          <a:ln w="9525">
            <a:solidFill>
              <a:srgbClr val="DDD7CB"/>
            </a:solidFill>
            <a:prstDash val="solid"/>
          </a:ln>
        </p:spPr>
      </p:sp>
      <p:sp>
        <p:nvSpPr>
          <p:cNvPr id="15" name="policy marker 3"/>
          <p:cNvSpPr/>
          <p:nvPr/>
        </p:nvSpPr>
        <p:spPr>
          <a:xfrm>
            <a:off x="6647688" y="4773168"/>
            <a:ext cx="274320" cy="274320"/>
          </a:xfrm>
          <a:prstGeom prst="ellipse">
            <a:avLst/>
          </a:prstGeom>
          <a:solidFill>
            <a:schemeClr val="accent3"/>
          </a:solidFill>
          <a:ln/>
        </p:spPr>
      </p:sp>
      <p:sp>
        <p:nvSpPr>
          <p:cNvPr id="16" name="Text 13"/>
          <p:cNvSpPr txBox="1"/>
          <p:nvPr/>
        </p:nvSpPr>
        <p:spPr>
          <a:xfrm>
            <a:off x="7150608" y="4480560"/>
            <a:ext cx="4050792" cy="868680"/>
          </a:xfrm>
          <a:prstGeom prst="rect">
            <a:avLst/>
          </a:prstGeom>
          <a:noFill/>
          <a:ln/>
        </p:spPr>
        <p:txBody>
          <a:bodyPr wrap="square" lIns="0" tIns="0" rIns="0" bIns="0" rtlCol="0" anchor="ctr"/>
          <a:lstStyle/>
          <a:p>
            <a:pPr indent="0" marL="0">
              <a:buNone/>
            </a:pPr>
            <a:r>
              <a:rPr lang="en-US" sz="1500" b="1" dirty="0">
                <a:solidFill>
                  <a:schemeClr val="tx1"/>
                </a:solidFill>
              </a:rPr>
              <a:t>Green · encouraged:</a:t>
            </a:r>
            <a:pPr indent="0" marL="0">
              <a:buNone/>
            </a:pPr>
            <a:r>
              <a:rPr lang="en-US" sz="1500" dirty="0">
                <a:solidFill>
                  <a:schemeClr val="tx1"/>
                </a:solidFill>
              </a:rPr>
              <a:t> tasks where critiquing AI is the point</a:t>
            </a:r>
            <a:endParaRPr lang="en-US" sz="1500" dirty="0"/>
          </a:p>
        </p:txBody>
      </p:sp>
      <p:sp>
        <p:nvSpPr>
          <p:cNvPr id="25" name="Slide Number Placeholder 0"/>
          <p:cNvSpPr>
            <a:spLocks noGrp="1"/>
          </p:cNvSpPr>
          <p:nvPr>
            <p:ph type="sldNum" sz="quarter" idx="4294967295"/>
          </p:nvPr>
        </p:nvSpPr>
        <p:spPr>
          <a:xfrm>
            <a:off x="10561320" y="6291072"/>
            <a:ext cx="8229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body" hasCustomPrompt="1"/>
          </p:nvPr>
        </p:nvSpPr>
        <p:spPr>
          <a:xfrm>
            <a:off x="813816" y="640080"/>
            <a:ext cx="10570464" cy="320040"/>
          </a:xfrm>
          <a:prstGeom prst="rect">
            <a:avLst/>
          </a:prstGeom>
          <a:noFill/>
          <a:ln/>
        </p:spPr>
        <p:txBody>
          <a:bodyPr wrap="square" lIns="0" tIns="0" rIns="0" bIns="0" rtlCol="0" anchor="t"/>
          <a:lstStyle/>
          <a:p>
            <a:pPr indent="0" marL="0">
              <a:buNone/>
            </a:pPr>
            <a:r>
              <a:rPr lang="en-US" sz="1200" b="1" spc="300" kern="0" dirty="0">
                <a:solidFill>
                  <a:schemeClr val="accent1"/>
                </a:solidFill>
              </a:rPr>
              <a:t>TABLE DISCUSSION · 8 MINUTES · ONE CARD PER TABLE</a:t>
            </a:r>
            <a:endParaRPr lang="en-US" sz="1200" dirty="0"/>
          </a:p>
        </p:txBody>
      </p:sp>
      <p:sp>
        <p:nvSpPr>
          <p:cNvPr id="3" name="Text 1"/>
          <p:cNvSpPr/>
          <p:nvPr>
            <p:ph idx="102" type="title" hasCustomPrompt="1"/>
          </p:nvPr>
        </p:nvSpPr>
        <p:spPr>
          <a:xfrm>
            <a:off x="813816" y="987552"/>
            <a:ext cx="10570464" cy="731520"/>
          </a:xfrm>
          <a:prstGeom prst="rect">
            <a:avLst/>
          </a:prstGeom>
          <a:noFill/>
          <a:ln/>
        </p:spPr>
        <p:txBody>
          <a:bodyPr wrap="square" lIns="0" tIns="0" rIns="0" bIns="0" rtlCol="0" anchor="t"/>
          <a:lstStyle/>
          <a:p>
            <a:pPr algn="l" indent="0" marL="0">
              <a:buNone/>
            </a:pPr>
            <a:r>
              <a:rPr lang="en-US" sz="3600" b="1" dirty="0">
                <a:solidFill>
                  <a:schemeClr val="tx1"/>
                </a:solidFill>
                <a:latin typeface="+mj-lt" pitchFamily="34" charset="0"/>
                <a:ea typeface="+mj-lt" pitchFamily="34" charset="-122"/>
                <a:cs typeface="+mj-lt" pitchFamily="34" charset="-120"/>
              </a:rPr>
              <a:t>What would you do?</a:t>
            </a:r>
            <a:endParaRPr lang="en-US" sz="3600" dirty="0"/>
          </a:p>
        </p:txBody>
      </p:sp>
      <p:sp>
        <p:nvSpPr>
          <p:cNvPr id="5" name="card 1"/>
          <p:cNvSpPr/>
          <p:nvPr/>
        </p:nvSpPr>
        <p:spPr>
          <a:xfrm>
            <a:off x="813816" y="1920240"/>
            <a:ext cx="5102352" cy="1737360"/>
          </a:xfrm>
          <a:prstGeom prst="roundRect">
            <a:avLst>
              <a:gd name="adj" fmla="val 6316"/>
            </a:avLst>
          </a:prstGeom>
          <a:solidFill>
            <a:schemeClr val="bg1"/>
          </a:solidFill>
          <a:ln w="9525">
            <a:solidFill>
              <a:srgbClr val="DDD7CB"/>
            </a:solidFill>
            <a:prstDash val="solid"/>
          </a:ln>
        </p:spPr>
      </p:sp>
      <p:sp>
        <p:nvSpPr>
          <p:cNvPr id="6" name="Text 3"/>
          <p:cNvSpPr txBox="1"/>
          <p:nvPr/>
        </p:nvSpPr>
        <p:spPr>
          <a:xfrm>
            <a:off x="1133856" y="2148840"/>
            <a:ext cx="1828800" cy="365760"/>
          </a:xfrm>
          <a:prstGeom prst="rect">
            <a:avLst/>
          </a:prstGeom>
          <a:noFill/>
          <a:ln/>
        </p:spPr>
        <p:txBody>
          <a:bodyPr wrap="square" lIns="0" tIns="0" rIns="0" bIns="0" rtlCol="0" anchor="t"/>
          <a:lstStyle/>
          <a:p>
            <a:pPr indent="0" marL="0">
              <a:buNone/>
            </a:pPr>
            <a:r>
              <a:rPr lang="en-US" sz="1800" b="1" dirty="0">
                <a:solidFill>
                  <a:schemeClr val="accent1"/>
                </a:solidFill>
              </a:rPr>
              <a:t>Card 1</a:t>
            </a:r>
            <a:endParaRPr lang="en-US" sz="1800" dirty="0"/>
          </a:p>
        </p:txBody>
      </p:sp>
      <p:sp>
        <p:nvSpPr>
          <p:cNvPr id="7" name="Text 4"/>
          <p:cNvSpPr txBox="1"/>
          <p:nvPr/>
        </p:nvSpPr>
        <p:spPr>
          <a:xfrm>
            <a:off x="1133856" y="2578608"/>
            <a:ext cx="4462272" cy="960120"/>
          </a:xfrm>
          <a:prstGeom prst="rect">
            <a:avLst/>
          </a:prstGeom>
          <a:noFill/>
          <a:ln/>
        </p:spPr>
        <p:txBody>
          <a:bodyPr wrap="square" lIns="0" tIns="0" rIns="0" bIns="0" rtlCol="0" anchor="t"/>
          <a:lstStyle/>
          <a:p>
            <a:pPr indent="0" marL="0">
              <a:buNone/>
            </a:pPr>
            <a:r>
              <a:rPr lang="en-US" sz="1500" dirty="0">
                <a:solidFill>
                  <a:schemeClr val="tx1"/>
                </a:solidFill>
              </a:rPr>
              <a:t>A strong student’s essay shows 68% AI. Her earlier work reads the same, and she used Grammarly heavily.</a:t>
            </a:r>
            <a:endParaRPr lang="en-US" sz="1500" dirty="0"/>
          </a:p>
        </p:txBody>
      </p:sp>
      <p:sp>
        <p:nvSpPr>
          <p:cNvPr id="8" name="card 2"/>
          <p:cNvSpPr/>
          <p:nvPr/>
        </p:nvSpPr>
        <p:spPr>
          <a:xfrm>
            <a:off x="6281928" y="1920240"/>
            <a:ext cx="5102352" cy="1737360"/>
          </a:xfrm>
          <a:prstGeom prst="roundRect">
            <a:avLst>
              <a:gd name="adj" fmla="val 6316"/>
            </a:avLst>
          </a:prstGeom>
          <a:solidFill>
            <a:schemeClr val="bg1"/>
          </a:solidFill>
          <a:ln w="9525">
            <a:solidFill>
              <a:srgbClr val="DDD7CB"/>
            </a:solidFill>
            <a:prstDash val="solid"/>
          </a:ln>
        </p:spPr>
      </p:sp>
      <p:sp>
        <p:nvSpPr>
          <p:cNvPr id="9" name="Text 6"/>
          <p:cNvSpPr txBox="1"/>
          <p:nvPr/>
        </p:nvSpPr>
        <p:spPr>
          <a:xfrm>
            <a:off x="6601968" y="2148840"/>
            <a:ext cx="1828800" cy="365760"/>
          </a:xfrm>
          <a:prstGeom prst="rect">
            <a:avLst/>
          </a:prstGeom>
          <a:noFill/>
          <a:ln/>
        </p:spPr>
        <p:txBody>
          <a:bodyPr wrap="square" lIns="0" tIns="0" rIns="0" bIns="0" rtlCol="0" anchor="t"/>
          <a:lstStyle/>
          <a:p>
            <a:pPr indent="0" marL="0">
              <a:buNone/>
            </a:pPr>
            <a:r>
              <a:rPr lang="en-US" sz="1800" b="1" dirty="0">
                <a:solidFill>
                  <a:schemeClr val="accent1"/>
                </a:solidFill>
              </a:rPr>
              <a:t>Card 2</a:t>
            </a:r>
            <a:endParaRPr lang="en-US" sz="1800" dirty="0"/>
          </a:p>
        </p:txBody>
      </p:sp>
      <p:sp>
        <p:nvSpPr>
          <p:cNvPr id="10" name="Text 7"/>
          <p:cNvSpPr txBox="1"/>
          <p:nvPr/>
        </p:nvSpPr>
        <p:spPr>
          <a:xfrm>
            <a:off x="6601968" y="2578608"/>
            <a:ext cx="4462272" cy="960120"/>
          </a:xfrm>
          <a:prstGeom prst="rect">
            <a:avLst/>
          </a:prstGeom>
          <a:noFill/>
          <a:ln/>
        </p:spPr>
        <p:txBody>
          <a:bodyPr wrap="square" lIns="0" tIns="0" rIns="0" bIns="0" rtlCol="0" anchor="t"/>
          <a:lstStyle/>
          <a:p>
            <a:pPr indent="0" marL="0">
              <a:buNone/>
            </a:pPr>
            <a:r>
              <a:rPr lang="en-US" sz="1500" dirty="0">
                <a:solidFill>
                  <a:schemeClr val="tx1"/>
                </a:solidFill>
              </a:rPr>
              <a:t>A group report shows 0% AI, but three of its references don’t exist.</a:t>
            </a:r>
            <a:endParaRPr lang="en-US" sz="1500" dirty="0"/>
          </a:p>
        </p:txBody>
      </p:sp>
      <p:sp>
        <p:nvSpPr>
          <p:cNvPr id="11" name="card 3"/>
          <p:cNvSpPr/>
          <p:nvPr/>
        </p:nvSpPr>
        <p:spPr>
          <a:xfrm>
            <a:off x="813816" y="3886200"/>
            <a:ext cx="5102352" cy="1737360"/>
          </a:xfrm>
          <a:prstGeom prst="roundRect">
            <a:avLst>
              <a:gd name="adj" fmla="val 6316"/>
            </a:avLst>
          </a:prstGeom>
          <a:solidFill>
            <a:schemeClr val="bg1"/>
          </a:solidFill>
          <a:ln w="9525">
            <a:solidFill>
              <a:srgbClr val="DDD7CB"/>
            </a:solidFill>
            <a:prstDash val="solid"/>
          </a:ln>
        </p:spPr>
      </p:sp>
      <p:sp>
        <p:nvSpPr>
          <p:cNvPr id="12" name="Text 9"/>
          <p:cNvSpPr txBox="1"/>
          <p:nvPr/>
        </p:nvSpPr>
        <p:spPr>
          <a:xfrm>
            <a:off x="1133856" y="4114800"/>
            <a:ext cx="1828800" cy="365760"/>
          </a:xfrm>
          <a:prstGeom prst="rect">
            <a:avLst/>
          </a:prstGeom>
          <a:noFill/>
          <a:ln/>
        </p:spPr>
        <p:txBody>
          <a:bodyPr wrap="square" lIns="0" tIns="0" rIns="0" bIns="0" rtlCol="0" anchor="t"/>
          <a:lstStyle/>
          <a:p>
            <a:pPr indent="0" marL="0">
              <a:buNone/>
            </a:pPr>
            <a:r>
              <a:rPr lang="en-US" sz="1800" b="1" dirty="0">
                <a:solidFill>
                  <a:schemeClr val="accent1"/>
                </a:solidFill>
              </a:rPr>
              <a:t>Card 3</a:t>
            </a:r>
            <a:endParaRPr lang="en-US" sz="1800" dirty="0"/>
          </a:p>
        </p:txBody>
      </p:sp>
      <p:sp>
        <p:nvSpPr>
          <p:cNvPr id="13" name="Text 10"/>
          <p:cNvSpPr txBox="1"/>
          <p:nvPr/>
        </p:nvSpPr>
        <p:spPr>
          <a:xfrm>
            <a:off x="1133856" y="4544568"/>
            <a:ext cx="4462272" cy="960120"/>
          </a:xfrm>
          <a:prstGeom prst="rect">
            <a:avLst/>
          </a:prstGeom>
          <a:noFill/>
          <a:ln/>
        </p:spPr>
        <p:txBody>
          <a:bodyPr wrap="square" lIns="0" tIns="0" rIns="0" bIns="0" rtlCol="0" anchor="t"/>
          <a:lstStyle/>
          <a:p>
            <a:pPr indent="0" marL="0">
              <a:buNone/>
            </a:pPr>
            <a:r>
              <a:rPr lang="en-US" sz="1500" dirty="0">
                <a:solidFill>
                  <a:schemeClr val="tx1"/>
                </a:solidFill>
              </a:rPr>
              <a:t>A take-home answer shows “*%” but reads nothing like the student’s in-class writing.</a:t>
            </a:r>
            <a:endParaRPr lang="en-US" sz="1500" dirty="0"/>
          </a:p>
        </p:txBody>
      </p:sp>
      <p:sp>
        <p:nvSpPr>
          <p:cNvPr id="14" name="card 4"/>
          <p:cNvSpPr/>
          <p:nvPr/>
        </p:nvSpPr>
        <p:spPr>
          <a:xfrm>
            <a:off x="6281928" y="3886200"/>
            <a:ext cx="5102352" cy="1737360"/>
          </a:xfrm>
          <a:prstGeom prst="roundRect">
            <a:avLst>
              <a:gd name="adj" fmla="val 6316"/>
            </a:avLst>
          </a:prstGeom>
          <a:solidFill>
            <a:schemeClr val="bg1"/>
          </a:solidFill>
          <a:ln w="9525">
            <a:solidFill>
              <a:srgbClr val="DDD7CB"/>
            </a:solidFill>
            <a:prstDash val="solid"/>
          </a:ln>
        </p:spPr>
      </p:sp>
      <p:sp>
        <p:nvSpPr>
          <p:cNvPr id="15" name="Text 12"/>
          <p:cNvSpPr txBox="1"/>
          <p:nvPr/>
        </p:nvSpPr>
        <p:spPr>
          <a:xfrm>
            <a:off x="6601968" y="4114800"/>
            <a:ext cx="1828800" cy="365760"/>
          </a:xfrm>
          <a:prstGeom prst="rect">
            <a:avLst/>
          </a:prstGeom>
          <a:noFill/>
          <a:ln/>
        </p:spPr>
        <p:txBody>
          <a:bodyPr wrap="square" lIns="0" tIns="0" rIns="0" bIns="0" rtlCol="0" anchor="t"/>
          <a:lstStyle/>
          <a:p>
            <a:pPr indent="0" marL="0">
              <a:buNone/>
            </a:pPr>
            <a:r>
              <a:rPr lang="en-US" sz="1800" b="1" dirty="0">
                <a:solidFill>
                  <a:schemeClr val="accent1"/>
                </a:solidFill>
              </a:rPr>
              <a:t>Card 4</a:t>
            </a:r>
            <a:endParaRPr lang="en-US" sz="1800" dirty="0"/>
          </a:p>
        </p:txBody>
      </p:sp>
      <p:sp>
        <p:nvSpPr>
          <p:cNvPr id="16" name="Text 13"/>
          <p:cNvSpPr txBox="1"/>
          <p:nvPr/>
        </p:nvSpPr>
        <p:spPr>
          <a:xfrm>
            <a:off x="6601968" y="4544568"/>
            <a:ext cx="4462272" cy="960120"/>
          </a:xfrm>
          <a:prstGeom prst="rect">
            <a:avLst/>
          </a:prstGeom>
          <a:noFill/>
          <a:ln/>
        </p:spPr>
        <p:txBody>
          <a:bodyPr wrap="square" lIns="0" tIns="0" rIns="0" bIns="0" rtlCol="0" anchor="t"/>
          <a:lstStyle/>
          <a:p>
            <a:pPr indent="0" marL="0">
              <a:buNone/>
            </a:pPr>
            <a:r>
              <a:rPr lang="en-US" sz="1500" dirty="0">
                <a:solidFill>
                  <a:schemeClr val="tx1"/>
                </a:solidFill>
              </a:rPr>
              <a:t>A colleague wants to fail every paper above 30% AI “to send a message”. What do you say?</a:t>
            </a:r>
            <a:endParaRPr lang="en-US" sz="1500" dirty="0"/>
          </a:p>
        </p:txBody>
      </p:sp>
      <p:sp>
        <p:nvSpPr>
          <p:cNvPr id="25" name="Slide Number Placeholder 0"/>
          <p:cNvSpPr>
            <a:spLocks noGrp="1"/>
          </p:cNvSpPr>
          <p:nvPr>
            <p:ph type="sldNum" sz="quarter" idx="4294967295"/>
          </p:nvPr>
        </p:nvSpPr>
        <p:spPr>
          <a:xfrm>
            <a:off x="10561320" y="6291072"/>
            <a:ext cx="8229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body" hasCustomPrompt="1"/>
          </p:nvPr>
        </p:nvSpPr>
        <p:spPr>
          <a:xfrm>
            <a:off x="813816" y="640080"/>
            <a:ext cx="10570464" cy="320040"/>
          </a:xfrm>
          <a:prstGeom prst="rect">
            <a:avLst/>
          </a:prstGeom>
          <a:noFill/>
          <a:ln/>
        </p:spPr>
        <p:txBody>
          <a:bodyPr wrap="square" lIns="0" tIns="0" rIns="0" bIns="0" rtlCol="0" anchor="t"/>
          <a:lstStyle/>
          <a:p>
            <a:pPr indent="0" marL="0">
              <a:buNone/>
            </a:pPr>
            <a:r>
              <a:rPr lang="en-US" sz="1200" b="1" spc="300" kern="0" dirty="0">
                <a:solidFill>
                  <a:schemeClr val="accent1"/>
                </a:solidFill>
              </a:rPr>
              <a:t>EMBEDDING IN SAKAI · 8 MINUTES</a:t>
            </a:r>
            <a:endParaRPr lang="en-US" sz="1200" dirty="0"/>
          </a:p>
        </p:txBody>
      </p:sp>
      <p:sp>
        <p:nvSpPr>
          <p:cNvPr id="3" name="Text 1"/>
          <p:cNvSpPr/>
          <p:nvPr>
            <p:ph idx="102" type="title" hasCustomPrompt="1"/>
          </p:nvPr>
        </p:nvSpPr>
        <p:spPr>
          <a:xfrm>
            <a:off x="813816" y="987552"/>
            <a:ext cx="10570464" cy="731520"/>
          </a:xfrm>
          <a:prstGeom prst="rect">
            <a:avLst/>
          </a:prstGeom>
          <a:noFill/>
          <a:ln/>
        </p:spPr>
        <p:txBody>
          <a:bodyPr wrap="square" lIns="0" tIns="0" rIns="0" bIns="0" rtlCol="0" anchor="t"/>
          <a:lstStyle/>
          <a:p>
            <a:pPr algn="l" indent="0" marL="0">
              <a:buNone/>
            </a:pPr>
            <a:r>
              <a:rPr lang="en-US" sz="3600" b="1" dirty="0">
                <a:solidFill>
                  <a:schemeClr val="tx1"/>
                </a:solidFill>
                <a:latin typeface="+mj-lt" pitchFamily="34" charset="0"/>
                <a:ea typeface="+mj-lt" pitchFamily="34" charset="-122"/>
                <a:cs typeface="+mj-lt" pitchFamily="34" charset="-120"/>
              </a:rPr>
              <a:t>From Copilot Studio to Sakai</a:t>
            </a:r>
            <a:endParaRPr lang="en-US" sz="3600" dirty="0"/>
          </a:p>
        </p:txBody>
      </p:sp>
      <p:sp>
        <p:nvSpPr>
          <p:cNvPr id="5" name="step 1"/>
          <p:cNvSpPr/>
          <p:nvPr/>
        </p:nvSpPr>
        <p:spPr>
          <a:xfrm>
            <a:off x="813816" y="1874520"/>
            <a:ext cx="2265426" cy="1691640"/>
          </a:xfrm>
          <a:prstGeom prst="roundRect">
            <a:avLst>
              <a:gd name="adj" fmla="val 6486"/>
            </a:avLst>
          </a:prstGeom>
          <a:solidFill>
            <a:schemeClr val="bg1"/>
          </a:solidFill>
          <a:ln w="9525">
            <a:solidFill>
              <a:srgbClr val="DDD7CB"/>
            </a:solidFill>
            <a:prstDash val="solid"/>
          </a:ln>
        </p:spPr>
      </p:sp>
      <p:sp>
        <p:nvSpPr>
          <p:cNvPr id="6" name="Text 3"/>
          <p:cNvSpPr txBox="1"/>
          <p:nvPr/>
        </p:nvSpPr>
        <p:spPr>
          <a:xfrm>
            <a:off x="1042416" y="2075688"/>
            <a:ext cx="548640" cy="365760"/>
          </a:xfrm>
          <a:prstGeom prst="rect">
            <a:avLst/>
          </a:prstGeom>
          <a:noFill/>
          <a:ln/>
        </p:spPr>
        <p:txBody>
          <a:bodyPr wrap="square" lIns="0" tIns="0" rIns="0" bIns="0" rtlCol="0" anchor="t"/>
          <a:lstStyle/>
          <a:p>
            <a:pPr indent="0" marL="0">
              <a:buNone/>
            </a:pPr>
            <a:r>
              <a:rPr lang="en-US" sz="2200" b="1" dirty="0">
                <a:solidFill>
                  <a:schemeClr val="accent1"/>
                </a:solidFill>
                <a:latin typeface="+mj-lt" pitchFamily="34" charset="0"/>
                <a:ea typeface="+mj-lt" pitchFamily="34" charset="-122"/>
                <a:cs typeface="+mj-lt" pitchFamily="34" charset="-120"/>
              </a:rPr>
              <a:t>1</a:t>
            </a:r>
            <a:endParaRPr lang="en-US" sz="2200" dirty="0"/>
          </a:p>
        </p:txBody>
      </p:sp>
      <p:sp>
        <p:nvSpPr>
          <p:cNvPr id="7" name="Text 4"/>
          <p:cNvSpPr txBox="1"/>
          <p:nvPr/>
        </p:nvSpPr>
        <p:spPr>
          <a:xfrm>
            <a:off x="1042416" y="2514600"/>
            <a:ext cx="1808226" cy="914400"/>
          </a:xfrm>
          <a:prstGeom prst="rect">
            <a:avLst/>
          </a:prstGeom>
          <a:noFill/>
          <a:ln/>
        </p:spPr>
        <p:txBody>
          <a:bodyPr wrap="square" lIns="0" tIns="0" rIns="0" bIns="0" rtlCol="0" anchor="t"/>
          <a:lstStyle/>
          <a:p>
            <a:pPr indent="0" marL="0">
              <a:buNone/>
            </a:pPr>
            <a:r>
              <a:rPr lang="en-US" sz="1400" dirty="0">
                <a:solidFill>
                  <a:schemeClr val="tx1"/>
                </a:solidFill>
              </a:rPr>
              <a:t>Settings › Security: </a:t>
            </a:r>
            <a:pPr indent="0" marL="0">
              <a:buNone/>
            </a:pPr>
            <a:r>
              <a:rPr lang="en-US" sz="1400" b="1" dirty="0">
                <a:solidFill>
                  <a:schemeClr val="tx1"/>
                </a:solidFill>
              </a:rPr>
              <a:t>No authentication</a:t>
            </a:r>
            <a:endParaRPr lang="en-US" sz="1400" dirty="0"/>
          </a:p>
        </p:txBody>
      </p:sp>
      <p:sp>
        <p:nvSpPr>
          <p:cNvPr id="8" name="arrow"/>
          <p:cNvSpPr/>
          <p:nvPr/>
        </p:nvSpPr>
        <p:spPr>
          <a:xfrm>
            <a:off x="3179826" y="2628900"/>
            <a:ext cx="301752" cy="182880"/>
          </a:xfrm>
          <a:prstGeom prst="rightArrow">
            <a:avLst/>
          </a:prstGeom>
          <a:solidFill>
            <a:schemeClr val="accent1"/>
          </a:solidFill>
          <a:ln/>
        </p:spPr>
      </p:sp>
      <p:sp>
        <p:nvSpPr>
          <p:cNvPr id="9" name="step 2"/>
          <p:cNvSpPr/>
          <p:nvPr/>
        </p:nvSpPr>
        <p:spPr>
          <a:xfrm>
            <a:off x="3582162" y="1874520"/>
            <a:ext cx="2265426" cy="1691640"/>
          </a:xfrm>
          <a:prstGeom prst="roundRect">
            <a:avLst>
              <a:gd name="adj" fmla="val 6486"/>
            </a:avLst>
          </a:prstGeom>
          <a:solidFill>
            <a:schemeClr val="bg1"/>
          </a:solidFill>
          <a:ln w="9525">
            <a:solidFill>
              <a:srgbClr val="DDD7CB"/>
            </a:solidFill>
            <a:prstDash val="solid"/>
          </a:ln>
        </p:spPr>
      </p:sp>
      <p:sp>
        <p:nvSpPr>
          <p:cNvPr id="10" name="Text 7"/>
          <p:cNvSpPr txBox="1"/>
          <p:nvPr/>
        </p:nvSpPr>
        <p:spPr>
          <a:xfrm>
            <a:off x="3810762" y="2075688"/>
            <a:ext cx="548640" cy="365760"/>
          </a:xfrm>
          <a:prstGeom prst="rect">
            <a:avLst/>
          </a:prstGeom>
          <a:noFill/>
          <a:ln/>
        </p:spPr>
        <p:txBody>
          <a:bodyPr wrap="square" lIns="0" tIns="0" rIns="0" bIns="0" rtlCol="0" anchor="t"/>
          <a:lstStyle/>
          <a:p>
            <a:pPr indent="0" marL="0">
              <a:buNone/>
            </a:pPr>
            <a:r>
              <a:rPr lang="en-US" sz="2200" b="1" dirty="0">
                <a:solidFill>
                  <a:schemeClr val="accent1"/>
                </a:solidFill>
                <a:latin typeface="+mj-lt" pitchFamily="34" charset="0"/>
                <a:ea typeface="+mj-lt" pitchFamily="34" charset="-122"/>
                <a:cs typeface="+mj-lt" pitchFamily="34" charset="-120"/>
              </a:rPr>
              <a:t>2</a:t>
            </a:r>
            <a:endParaRPr lang="en-US" sz="2200" dirty="0"/>
          </a:p>
        </p:txBody>
      </p:sp>
      <p:sp>
        <p:nvSpPr>
          <p:cNvPr id="11" name="Text 8"/>
          <p:cNvSpPr txBox="1"/>
          <p:nvPr/>
        </p:nvSpPr>
        <p:spPr>
          <a:xfrm>
            <a:off x="3810762" y="2514600"/>
            <a:ext cx="1808226" cy="914400"/>
          </a:xfrm>
          <a:prstGeom prst="rect">
            <a:avLst/>
          </a:prstGeom>
          <a:noFill/>
          <a:ln/>
        </p:spPr>
        <p:txBody>
          <a:bodyPr wrap="square" lIns="0" tIns="0" rIns="0" bIns="0" rtlCol="0" anchor="t"/>
          <a:lstStyle/>
          <a:p>
            <a:pPr indent="0" marL="0">
              <a:buNone/>
            </a:pPr>
            <a:r>
              <a:rPr lang="en-US" sz="1400" b="1" dirty="0">
                <a:solidFill>
                  <a:schemeClr val="tx1"/>
                </a:solidFill>
              </a:rPr>
              <a:t>Publish</a:t>
            </a:r>
            <a:pPr indent="0" marL="0">
              <a:buNone/>
            </a:pPr>
            <a:r>
              <a:rPr lang="en-US" sz="1400" dirty="0">
                <a:solidFill>
                  <a:schemeClr val="tx1"/>
                </a:solidFill>
              </a:rPr>
              <a:t>, and again after every change</a:t>
            </a:r>
            <a:endParaRPr lang="en-US" sz="1400" dirty="0"/>
          </a:p>
        </p:txBody>
      </p:sp>
      <p:sp>
        <p:nvSpPr>
          <p:cNvPr id="12" name="arrow"/>
          <p:cNvSpPr/>
          <p:nvPr/>
        </p:nvSpPr>
        <p:spPr>
          <a:xfrm>
            <a:off x="5948172" y="2628900"/>
            <a:ext cx="301752" cy="182880"/>
          </a:xfrm>
          <a:prstGeom prst="rightArrow">
            <a:avLst/>
          </a:prstGeom>
          <a:solidFill>
            <a:schemeClr val="accent1"/>
          </a:solidFill>
          <a:ln/>
        </p:spPr>
      </p:sp>
      <p:sp>
        <p:nvSpPr>
          <p:cNvPr id="13" name="step 3"/>
          <p:cNvSpPr/>
          <p:nvPr/>
        </p:nvSpPr>
        <p:spPr>
          <a:xfrm>
            <a:off x="6350508" y="1874520"/>
            <a:ext cx="2265426" cy="1691640"/>
          </a:xfrm>
          <a:prstGeom prst="roundRect">
            <a:avLst>
              <a:gd name="adj" fmla="val 6486"/>
            </a:avLst>
          </a:prstGeom>
          <a:solidFill>
            <a:schemeClr val="bg1"/>
          </a:solidFill>
          <a:ln w="9525">
            <a:solidFill>
              <a:srgbClr val="DDD7CB"/>
            </a:solidFill>
            <a:prstDash val="solid"/>
          </a:ln>
        </p:spPr>
      </p:sp>
      <p:sp>
        <p:nvSpPr>
          <p:cNvPr id="14" name="Text 11"/>
          <p:cNvSpPr txBox="1"/>
          <p:nvPr/>
        </p:nvSpPr>
        <p:spPr>
          <a:xfrm>
            <a:off x="6579108" y="2075688"/>
            <a:ext cx="548640" cy="365760"/>
          </a:xfrm>
          <a:prstGeom prst="rect">
            <a:avLst/>
          </a:prstGeom>
          <a:noFill/>
          <a:ln/>
        </p:spPr>
        <p:txBody>
          <a:bodyPr wrap="square" lIns="0" tIns="0" rIns="0" bIns="0" rtlCol="0" anchor="t"/>
          <a:lstStyle/>
          <a:p>
            <a:pPr indent="0" marL="0">
              <a:buNone/>
            </a:pPr>
            <a:r>
              <a:rPr lang="en-US" sz="2200" b="1" dirty="0">
                <a:solidFill>
                  <a:schemeClr val="accent1"/>
                </a:solidFill>
                <a:latin typeface="+mj-lt" pitchFamily="34" charset="0"/>
                <a:ea typeface="+mj-lt" pitchFamily="34" charset="-122"/>
                <a:cs typeface="+mj-lt" pitchFamily="34" charset="-120"/>
              </a:rPr>
              <a:t>3</a:t>
            </a:r>
            <a:endParaRPr lang="en-US" sz="2200" dirty="0"/>
          </a:p>
        </p:txBody>
      </p:sp>
      <p:sp>
        <p:nvSpPr>
          <p:cNvPr id="15" name="Text 12"/>
          <p:cNvSpPr txBox="1"/>
          <p:nvPr/>
        </p:nvSpPr>
        <p:spPr>
          <a:xfrm>
            <a:off x="6579108" y="2514600"/>
            <a:ext cx="1808226" cy="914400"/>
          </a:xfrm>
          <a:prstGeom prst="rect">
            <a:avLst/>
          </a:prstGeom>
          <a:noFill/>
          <a:ln/>
        </p:spPr>
        <p:txBody>
          <a:bodyPr wrap="square" lIns="0" tIns="0" rIns="0" bIns="0" rtlCol="0" anchor="t"/>
          <a:lstStyle/>
          <a:p>
            <a:pPr indent="0" marL="0">
              <a:buNone/>
            </a:pPr>
            <a:r>
              <a:rPr lang="en-US" sz="1400" dirty="0">
                <a:solidFill>
                  <a:schemeClr val="tx1"/>
                </a:solidFill>
              </a:rPr>
              <a:t>Channels › Custom website: </a:t>
            </a:r>
            <a:pPr indent="0" marL="0">
              <a:buNone/>
            </a:pPr>
            <a:r>
              <a:rPr lang="en-US" sz="1400" b="1" dirty="0">
                <a:solidFill>
                  <a:schemeClr val="tx1"/>
                </a:solidFill>
              </a:rPr>
              <a:t>copy the iframe</a:t>
            </a:r>
            <a:endParaRPr lang="en-US" sz="1400" dirty="0"/>
          </a:p>
        </p:txBody>
      </p:sp>
      <p:sp>
        <p:nvSpPr>
          <p:cNvPr id="16" name="arrow"/>
          <p:cNvSpPr/>
          <p:nvPr/>
        </p:nvSpPr>
        <p:spPr>
          <a:xfrm>
            <a:off x="8716518" y="2628900"/>
            <a:ext cx="301752" cy="182880"/>
          </a:xfrm>
          <a:prstGeom prst="rightArrow">
            <a:avLst/>
          </a:prstGeom>
          <a:solidFill>
            <a:schemeClr val="accent1"/>
          </a:solidFill>
          <a:ln/>
        </p:spPr>
      </p:sp>
      <p:sp>
        <p:nvSpPr>
          <p:cNvPr id="17" name="step 4"/>
          <p:cNvSpPr/>
          <p:nvPr/>
        </p:nvSpPr>
        <p:spPr>
          <a:xfrm>
            <a:off x="9118854" y="1874520"/>
            <a:ext cx="2265426" cy="1691640"/>
          </a:xfrm>
          <a:prstGeom prst="roundRect">
            <a:avLst>
              <a:gd name="adj" fmla="val 6486"/>
            </a:avLst>
          </a:prstGeom>
          <a:solidFill>
            <a:schemeClr val="bg1"/>
          </a:solidFill>
          <a:ln w="9525">
            <a:solidFill>
              <a:srgbClr val="DDD7CB"/>
            </a:solidFill>
            <a:prstDash val="solid"/>
          </a:ln>
        </p:spPr>
      </p:sp>
      <p:sp>
        <p:nvSpPr>
          <p:cNvPr id="18" name="Text 15"/>
          <p:cNvSpPr txBox="1"/>
          <p:nvPr/>
        </p:nvSpPr>
        <p:spPr>
          <a:xfrm>
            <a:off x="9347454" y="2075688"/>
            <a:ext cx="548640" cy="365760"/>
          </a:xfrm>
          <a:prstGeom prst="rect">
            <a:avLst/>
          </a:prstGeom>
          <a:noFill/>
          <a:ln/>
        </p:spPr>
        <p:txBody>
          <a:bodyPr wrap="square" lIns="0" tIns="0" rIns="0" bIns="0" rtlCol="0" anchor="t"/>
          <a:lstStyle/>
          <a:p>
            <a:pPr indent="0" marL="0">
              <a:buNone/>
            </a:pPr>
            <a:r>
              <a:rPr lang="en-US" sz="2200" b="1" dirty="0">
                <a:solidFill>
                  <a:schemeClr val="accent1"/>
                </a:solidFill>
                <a:latin typeface="+mj-lt" pitchFamily="34" charset="0"/>
                <a:ea typeface="+mj-lt" pitchFamily="34" charset="-122"/>
                <a:cs typeface="+mj-lt" pitchFamily="34" charset="-120"/>
              </a:rPr>
              <a:t>4</a:t>
            </a:r>
            <a:endParaRPr lang="en-US" sz="2200" dirty="0"/>
          </a:p>
        </p:txBody>
      </p:sp>
      <p:sp>
        <p:nvSpPr>
          <p:cNvPr id="19" name="Text 16"/>
          <p:cNvSpPr txBox="1"/>
          <p:nvPr/>
        </p:nvSpPr>
        <p:spPr>
          <a:xfrm>
            <a:off x="9347454" y="2514600"/>
            <a:ext cx="1808226" cy="914400"/>
          </a:xfrm>
          <a:prstGeom prst="rect">
            <a:avLst/>
          </a:prstGeom>
          <a:noFill/>
          <a:ln/>
        </p:spPr>
        <p:txBody>
          <a:bodyPr wrap="square" lIns="0" tIns="0" rIns="0" bIns="0" rtlCol="0" anchor="t"/>
          <a:lstStyle/>
          <a:p>
            <a:pPr indent="0" marL="0">
              <a:buNone/>
            </a:pPr>
            <a:r>
              <a:rPr lang="en-US" sz="1400" dirty="0">
                <a:solidFill>
                  <a:schemeClr val="tx1"/>
                </a:solidFill>
              </a:rPr>
              <a:t>Lessons › Add Text › Source: </a:t>
            </a:r>
            <a:pPr indent="0" marL="0">
              <a:buNone/>
            </a:pPr>
            <a:r>
              <a:rPr lang="en-US" sz="1400" b="1" dirty="0">
                <a:solidFill>
                  <a:schemeClr val="tx1"/>
                </a:solidFill>
              </a:rPr>
              <a:t>paste, Save</a:t>
            </a:r>
            <a:endParaRPr lang="en-US" sz="1400" dirty="0"/>
          </a:p>
        </p:txBody>
      </p:sp>
      <p:sp>
        <p:nvSpPr>
          <p:cNvPr id="20" name="iframe snippet"/>
          <p:cNvSpPr/>
          <p:nvPr/>
        </p:nvSpPr>
        <p:spPr>
          <a:xfrm>
            <a:off x="813816" y="3840480"/>
            <a:ext cx="10570464" cy="1051560"/>
          </a:xfrm>
          <a:prstGeom prst="roundRect">
            <a:avLst>
              <a:gd name="adj" fmla="val 10435"/>
            </a:avLst>
          </a:prstGeom>
          <a:solidFill>
            <a:schemeClr val="tx1"/>
          </a:solidFill>
          <a:ln/>
        </p:spPr>
      </p:sp>
      <p:sp>
        <p:nvSpPr>
          <p:cNvPr id="21" name="Text 18"/>
          <p:cNvSpPr txBox="1"/>
          <p:nvPr/>
        </p:nvSpPr>
        <p:spPr>
          <a:xfrm>
            <a:off x="1133856" y="3840480"/>
            <a:ext cx="9930384" cy="1051560"/>
          </a:xfrm>
          <a:prstGeom prst="rect">
            <a:avLst/>
          </a:prstGeom>
          <a:noFill/>
          <a:ln/>
        </p:spPr>
        <p:txBody>
          <a:bodyPr wrap="square" lIns="0" tIns="0" rIns="0" bIns="0" rtlCol="0" anchor="ctr"/>
          <a:lstStyle/>
          <a:p>
            <a:pPr indent="0" marL="0">
              <a:buNone/>
            </a:pPr>
            <a:r>
              <a:rPr lang="en-US" sz="1200" dirty="0">
                <a:solidFill>
                  <a:schemeClr val="bg1"/>
                </a:solidFill>
                <a:latin typeface="Courier New" pitchFamily="34" charset="0"/>
                <a:ea typeface="Courier New" pitchFamily="34" charset="-122"/>
                <a:cs typeface="Courier New" pitchFamily="34" charset="-120"/>
              </a:rPr>
              <a:t>&lt;iframe src="https://copilotstudio.microsoft.com/environments/…/webchat?__version__=2" frameborder="0" style="width: 100%; </a:t>
            </a:r>
            <a:pPr indent="0" marL="0">
              <a:buNone/>
            </a:pPr>
            <a:r>
              <a:rPr lang="en-US" sz="1200" dirty="0">
                <a:solidFill>
                  <a:schemeClr val="accent2"/>
                </a:solidFill>
                <a:latin typeface="Courier New" pitchFamily="34" charset="0"/>
                <a:ea typeface="Courier New" pitchFamily="34" charset="-122"/>
                <a:cs typeface="Courier New" pitchFamily="34" charset="-120"/>
              </a:rPr>
              <a:t>height: 600px;</a:t>
            </a:r>
            <a:pPr indent="0" marL="0">
              <a:buNone/>
            </a:pPr>
            <a:r>
              <a:rPr lang="en-US" sz="1200" dirty="0">
                <a:solidFill>
                  <a:schemeClr val="bg1"/>
                </a:solidFill>
                <a:latin typeface="Courier New" pitchFamily="34" charset="0"/>
                <a:ea typeface="Courier New" pitchFamily="34" charset="-122"/>
                <a:cs typeface="Courier New" pitchFamily="34" charset="-120"/>
              </a:rPr>
              <a:t>"&gt;&lt;/iframe&gt;</a:t>
            </a:r>
            <a:endParaRPr lang="en-US" sz="1200" dirty="0"/>
          </a:p>
        </p:txBody>
      </p:sp>
      <p:sp>
        <p:nvSpPr>
          <p:cNvPr id="22" name="Text 19"/>
          <p:cNvSpPr txBox="1"/>
          <p:nvPr/>
        </p:nvSpPr>
        <p:spPr>
          <a:xfrm>
            <a:off x="813816" y="5166360"/>
            <a:ext cx="10570464" cy="365760"/>
          </a:xfrm>
          <a:prstGeom prst="rect">
            <a:avLst/>
          </a:prstGeom>
          <a:noFill/>
          <a:ln/>
        </p:spPr>
        <p:txBody>
          <a:bodyPr wrap="square" lIns="0" tIns="0" rIns="0" bIns="0" rtlCol="0" anchor="t"/>
          <a:lstStyle/>
          <a:p>
            <a:pPr indent="0" marL="0">
              <a:buNone/>
            </a:pPr>
            <a:r>
              <a:rPr lang="en-US" sz="1500" dirty="0">
                <a:solidFill>
                  <a:schemeClr val="tx2"/>
                </a:solidFill>
              </a:rPr>
              <a:t>Iframe stripped or blank? Add a web link in Resources instead. Check it in Student View.</a:t>
            </a:r>
            <a:endParaRPr lang="en-US" sz="1500" dirty="0"/>
          </a:p>
        </p:txBody>
      </p:sp>
      <p:sp>
        <p:nvSpPr>
          <p:cNvPr id="25" name="Slide Number Placeholder 0"/>
          <p:cNvSpPr>
            <a:spLocks noGrp="1"/>
          </p:cNvSpPr>
          <p:nvPr>
            <p:ph type="sldNum" sz="quarter" idx="4294967295"/>
          </p:nvPr>
        </p:nvSpPr>
        <p:spPr>
          <a:xfrm>
            <a:off x="10561320" y="6291072"/>
            <a:ext cx="8229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body" hasCustomPrompt="1"/>
          </p:nvPr>
        </p:nvSpPr>
        <p:spPr>
          <a:xfrm>
            <a:off x="813816" y="640080"/>
            <a:ext cx="10570464" cy="320040"/>
          </a:xfrm>
          <a:prstGeom prst="rect">
            <a:avLst/>
          </a:prstGeom>
          <a:noFill/>
          <a:ln/>
        </p:spPr>
        <p:txBody>
          <a:bodyPr wrap="square" lIns="0" tIns="0" rIns="0" bIns="0" rtlCol="0" anchor="t"/>
          <a:lstStyle/>
          <a:p>
            <a:pPr indent="0" marL="0">
              <a:buNone/>
            </a:pPr>
            <a:r>
              <a:rPr lang="en-US" sz="1200" b="1" spc="300" kern="0" dirty="0">
                <a:solidFill>
                  <a:schemeClr val="accent1"/>
                </a:solidFill>
              </a:rPr>
              <a:t>PRIVACY AND INTEGRITY</a:t>
            </a:r>
            <a:endParaRPr lang="en-US" sz="1200" dirty="0"/>
          </a:p>
        </p:txBody>
      </p:sp>
      <p:sp>
        <p:nvSpPr>
          <p:cNvPr id="3" name="Text 1"/>
          <p:cNvSpPr/>
          <p:nvPr>
            <p:ph idx="102" type="title" hasCustomPrompt="1"/>
          </p:nvPr>
        </p:nvSpPr>
        <p:spPr>
          <a:xfrm>
            <a:off x="813816" y="987552"/>
            <a:ext cx="10570464" cy="731520"/>
          </a:xfrm>
          <a:prstGeom prst="rect">
            <a:avLst/>
          </a:prstGeom>
          <a:noFill/>
          <a:ln/>
        </p:spPr>
        <p:txBody>
          <a:bodyPr wrap="square" lIns="0" tIns="0" rIns="0" bIns="0" rtlCol="0" anchor="t"/>
          <a:lstStyle/>
          <a:p>
            <a:pPr algn="l" indent="0" marL="0">
              <a:buNone/>
            </a:pPr>
            <a:r>
              <a:rPr lang="en-US" sz="3600" b="1" dirty="0">
                <a:solidFill>
                  <a:schemeClr val="tx1"/>
                </a:solidFill>
                <a:latin typeface="+mj-lt" pitchFamily="34" charset="0"/>
                <a:ea typeface="+mj-lt" pitchFamily="34" charset="-122"/>
                <a:cs typeface="+mj-lt" pitchFamily="34" charset="-120"/>
              </a:rPr>
              <a:t>Anyone with the link can use your tutor</a:t>
            </a:r>
            <a:endParaRPr lang="en-US" sz="3600" dirty="0"/>
          </a:p>
        </p:txBody>
      </p:sp>
      <p:sp>
        <p:nvSpPr>
          <p:cNvPr id="5" name="Never upload"/>
          <p:cNvSpPr/>
          <p:nvPr/>
        </p:nvSpPr>
        <p:spPr>
          <a:xfrm>
            <a:off x="813816" y="2011680"/>
            <a:ext cx="5102352" cy="3200400"/>
          </a:xfrm>
          <a:prstGeom prst="roundRect">
            <a:avLst>
              <a:gd name="adj" fmla="val 3429"/>
            </a:avLst>
          </a:prstGeom>
          <a:solidFill>
            <a:schemeClr val="bg1"/>
          </a:solidFill>
          <a:ln w="9525">
            <a:solidFill>
              <a:srgbClr val="DDD7CB"/>
            </a:solidFill>
            <a:prstDash val="solid"/>
          </a:ln>
        </p:spPr>
      </p:sp>
      <p:pic>
        <p:nvPicPr>
          <p:cNvPr id="6" name="Never upload icon" descr="preencoded.png">    </p:cNvPr>
          <p:cNvPicPr>
            <a:picLocks noChangeAspect="1"/>
          </p:cNvPicPr>
          <p:nvPr/>
        </p:nvPicPr>
        <p:blipFill>
          <a:blip r:embed="rId1"/>
          <a:stretch>
            <a:fillRect/>
          </a:stretch>
        </p:blipFill>
        <p:spPr>
          <a:xfrm>
            <a:off x="1179576" y="2377440"/>
            <a:ext cx="457200" cy="457200"/>
          </a:xfrm>
          <a:prstGeom prst="rect">
            <a:avLst/>
          </a:prstGeom>
        </p:spPr>
      </p:pic>
      <p:sp>
        <p:nvSpPr>
          <p:cNvPr id="7" name="Text 3"/>
          <p:cNvSpPr txBox="1"/>
          <p:nvPr/>
        </p:nvSpPr>
        <p:spPr>
          <a:xfrm>
            <a:off x="1819656" y="2377440"/>
            <a:ext cx="3730752" cy="457200"/>
          </a:xfrm>
          <a:prstGeom prst="rect">
            <a:avLst/>
          </a:prstGeom>
          <a:noFill/>
          <a:ln/>
        </p:spPr>
        <p:txBody>
          <a:bodyPr wrap="square" lIns="0" tIns="0" rIns="0" bIns="0" rtlCol="0" anchor="ctr"/>
          <a:lstStyle/>
          <a:p>
            <a:pPr indent="0" marL="0">
              <a:buNone/>
            </a:pPr>
            <a:r>
              <a:rPr lang="en-US" sz="2000" b="1" dirty="0">
                <a:solidFill>
                  <a:schemeClr val="tx1"/>
                </a:solidFill>
              </a:rPr>
              <a:t>Never upload</a:t>
            </a:r>
            <a:endParaRPr lang="en-US" sz="2000" dirty="0"/>
          </a:p>
        </p:txBody>
      </p:sp>
      <p:sp>
        <p:nvSpPr>
          <p:cNvPr id="8" name="Text 4"/>
          <p:cNvSpPr txBox="1"/>
          <p:nvPr/>
        </p:nvSpPr>
        <p:spPr>
          <a:xfrm>
            <a:off x="1179576" y="3108960"/>
            <a:ext cx="4370832" cy="19202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2"/>
                </a:solidFill>
              </a:rPr>
              <a:t>Student names, IDs or grades</a:t>
            </a:r>
            <a:endParaRPr lang="en-US" sz="1600" dirty="0"/>
          </a:p>
          <a:p>
            <a:pPr marL="342900" indent="-342900">
              <a:spcAft>
                <a:spcPts val="1000"/>
              </a:spcAft>
              <a:buSzPct val="100000"/>
              <a:buChar char="•"/>
            </a:pPr>
            <a:r>
              <a:rPr lang="en-US" sz="1600" dirty="0">
                <a:solidFill>
                  <a:schemeClr val="tx2"/>
                </a:solidFill>
              </a:rPr>
              <a:t>Unreleased exams or answer keys</a:t>
            </a:r>
            <a:endParaRPr lang="en-US" sz="1600" dirty="0"/>
          </a:p>
          <a:p>
            <a:pPr marL="342900" indent="-342900">
              <a:spcAft>
                <a:spcPts val="1000"/>
              </a:spcAft>
              <a:buSzPct val="100000"/>
              <a:buChar char="•"/>
            </a:pPr>
            <a:r>
              <a:rPr lang="en-US" sz="1600" dirty="0">
                <a:solidFill>
                  <a:schemeClr val="tx2"/>
                </a:solidFill>
              </a:rPr>
              <a:t>Anything you wouldn’t publish</a:t>
            </a:r>
            <a:endParaRPr lang="en-US" sz="1600" dirty="0"/>
          </a:p>
        </p:txBody>
      </p:sp>
      <p:sp>
        <p:nvSpPr>
          <p:cNvPr id="9" name="Tell students on day one"/>
          <p:cNvSpPr/>
          <p:nvPr/>
        </p:nvSpPr>
        <p:spPr>
          <a:xfrm>
            <a:off x="6281928" y="2011680"/>
            <a:ext cx="5102352" cy="3200400"/>
          </a:xfrm>
          <a:prstGeom prst="roundRect">
            <a:avLst>
              <a:gd name="adj" fmla="val 3429"/>
            </a:avLst>
          </a:prstGeom>
          <a:solidFill>
            <a:schemeClr val="bg1"/>
          </a:solidFill>
          <a:ln w="9525">
            <a:solidFill>
              <a:srgbClr val="DDD7CB"/>
            </a:solidFill>
            <a:prstDash val="solid"/>
          </a:ln>
        </p:spPr>
      </p:sp>
      <p:pic>
        <p:nvPicPr>
          <p:cNvPr id="10" name="Tell students on day one icon" descr="preencoded.png">    </p:cNvPr>
          <p:cNvPicPr>
            <a:picLocks noChangeAspect="1"/>
          </p:cNvPicPr>
          <p:nvPr/>
        </p:nvPicPr>
        <p:blipFill>
          <a:blip r:embed="rId2"/>
          <a:stretch>
            <a:fillRect/>
          </a:stretch>
        </p:blipFill>
        <p:spPr>
          <a:xfrm>
            <a:off x="6647688" y="2377440"/>
            <a:ext cx="457200" cy="457200"/>
          </a:xfrm>
          <a:prstGeom prst="rect">
            <a:avLst/>
          </a:prstGeom>
        </p:spPr>
      </p:pic>
      <p:sp>
        <p:nvSpPr>
          <p:cNvPr id="11" name="Text 6"/>
          <p:cNvSpPr txBox="1"/>
          <p:nvPr/>
        </p:nvSpPr>
        <p:spPr>
          <a:xfrm>
            <a:off x="7287768" y="2377440"/>
            <a:ext cx="3730752" cy="457200"/>
          </a:xfrm>
          <a:prstGeom prst="rect">
            <a:avLst/>
          </a:prstGeom>
          <a:noFill/>
          <a:ln/>
        </p:spPr>
        <p:txBody>
          <a:bodyPr wrap="square" lIns="0" tIns="0" rIns="0" bIns="0" rtlCol="0" anchor="ctr"/>
          <a:lstStyle/>
          <a:p>
            <a:pPr indent="0" marL="0">
              <a:buNone/>
            </a:pPr>
            <a:r>
              <a:rPr lang="en-US" sz="2000" b="1" dirty="0">
                <a:solidFill>
                  <a:schemeClr val="tx1"/>
                </a:solidFill>
              </a:rPr>
              <a:t>Tell students on day one</a:t>
            </a:r>
            <a:endParaRPr lang="en-US" sz="2000" dirty="0"/>
          </a:p>
        </p:txBody>
      </p:sp>
      <p:sp>
        <p:nvSpPr>
          <p:cNvPr id="12" name="Text 7"/>
          <p:cNvSpPr txBox="1"/>
          <p:nvPr/>
        </p:nvSpPr>
        <p:spPr>
          <a:xfrm>
            <a:off x="6647688" y="3108960"/>
            <a:ext cx="4370832" cy="19202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2"/>
                </a:solidFill>
              </a:rPr>
              <a:t>What the tutor is for</a:t>
            </a:r>
            <a:endParaRPr lang="en-US" sz="1600" dirty="0"/>
          </a:p>
          <a:p>
            <a:pPr marL="342900" indent="-342900">
              <a:spcAft>
                <a:spcPts val="1000"/>
              </a:spcAft>
              <a:buSzPct val="100000"/>
              <a:buChar char="•"/>
            </a:pPr>
            <a:r>
              <a:rPr lang="en-US" sz="1600" dirty="0">
                <a:solidFill>
                  <a:schemeClr val="tx2"/>
                </a:solidFill>
              </a:rPr>
              <a:t>It won’t do graded work</a:t>
            </a:r>
            <a:endParaRPr lang="en-US" sz="1600" dirty="0"/>
          </a:p>
          <a:p>
            <a:pPr marL="342900" indent="-342900">
              <a:spcAft>
                <a:spcPts val="1000"/>
              </a:spcAft>
              <a:buSzPct val="100000"/>
              <a:buChar char="•"/>
            </a:pPr>
            <a:r>
              <a:rPr lang="en-US" sz="1600" dirty="0">
                <a:solidFill>
                  <a:schemeClr val="tx2"/>
                </a:solidFill>
              </a:rPr>
              <a:t>Chats may be reviewed; it can be wrong</a:t>
            </a:r>
            <a:endParaRPr lang="en-US" sz="1600" dirty="0"/>
          </a:p>
        </p:txBody>
      </p:sp>
      <p:sp>
        <p:nvSpPr>
          <p:cNvPr id="13" name="Text 8"/>
          <p:cNvSpPr txBox="1"/>
          <p:nvPr/>
        </p:nvSpPr>
        <p:spPr>
          <a:xfrm>
            <a:off x="813816" y="5486400"/>
            <a:ext cx="10570464" cy="365760"/>
          </a:xfrm>
          <a:prstGeom prst="rect">
            <a:avLst/>
          </a:prstGeom>
          <a:noFill/>
          <a:ln/>
        </p:spPr>
        <p:txBody>
          <a:bodyPr wrap="square" lIns="0" tIns="0" rIns="0" bIns="0" rtlCol="0" anchor="t"/>
          <a:lstStyle/>
          <a:p>
            <a:pPr indent="0" marL="0">
              <a:buNone/>
            </a:pPr>
            <a:r>
              <a:rPr lang="en-US" sz="1400" dirty="0">
                <a:solidFill>
                  <a:schemeClr val="tx2"/>
                </a:solidFill>
              </a:rPr>
              <a:t>With No authentication set, the agent is open to anyone who has its link.</a:t>
            </a:r>
            <a:endParaRPr lang="en-US" sz="1400" dirty="0"/>
          </a:p>
        </p:txBody>
      </p:sp>
      <p:sp>
        <p:nvSpPr>
          <p:cNvPr id="25" name="Slide Number Placeholder 0"/>
          <p:cNvSpPr>
            <a:spLocks noGrp="1"/>
          </p:cNvSpPr>
          <p:nvPr>
            <p:ph type="sldNum" sz="quarter" idx="4294967295"/>
          </p:nvPr>
        </p:nvSpPr>
        <p:spPr>
          <a:xfrm>
            <a:off x="10561320" y="6291072"/>
            <a:ext cx="8229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body" hasCustomPrompt="1"/>
          </p:nvPr>
        </p:nvSpPr>
        <p:spPr>
          <a:xfrm>
            <a:off x="813816" y="640080"/>
            <a:ext cx="10570464" cy="320040"/>
          </a:xfrm>
          <a:prstGeom prst="rect">
            <a:avLst/>
          </a:prstGeom>
          <a:noFill/>
          <a:ln/>
        </p:spPr>
        <p:txBody>
          <a:bodyPr wrap="square" lIns="0" tIns="0" rIns="0" bIns="0" rtlCol="0" anchor="t"/>
          <a:lstStyle/>
          <a:p>
            <a:pPr indent="0" marL="0">
              <a:buNone/>
            </a:pPr>
            <a:r>
              <a:rPr lang="en-US" sz="1200" b="1" spc="300" kern="0" dirty="0">
                <a:solidFill>
                  <a:schemeClr val="accent1"/>
                </a:solidFill>
              </a:rPr>
              <a:t>ACTION PLANNING · 7 MINUTES</a:t>
            </a:r>
            <a:endParaRPr lang="en-US" sz="1200" dirty="0"/>
          </a:p>
        </p:txBody>
      </p:sp>
      <p:sp>
        <p:nvSpPr>
          <p:cNvPr id="3" name="Text 1"/>
          <p:cNvSpPr/>
          <p:nvPr>
            <p:ph idx="102" type="title" hasCustomPrompt="1"/>
          </p:nvPr>
        </p:nvSpPr>
        <p:spPr>
          <a:xfrm>
            <a:off x="813816" y="987552"/>
            <a:ext cx="10570464" cy="731520"/>
          </a:xfrm>
          <a:prstGeom prst="rect">
            <a:avLst/>
          </a:prstGeom>
          <a:noFill/>
          <a:ln/>
        </p:spPr>
        <p:txBody>
          <a:bodyPr wrap="square" lIns="0" tIns="0" rIns="0" bIns="0" rtlCol="0" anchor="t"/>
          <a:lstStyle/>
          <a:p>
            <a:pPr algn="l" indent="0" marL="0">
              <a:buNone/>
            </a:pPr>
            <a:r>
              <a:rPr lang="en-US" sz="3600" b="1" dirty="0">
                <a:solidFill>
                  <a:schemeClr val="tx1"/>
                </a:solidFill>
                <a:latin typeface="+mj-lt" pitchFamily="34" charset="0"/>
                <a:ea typeface="+mj-lt" pitchFamily="34" charset="-122"/>
                <a:cs typeface="+mj-lt" pitchFamily="34" charset="-120"/>
              </a:rPr>
              <a:t>Your 30-day plan</a:t>
            </a:r>
            <a:endParaRPr lang="en-US" sz="3600" dirty="0"/>
          </a:p>
        </p:txBody>
      </p:sp>
      <p:sp>
        <p:nvSpPr>
          <p:cNvPr id="5" name="week 1"/>
          <p:cNvSpPr/>
          <p:nvPr/>
        </p:nvSpPr>
        <p:spPr>
          <a:xfrm>
            <a:off x="813816" y="1920240"/>
            <a:ext cx="2436876" cy="2377440"/>
          </a:xfrm>
          <a:prstGeom prst="roundRect">
            <a:avLst>
              <a:gd name="adj" fmla="val 4615"/>
            </a:avLst>
          </a:prstGeom>
          <a:solidFill>
            <a:schemeClr val="bg1"/>
          </a:solidFill>
          <a:ln w="9525">
            <a:solidFill>
              <a:srgbClr val="DDD7CB"/>
            </a:solidFill>
            <a:prstDash val="solid"/>
          </a:ln>
        </p:spPr>
      </p:sp>
      <p:sp>
        <p:nvSpPr>
          <p:cNvPr id="6" name="Text 3"/>
          <p:cNvSpPr txBox="1"/>
          <p:nvPr/>
        </p:nvSpPr>
        <p:spPr>
          <a:xfrm>
            <a:off x="1088136" y="2194560"/>
            <a:ext cx="1888236" cy="411480"/>
          </a:xfrm>
          <a:prstGeom prst="rect">
            <a:avLst/>
          </a:prstGeom>
          <a:noFill/>
          <a:ln/>
        </p:spPr>
        <p:txBody>
          <a:bodyPr wrap="square" lIns="0" tIns="0" rIns="0" bIns="0" rtlCol="0" anchor="t"/>
          <a:lstStyle/>
          <a:p>
            <a:pPr indent="0" marL="0">
              <a:buNone/>
            </a:pPr>
            <a:r>
              <a:rPr lang="en-US" sz="1800" b="1" dirty="0">
                <a:solidFill>
                  <a:schemeClr val="accent1"/>
                </a:solidFill>
              </a:rPr>
              <a:t>This week</a:t>
            </a:r>
            <a:endParaRPr lang="en-US" sz="1800" dirty="0"/>
          </a:p>
        </p:txBody>
      </p:sp>
      <p:sp>
        <p:nvSpPr>
          <p:cNvPr id="7" name="Text 4"/>
          <p:cNvSpPr txBox="1"/>
          <p:nvPr/>
        </p:nvSpPr>
        <p:spPr>
          <a:xfrm>
            <a:off x="1088136" y="2743200"/>
            <a:ext cx="1888236" cy="1417320"/>
          </a:xfrm>
          <a:prstGeom prst="rect">
            <a:avLst/>
          </a:prstGeom>
          <a:noFill/>
          <a:ln/>
        </p:spPr>
        <p:txBody>
          <a:bodyPr wrap="square" lIns="0" tIns="0" rIns="0" bIns="0" rtlCol="0" anchor="t"/>
          <a:lstStyle/>
          <a:p>
            <a:pPr indent="0" marL="0">
              <a:buNone/>
            </a:pPr>
            <a:r>
              <a:rPr lang="en-US" sz="1500" dirty="0">
                <a:solidFill>
                  <a:schemeClr val="tx1"/>
                </a:solidFill>
              </a:rPr>
              <a:t>Fix test failures, republish, embed in Sakai, add an AI-use statement to your outline</a:t>
            </a:r>
            <a:endParaRPr lang="en-US" sz="1500" dirty="0"/>
          </a:p>
        </p:txBody>
      </p:sp>
      <p:sp>
        <p:nvSpPr>
          <p:cNvPr id="8" name="week 2"/>
          <p:cNvSpPr/>
          <p:nvPr/>
        </p:nvSpPr>
        <p:spPr>
          <a:xfrm>
            <a:off x="3525012" y="1920240"/>
            <a:ext cx="2436876" cy="2377440"/>
          </a:xfrm>
          <a:prstGeom prst="roundRect">
            <a:avLst>
              <a:gd name="adj" fmla="val 4615"/>
            </a:avLst>
          </a:prstGeom>
          <a:solidFill>
            <a:schemeClr val="bg1"/>
          </a:solidFill>
          <a:ln w="9525">
            <a:solidFill>
              <a:srgbClr val="DDD7CB"/>
            </a:solidFill>
            <a:prstDash val="solid"/>
          </a:ln>
        </p:spPr>
      </p:sp>
      <p:sp>
        <p:nvSpPr>
          <p:cNvPr id="9" name="Text 6"/>
          <p:cNvSpPr txBox="1"/>
          <p:nvPr/>
        </p:nvSpPr>
        <p:spPr>
          <a:xfrm>
            <a:off x="3799332" y="2194560"/>
            <a:ext cx="1888236" cy="411480"/>
          </a:xfrm>
          <a:prstGeom prst="rect">
            <a:avLst/>
          </a:prstGeom>
          <a:noFill/>
          <a:ln/>
        </p:spPr>
        <p:txBody>
          <a:bodyPr wrap="square" lIns="0" tIns="0" rIns="0" bIns="0" rtlCol="0" anchor="t"/>
          <a:lstStyle/>
          <a:p>
            <a:pPr indent="0" marL="0">
              <a:buNone/>
            </a:pPr>
            <a:r>
              <a:rPr lang="en-US" sz="1800" b="1" dirty="0">
                <a:solidFill>
                  <a:schemeClr val="accent1"/>
                </a:solidFill>
              </a:rPr>
              <a:t>Week 2</a:t>
            </a:r>
            <a:endParaRPr lang="en-US" sz="1800" dirty="0"/>
          </a:p>
        </p:txBody>
      </p:sp>
      <p:sp>
        <p:nvSpPr>
          <p:cNvPr id="10" name="Text 7"/>
          <p:cNvSpPr txBox="1"/>
          <p:nvPr/>
        </p:nvSpPr>
        <p:spPr>
          <a:xfrm>
            <a:off x="3799332" y="2743200"/>
            <a:ext cx="1888236" cy="1417320"/>
          </a:xfrm>
          <a:prstGeom prst="rect">
            <a:avLst/>
          </a:prstGeom>
          <a:noFill/>
          <a:ln/>
        </p:spPr>
        <p:txBody>
          <a:bodyPr wrap="square" lIns="0" tIns="0" rIns="0" bIns="0" rtlCol="0" anchor="t"/>
          <a:lstStyle/>
          <a:p>
            <a:pPr indent="0" marL="0">
              <a:buNone/>
            </a:pPr>
            <a:r>
              <a:rPr lang="en-US" sz="1500" dirty="0">
                <a:solidFill>
                  <a:schemeClr val="tx1"/>
                </a:solidFill>
              </a:rPr>
              <a:t>Introduce the tutor in class; redesign one assignment</a:t>
            </a:r>
            <a:endParaRPr lang="en-US" sz="1500" dirty="0"/>
          </a:p>
        </p:txBody>
      </p:sp>
      <p:sp>
        <p:nvSpPr>
          <p:cNvPr id="11" name="week 3"/>
          <p:cNvSpPr/>
          <p:nvPr/>
        </p:nvSpPr>
        <p:spPr>
          <a:xfrm>
            <a:off x="6236208" y="1920240"/>
            <a:ext cx="2436876" cy="2377440"/>
          </a:xfrm>
          <a:prstGeom prst="roundRect">
            <a:avLst>
              <a:gd name="adj" fmla="val 4615"/>
            </a:avLst>
          </a:prstGeom>
          <a:solidFill>
            <a:schemeClr val="bg1"/>
          </a:solidFill>
          <a:ln w="9525">
            <a:solidFill>
              <a:srgbClr val="DDD7CB"/>
            </a:solidFill>
            <a:prstDash val="solid"/>
          </a:ln>
        </p:spPr>
      </p:sp>
      <p:sp>
        <p:nvSpPr>
          <p:cNvPr id="12" name="Text 9"/>
          <p:cNvSpPr txBox="1"/>
          <p:nvPr/>
        </p:nvSpPr>
        <p:spPr>
          <a:xfrm>
            <a:off x="6510528" y="2194560"/>
            <a:ext cx="1888236" cy="411480"/>
          </a:xfrm>
          <a:prstGeom prst="rect">
            <a:avLst/>
          </a:prstGeom>
          <a:noFill/>
          <a:ln/>
        </p:spPr>
        <p:txBody>
          <a:bodyPr wrap="square" lIns="0" tIns="0" rIns="0" bIns="0" rtlCol="0" anchor="t"/>
          <a:lstStyle/>
          <a:p>
            <a:pPr indent="0" marL="0">
              <a:buNone/>
            </a:pPr>
            <a:r>
              <a:rPr lang="en-US" sz="1800" b="1" dirty="0">
                <a:solidFill>
                  <a:schemeClr val="accent1"/>
                </a:solidFill>
              </a:rPr>
              <a:t>Week 3</a:t>
            </a:r>
            <a:endParaRPr lang="en-US" sz="1800" dirty="0"/>
          </a:p>
        </p:txBody>
      </p:sp>
      <p:sp>
        <p:nvSpPr>
          <p:cNvPr id="13" name="Text 10"/>
          <p:cNvSpPr txBox="1"/>
          <p:nvPr/>
        </p:nvSpPr>
        <p:spPr>
          <a:xfrm>
            <a:off x="6510528" y="2743200"/>
            <a:ext cx="1888236" cy="1417320"/>
          </a:xfrm>
          <a:prstGeom prst="rect">
            <a:avLst/>
          </a:prstGeom>
          <a:noFill/>
          <a:ln/>
        </p:spPr>
        <p:txBody>
          <a:bodyPr wrap="square" lIns="0" tIns="0" rIns="0" bIns="0" rtlCol="0" anchor="t"/>
          <a:lstStyle/>
          <a:p>
            <a:pPr indent="0" marL="0">
              <a:buNone/>
            </a:pPr>
            <a:r>
              <a:rPr lang="en-US" sz="1500" dirty="0">
                <a:solidFill>
                  <a:schemeClr val="tx1"/>
                </a:solidFill>
              </a:rPr>
              <a:t>Read 10 student conversations; tighten the instructions</a:t>
            </a:r>
            <a:endParaRPr lang="en-US" sz="1500" dirty="0"/>
          </a:p>
        </p:txBody>
      </p:sp>
      <p:sp>
        <p:nvSpPr>
          <p:cNvPr id="14" name="week 4"/>
          <p:cNvSpPr/>
          <p:nvPr/>
        </p:nvSpPr>
        <p:spPr>
          <a:xfrm>
            <a:off x="8947404" y="1920240"/>
            <a:ext cx="2436876" cy="2377440"/>
          </a:xfrm>
          <a:prstGeom prst="roundRect">
            <a:avLst>
              <a:gd name="adj" fmla="val 4615"/>
            </a:avLst>
          </a:prstGeom>
          <a:solidFill>
            <a:schemeClr val="bg1"/>
          </a:solidFill>
          <a:ln w="9525">
            <a:solidFill>
              <a:srgbClr val="DDD7CB"/>
            </a:solidFill>
            <a:prstDash val="solid"/>
          </a:ln>
        </p:spPr>
      </p:sp>
      <p:sp>
        <p:nvSpPr>
          <p:cNvPr id="15" name="Text 12"/>
          <p:cNvSpPr txBox="1"/>
          <p:nvPr/>
        </p:nvSpPr>
        <p:spPr>
          <a:xfrm>
            <a:off x="9221724" y="2194560"/>
            <a:ext cx="1888236" cy="411480"/>
          </a:xfrm>
          <a:prstGeom prst="rect">
            <a:avLst/>
          </a:prstGeom>
          <a:noFill/>
          <a:ln/>
        </p:spPr>
        <p:txBody>
          <a:bodyPr wrap="square" lIns="0" tIns="0" rIns="0" bIns="0" rtlCol="0" anchor="t"/>
          <a:lstStyle/>
          <a:p>
            <a:pPr indent="0" marL="0">
              <a:buNone/>
            </a:pPr>
            <a:r>
              <a:rPr lang="en-US" sz="1800" b="1" dirty="0">
                <a:solidFill>
                  <a:schemeClr val="accent1"/>
                </a:solidFill>
              </a:rPr>
              <a:t>Week 4</a:t>
            </a:r>
            <a:endParaRPr lang="en-US" sz="1800" dirty="0"/>
          </a:p>
        </p:txBody>
      </p:sp>
      <p:sp>
        <p:nvSpPr>
          <p:cNvPr id="16" name="Text 13"/>
          <p:cNvSpPr txBox="1"/>
          <p:nvPr/>
        </p:nvSpPr>
        <p:spPr>
          <a:xfrm>
            <a:off x="9221724" y="2743200"/>
            <a:ext cx="1888236" cy="1417320"/>
          </a:xfrm>
          <a:prstGeom prst="rect">
            <a:avLst/>
          </a:prstGeom>
          <a:noFill/>
          <a:ln/>
        </p:spPr>
        <p:txBody>
          <a:bodyPr wrap="square" lIns="0" tIns="0" rIns="0" bIns="0" rtlCol="0" anchor="t"/>
          <a:lstStyle/>
          <a:p>
            <a:pPr indent="0" marL="0">
              <a:buNone/>
            </a:pPr>
            <a:r>
              <a:rPr lang="en-US" sz="1500" dirty="0">
                <a:solidFill>
                  <a:schemeClr val="tx1"/>
                </a:solidFill>
              </a:rPr>
              <a:t>Run a 3-question student poll; decide whether to extend it</a:t>
            </a:r>
            <a:endParaRPr lang="en-US" sz="1500" dirty="0"/>
          </a:p>
        </p:txBody>
      </p:sp>
      <p:sp>
        <p:nvSpPr>
          <p:cNvPr id="17" name="commitment"/>
          <p:cNvSpPr/>
          <p:nvPr/>
        </p:nvSpPr>
        <p:spPr>
          <a:xfrm>
            <a:off x="813816" y="4572000"/>
            <a:ext cx="10570464" cy="1005840"/>
          </a:xfrm>
          <a:prstGeom prst="roundRect">
            <a:avLst>
              <a:gd name="adj" fmla="val 10909"/>
            </a:avLst>
          </a:prstGeom>
          <a:solidFill>
            <a:schemeClr val="accent6"/>
          </a:solidFill>
          <a:ln/>
        </p:spPr>
      </p:sp>
      <p:sp>
        <p:nvSpPr>
          <p:cNvPr id="18" name="Text 15"/>
          <p:cNvSpPr txBox="1"/>
          <p:nvPr/>
        </p:nvSpPr>
        <p:spPr>
          <a:xfrm>
            <a:off x="1225296" y="4572000"/>
            <a:ext cx="9747504" cy="1005840"/>
          </a:xfrm>
          <a:prstGeom prst="rect">
            <a:avLst/>
          </a:prstGeom>
          <a:noFill/>
          <a:ln/>
        </p:spPr>
        <p:txBody>
          <a:bodyPr wrap="square" lIns="0" tIns="0" rIns="0" bIns="0" rtlCol="0" anchor="ctr"/>
          <a:lstStyle/>
          <a:p>
            <a:pPr indent="0" marL="0">
              <a:buNone/>
            </a:pPr>
            <a:r>
              <a:rPr lang="en-US" sz="2200" dirty="0">
                <a:solidFill>
                  <a:schemeClr val="tx1"/>
                </a:solidFill>
                <a:latin typeface="+mj-lt" pitchFamily="34" charset="0"/>
                <a:ea typeface="+mj-lt" pitchFamily="34" charset="-122"/>
                <a:cs typeface="+mj-lt" pitchFamily="34" charset="-120"/>
              </a:rPr>
              <a:t>My commitment: By ________, I will ______________________.</a:t>
            </a:r>
            <a:endParaRPr lang="en-US" sz="2200" dirty="0"/>
          </a:p>
        </p:txBody>
      </p:sp>
      <p:sp>
        <p:nvSpPr>
          <p:cNvPr id="25" name="Slide Number Placeholder 0"/>
          <p:cNvSpPr>
            <a:spLocks noGrp="1"/>
          </p:cNvSpPr>
          <p:nvPr>
            <p:ph type="sldNum" sz="quarter" idx="4294967295"/>
          </p:nvPr>
        </p:nvSpPr>
        <p:spPr>
          <a:xfrm>
            <a:off x="10561320" y="6291072"/>
            <a:ext cx="8229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body" hasCustomPrompt="1"/>
          </p:nvPr>
        </p:nvSpPr>
        <p:spPr>
          <a:xfrm>
            <a:off x="813816" y="640080"/>
            <a:ext cx="10570464" cy="320040"/>
          </a:xfrm>
          <a:prstGeom prst="rect">
            <a:avLst/>
          </a:prstGeom>
          <a:noFill/>
          <a:ln/>
        </p:spPr>
        <p:txBody>
          <a:bodyPr wrap="square" lIns="0" tIns="0" rIns="0" bIns="0" rtlCol="0" anchor="t"/>
          <a:lstStyle/>
          <a:p>
            <a:pPr indent="0" marL="0">
              <a:buNone/>
            </a:pPr>
            <a:r>
              <a:rPr lang="en-US" sz="1200" b="1" spc="300" kern="0" dirty="0">
                <a:solidFill>
                  <a:schemeClr val="accent1"/>
                </a:solidFill>
              </a:rPr>
              <a:t>FEEDBACK · 2 MINUTES</a:t>
            </a:r>
            <a:endParaRPr lang="en-US" sz="1200" dirty="0"/>
          </a:p>
        </p:txBody>
      </p:sp>
      <p:sp>
        <p:nvSpPr>
          <p:cNvPr id="3" name="Text 1"/>
          <p:cNvSpPr/>
          <p:nvPr>
            <p:ph idx="102" type="title" hasCustomPrompt="1"/>
          </p:nvPr>
        </p:nvSpPr>
        <p:spPr>
          <a:xfrm>
            <a:off x="813816" y="987552"/>
            <a:ext cx="10570464" cy="731520"/>
          </a:xfrm>
          <a:prstGeom prst="rect">
            <a:avLst/>
          </a:prstGeom>
          <a:noFill/>
          <a:ln/>
        </p:spPr>
        <p:txBody>
          <a:bodyPr wrap="square" lIns="0" tIns="0" rIns="0" bIns="0" rtlCol="0" anchor="t"/>
          <a:lstStyle/>
          <a:p>
            <a:pPr algn="l" indent="0" marL="0">
              <a:buNone/>
            </a:pPr>
            <a:r>
              <a:rPr lang="en-US" sz="3600" b="1" dirty="0">
                <a:solidFill>
                  <a:schemeClr val="tx1"/>
                </a:solidFill>
                <a:latin typeface="+mj-lt" pitchFamily="34" charset="0"/>
                <a:ea typeface="+mj-lt" pitchFamily="34" charset="-122"/>
                <a:cs typeface="+mj-lt" pitchFamily="34" charset="-120"/>
              </a:rPr>
              <a:t>Help us shape the next session</a:t>
            </a:r>
            <a:endParaRPr lang="en-US" sz="3600" dirty="0"/>
          </a:p>
        </p:txBody>
      </p:sp>
      <p:sp>
        <p:nvSpPr>
          <p:cNvPr id="5" name="Text 2"/>
          <p:cNvSpPr txBox="1"/>
          <p:nvPr/>
        </p:nvSpPr>
        <p:spPr>
          <a:xfrm>
            <a:off x="813816" y="2103120"/>
            <a:ext cx="6217920" cy="2011680"/>
          </a:xfrm>
          <a:prstGeom prst="rect">
            <a:avLst/>
          </a:prstGeom>
          <a:noFill/>
          <a:ln/>
        </p:spPr>
        <p:txBody>
          <a:bodyPr wrap="square" lIns="0" tIns="0" rIns="0" bIns="0" rtlCol="0" anchor="t"/>
          <a:lstStyle/>
          <a:p>
            <a:pPr indent="0" marL="0">
              <a:buNone/>
            </a:pPr>
            <a:r>
              <a:rPr lang="en-US" sz="1800" dirty="0">
                <a:solidFill>
                  <a:schemeClr val="tx2"/>
                </a:solidFill>
              </a:rPr>
              <a:t>Six short questions: your confidence with tutors and with Turnitin scores, the most useful part, what to change, whether you’ll use your tutor this semester, and the support you need.</a:t>
            </a:r>
            <a:endParaRPr lang="en-US" sz="1800" dirty="0"/>
          </a:p>
        </p:txBody>
      </p:sp>
      <p:sp>
        <p:nvSpPr>
          <p:cNvPr id="6" name="QR placeholder"/>
          <p:cNvSpPr/>
          <p:nvPr/>
        </p:nvSpPr>
        <p:spPr>
          <a:xfrm>
            <a:off x="8001000" y="1920240"/>
            <a:ext cx="3383280" cy="3383280"/>
          </a:xfrm>
          <a:prstGeom prst="roundRect">
            <a:avLst>
              <a:gd name="adj" fmla="val 4324"/>
            </a:avLst>
          </a:prstGeom>
          <a:solidFill>
            <a:schemeClr val="bg1"/>
          </a:solidFill>
          <a:ln w="19050">
            <a:solidFill>
              <a:srgbClr val="A8442B"/>
            </a:solidFill>
            <a:prstDash val="dash"/>
          </a:ln>
        </p:spPr>
      </p:sp>
      <p:sp>
        <p:nvSpPr>
          <p:cNvPr id="7" name="Text 4"/>
          <p:cNvSpPr txBox="1"/>
          <p:nvPr/>
        </p:nvSpPr>
        <p:spPr>
          <a:xfrm>
            <a:off x="8001000" y="1920240"/>
            <a:ext cx="3383280" cy="3383280"/>
          </a:xfrm>
          <a:prstGeom prst="rect">
            <a:avLst/>
          </a:prstGeom>
          <a:noFill/>
          <a:ln/>
        </p:spPr>
        <p:txBody>
          <a:bodyPr wrap="square" lIns="0" tIns="0" rIns="0" bIns="0" rtlCol="0" anchor="ctr"/>
          <a:lstStyle/>
          <a:p>
            <a:pPr algn="ctr" indent="0" marL="0">
              <a:buNone/>
            </a:pPr>
            <a:r>
              <a:rPr lang="en-US" sz="1600" dirty="0">
                <a:solidFill>
                  <a:schemeClr val="tx2"/>
                </a:solidFill>
              </a:rPr>
              <a:t>[Feedback QR code]</a:t>
            </a:r>
            <a:endParaRPr lang="en-US" sz="1600" dirty="0"/>
          </a:p>
        </p:txBody>
      </p:sp>
      <p:sp>
        <p:nvSpPr>
          <p:cNvPr id="25" name="Slide Number Placeholder 0"/>
          <p:cNvSpPr>
            <a:spLocks noGrp="1"/>
          </p:cNvSpPr>
          <p:nvPr>
            <p:ph type="sldNum" sz="quarter" idx="4294967295"/>
          </p:nvPr>
        </p:nvSpPr>
        <p:spPr>
          <a:xfrm>
            <a:off x="10561320" y="6291072"/>
            <a:ext cx="8229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3" name="Text 0"/>
          <p:cNvSpPr txBox="1"/>
          <p:nvPr/>
        </p:nvSpPr>
        <p:spPr>
          <a:xfrm>
            <a:off x="813816" y="2377440"/>
            <a:ext cx="10570464" cy="1005840"/>
          </a:xfrm>
          <a:prstGeom prst="rect">
            <a:avLst/>
          </a:prstGeom>
          <a:noFill/>
          <a:ln/>
        </p:spPr>
        <p:txBody>
          <a:bodyPr wrap="square" lIns="0" tIns="0" rIns="0" bIns="0" rtlCol="0" anchor="t"/>
          <a:lstStyle/>
          <a:p>
            <a:pPr indent="0" marL="0">
              <a:buNone/>
            </a:pPr>
            <a:r>
              <a:rPr lang="en-US" sz="6000" b="1" dirty="0">
                <a:solidFill>
                  <a:schemeClr val="bg1"/>
                </a:solidFill>
                <a:latin typeface="+mj-lt" pitchFamily="34" charset="0"/>
                <a:ea typeface="+mj-lt" pitchFamily="34" charset="-122"/>
                <a:cs typeface="+mj-lt" pitchFamily="34" charset="-120"/>
              </a:rPr>
              <a:t>Thank you</a:t>
            </a:r>
            <a:endParaRPr lang="en-US" sz="6000" dirty="0"/>
          </a:p>
        </p:txBody>
      </p:sp>
      <p:sp>
        <p:nvSpPr>
          <p:cNvPr id="4" name="Text 1"/>
          <p:cNvSpPr txBox="1"/>
          <p:nvPr/>
        </p:nvSpPr>
        <p:spPr>
          <a:xfrm>
            <a:off x="813816" y="3520440"/>
            <a:ext cx="10570464" cy="548640"/>
          </a:xfrm>
          <a:prstGeom prst="rect">
            <a:avLst/>
          </a:prstGeom>
          <a:noFill/>
          <a:ln/>
        </p:spPr>
        <p:txBody>
          <a:bodyPr wrap="square" lIns="0" tIns="0" rIns="0" bIns="0" rtlCol="0" anchor="t"/>
          <a:lstStyle/>
          <a:p>
            <a:pPr indent="0" marL="0">
              <a:buNone/>
            </a:pPr>
            <a:r>
              <a:rPr lang="en-US" sz="2400" dirty="0">
                <a:solidFill>
                  <a:schemeClr val="accent2"/>
                </a:solidFill>
                <a:latin typeface="+mj-lt" pitchFamily="34" charset="0"/>
                <a:ea typeface="+mj-lt" pitchFamily="34" charset="-122"/>
                <a:cs typeface="+mj-lt" pitchFamily="34" charset="-120"/>
              </a:rPr>
              <a:t>AI should guide students, not do the work for them.</a:t>
            </a:r>
            <a:endParaRPr lang="en-US" sz="2400" dirty="0"/>
          </a:p>
        </p:txBody>
      </p:sp>
      <p:sp>
        <p:nvSpPr>
          <p:cNvPr id="5" name="Text 2"/>
          <p:cNvSpPr txBox="1"/>
          <p:nvPr/>
        </p:nvSpPr>
        <p:spPr>
          <a:xfrm>
            <a:off x="813816" y="4389120"/>
            <a:ext cx="10570464" cy="1188720"/>
          </a:xfrm>
          <a:prstGeom prst="rect">
            <a:avLst/>
          </a:prstGeom>
          <a:noFill/>
          <a:ln/>
        </p:spPr>
        <p:txBody>
          <a:bodyPr wrap="square" lIns="0" tIns="0" rIns="0" bIns="0" rtlCol="0" anchor="t"/>
          <a:lstStyle/>
          <a:p>
            <a:pPr indent="0" marL="0">
              <a:lnSpc>
                <a:spcPct val="125000"/>
              </a:lnSpc>
              <a:buNone/>
            </a:pPr>
            <a:r>
              <a:rPr lang="en-US" sz="1600" dirty="0">
                <a:solidFill>
                  <a:srgbClr val="C9D2DC"/>
                </a:solidFill>
              </a:rPr>
              <a:t>Keep sharing what works: [follow-up channel]</a:t>
            </a:r>
            <a:endParaRPr lang="en-US" sz="1600" dirty="0"/>
          </a:p>
          <a:p>
            <a:pPr indent="0" marL="0">
              <a:lnSpc>
                <a:spcPct val="125000"/>
              </a:lnSpc>
              <a:buNone/>
            </a:pPr>
            <a:r>
              <a:rPr lang="en-US" sz="1600" dirty="0">
                <a:solidFill>
                  <a:srgbClr val="C9D2DC"/>
                </a:solidFill>
              </a:rPr>
              <a:t>Dr. Faisal Iradat · [email]</a:t>
            </a:r>
            <a:endParaRPr lang="en-US" sz="1600" dirty="0"/>
          </a:p>
          <a:p>
            <a:pPr indent="0" marL="0">
              <a:lnSpc>
                <a:spcPct val="125000"/>
              </a:lnSpc>
              <a:buNone/>
            </a:pPr>
            <a:r>
              <a:rPr lang="en-US" sz="1600" dirty="0">
                <a:solidFill>
                  <a:srgbClr val="C9D2DC"/>
                </a:solidFill>
              </a:rPr>
              <a:t>Organised by IBA-CICT and SMCS</a:t>
            </a:r>
            <a:endParaRPr lang="en-US" sz="1600" dirty="0"/>
          </a:p>
        </p:txBody>
      </p:sp>
    </p:spTree>
  </p:cSld>
  <p:clrMapOvr>
    <a:masterClrMapping/>
  </p:clrMapOvr>
</p:sld>
</file>

<file path=ppt/theme/theme1.xml><?xml version="1.0" encoding="utf-8"?>
<a:theme xmlns:a="http://schemas.openxmlformats.org/drawingml/2006/main" name="AI for Educators">
  <a:themeElements>
    <a:clrScheme name="AI for Educators">
      <a:dk1>
        <a:srgbClr val="1B2A3A"/>
      </a:dk1>
      <a:lt1>
        <a:srgbClr val="FFFDF8"/>
      </a:lt1>
      <a:dk2>
        <a:srgbClr val="4A5361"/>
      </a:dk2>
      <a:lt2>
        <a:srgbClr val="F7F5F0"/>
      </a:lt2>
      <a:accent1>
        <a:srgbClr val="A8442B"/>
      </a:accent1>
      <a:accent2>
        <a:srgbClr val="F2A07B"/>
      </a:accent2>
      <a:accent3>
        <a:srgbClr val="2E7D5B"/>
      </a:accent3>
      <a:accent4>
        <a:srgbClr val="B03A2E"/>
      </a:accent4>
      <a:accent5>
        <a:srgbClr val="C98A1B"/>
      </a:accent5>
      <a:accent6>
        <a:srgbClr val="EDE9E0"/>
      </a:accent6>
      <a:hlink>
        <a:srgbClr val="A8442B"/>
      </a:hlink>
      <a:folHlink>
        <a:srgbClr val="4A5361"/>
      </a:folHlink>
    </a:clrScheme>
    <a:fontScheme name="AI for Educator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IBA-CICT and SMCS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for Educators: Future-Ready Teaching</dc:title>
  <dc:subject>PptxGenJS Presentation</dc:subject>
  <dc:creator>Dr. Faisal Iradat</dc:creator>
  <cp:lastModifiedBy>Dr. Faisal Iradat</cp:lastModifiedBy>
  <cp:revision>1</cp:revision>
  <dcterms:created xsi:type="dcterms:W3CDTF">2026-10-19T19:52:58Z</dcterms:created>
  <dcterms:modified xsi:type="dcterms:W3CDTF">2026-10-19T19:52:58Z</dcterms:modified>
</cp:coreProperties>
</file>